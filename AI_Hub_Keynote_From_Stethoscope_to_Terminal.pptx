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I'm Dr. Lun-Hsiang Yuan — a robotic urologic surgeon by day, and an AI agent builder by night. Today I want to show you how AI agents have transformed the way I work as a clinician, researcher, and educator. This is not a theoretical talk — everything I'll show you is running in my real workflow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start with a question that might sound absurd. What if 6 AI agents could review your entire lecture course overnight? Last month, I did exactly that for a 16-week microbiology course. I wrote a single command, went to sleep, and woke up to 6 parallel review reports — covering accuracy, pedagogy, language, difficulty, clinical relevance, and formatting. Zero hours of my time. This is what we're going to talk about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we'll cover. First, my personal journey from stethoscope to terminal. Then I'll show you Claude Code with live demos — you'll actually see the AI build things in real time. We'll dive into agent building with real clinical examples. Then I'll explain the infrastructure layer — what I call the 'harness' — that makes all of this possible. And finally, you'll have 5 minutes to try it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bit about me. I trained at NYCU medical school, spent years as a urologic surgeon at multiple major hospitals in Taiwan, did a fellowship at Yonsei University in Seoul for da Vinci robotic surgery, and completed my PhD at NCKU focusing on AI and LLM applications in urologic oncology. I'm now at NTUH Yunlin Branch as both a clinician and assistant professor. The key transition happened in 2024 when I adopted Claude Code as my primary work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urology team runs Asia's number one volume Senhance robotic surgery program — over 341 cases. I operate robots. And I build AI agents. What these two things have in common is that both require systems thinking, precision, and the courage to trust automation. When you're comfortable letting a robot manipulate tissue inside a patient, you develop a very clear sense of when to trust an automated system and when to intervene.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turning point was late 2022. A colleague shared a link to ChatGPT. I typed a clinical question. The answer was better than most textbooks. I stayed up until 3am. The realization I had that night was: this isn't a search engine. It's a thinking partner. Over the next two years, I went from browser-based chatting, to API scripts, to Claude Code, to building a full agent ecosystem on a Mac Mini server running 24/7.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the concrete before and after. Before 2022: copy-paste between browser tabs, manual literature search taking 2-3 hours per topic, hiring biostatisticians, spending 4 hours per presentation. After: one terminal command launches a complete pipeline, Serie my research agent reviews papers overnight, I do full statistical analysis in 30 minutes, presentations are generated in 15 minutes. And for my NSTC government grant, 4 agent modules achieved 67 to 80 percent efficiency gains — verified by the committee.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 the word 'superpowers' deliberately — not to be dramatic, but because the leverage is genuinely extraordinary. My research agent runs while I sleep. I can deploy 6 parallel agents simultaneously. The NSTC grant efficiency gains were committee-verified. This is not about replacing doctors. A doctor with AI leverage can do more medicine, not less. It's amplification of what only doctors can do — clinical judgment, patient relationship, ethical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Code is an AI coding agent that lives in your terminal. Unlike a chatbot, it can read your files, write and execute code, browse the web, and complete entire tasks autonomously. The key word is 'autonomously' — you give it a goal, and it works until the job is done. It's not just for coding either — I use it for research, writing, analysis, grant applications, and course creation.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my daily workflow, Claude Code shows up everywhere. Research: PubMed queries, survival analysis, figure generation, manuscript drafts. Clinical: OPD note OCR processing, tumor board preparation, patient data dashboards. Teaching: the microbiology course, quiz apps, lecture slides, course websites. Administrative: NSTC grants, IRB submissions, accreditation documents. All of this is on my GitHub — open source, real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 I'm going to show you CSV data analysis in 3 minutes. I'll start with a raw data file — patient demographics and lab values. Watch what happens when I just describe what I want in plain English. [START DEMO: open terminal, cd to demo folder, launch claude, give command] The key insight here is that you don't need to know Python. You don't need to know statistics. You just need to know what question you're asking.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2: Now I'll build a flashcard quiz app from natural language. No coding required. I'll type a single prompt describing what I want — a medical quiz about gram-positive bacteria, 10 questions, mobile-friendly, single HTML file. [START DEMO] Watch Claude design the structure, write the code, and produce a working app. This is exactly how the microbiology course quiz components were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tips that genuinely changed my workflow. Tip one: always ask Claude to think step by step before writing code — reduces rewrites dramatically. Tip two, the golden one: CLAUDE.md is your personal AI manual — write your name, role, and rules, and Claude reads it every session. Tip three: use /compact in long sessions to prevent context overflow. Tip four: ask for parallel sub-agents for independent tasks. Tip five: drag screenshots directly into the terminal — Claude reads images. Tip six: configure hooks for automatic triggers.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Installing Claude Code takes about 5 minutes. You need Node.js, then install the Claude Code package globally, then run claude to authenticate with your Anthropic account. The basic workflow is: navigate to your project, launch claude, describe your task, review and approve the output. One flag worth knowing: --dangerously-skip-permissions enables fully autonomous operation. I use this for trusted automated workflows on my Mac Mini.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it's your turn. You have 5 minutes. Open Claude Code on your laptop. Three levels: Beginner — just ask a clinical question in plain English. Intermediate — ask it to build a quiz app as an HTML file. Advanced — bring your own data file and ask for analysis. Don't worry about doing it perfectly. The goal is to feel the experience of talking to an AI that actually does things, not just answers. [START TIMER]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base Claude Code, I've built a skill library of over 50 reusable workflows — each stored as a SKILL.md file. When I type /literature-review, it triggers a systematic PubMed and Semantic Scholar search. When I type /nstc-grant, it activates the grant writing workflow. When I type /opd-note, it OCRs my clinic screenshots and saves them to Google Docs. These skills are the building blocks of my personal AI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exactly is an AI agent? The key distinction from a chatbot is that an agent takes a goal, makes a plan, uses tools, and executes until the job is done. A chatbot waits for your next message. An agent keeps working. An agent can access files, databases, web APIs, and other agents — not just the conversation. The medical analogy I use: it's not a reference book, it's a resident who reads the chart, orders labs, and follows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my actual agent ecosystem on the Mac Mini. Hermes is the orchestrator — it routes tasks to the right specialists. Serie is my 24/7 research agent — constantly monitoring PubMed and preparing reports. Watchdog monitors system health and sends Telegram alerts. Paper-bot does 4-dimension peer review. The PCA Tumor Board simulates a 5-specialist multidisciplinary team. Grant-bot handles the NSTC modules. All running simultaneously on a Mac Mini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microbiology course case study is the one I'm most proud of. 16 weeks of detective-style clinical cases — each one presenting a mystery infection for students to diagnose. Serie researched each organism overnight. Scheduled cron tasks ran the content generation pipeline. Then 6 parallel review agents critiqued every single case from different angles. A frontend agent built and deployed the website on Vercel. The course is live at clinical-ai-course.yuanuro.com — go check it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PCA Tumor Board simulation was built for a specific clinical need: preparing for our weekly multidisciplinary team meetings. I created 5 specialist agents — urologist, oncologist, radiologist, pathologist, and a chair. You paste in a patient case summary. All 5 agents analyze simultaneously. Then they debate conflicting recommendations with evidence. The chair synthesizes consensus. Output: a complete treatment plan in under 5 minutes, citing EAU 2024 guidelines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3: Launching a multi-agent team live. I'll give Claude one command asking for 3 parallel agents to review a paper simultaneously — one summarizes methods, one critiques statistics, one suggests follow-up studies. [START DEMO] Watch the agents spin up independently, run in parallel, and converge into a final synthesis report. This is the pattern behind the peer review system — the same concept, more sophisticated orchestration.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four main agent design patterns I use. Single agent loop: one agent with tools that cycles until done — great for sequential complex tasks. Orchestrator plus workers: a Hermes-style router delegating to specialists. Parallel reviewers: multiple agents tackle the same input from different angles simultaneously. And debate consensus: agents argue with evidence and reach agreement — the tumor board pattern. Two rules: always define each agent's role clearly, and never let agents share write access without coordination.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evolution of my AI infrastructure mirrors what's happening across the field. 2022: browser-based AI, copy-paste workflows. 2023: API scripts and Telegram bots — first real automation. 2024: Claude Code adoption, the terminal becomes the command center. 2025: agent teams deployed on Mac Mini, 24/7 operation. 2026: the full PAI harness — Personal AI Infrastructure — with memory, skills, MCP connections, and orchestrated agent teams. Each stage built on the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harness is the infrastructure layer that wraps around AI agents. The analogy: a surgeon's harness is the operating room — the table, lights, instruments, team protocols. The surgeon is still the expert. But the harness makes precision possible. In PAI terms, the harness has four components: the memory system in MEMORY.md, the skills library of 50+ SKILL.md files, MCP servers connecting Claude to external tools, and hooks and crons for automatic triggers.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conductor analogy captures the relationship perfectly. You are the conductor. Claude and the agent team are the orchestra. Your CLAUDE.md and skill files are the score. The MCP tools — PubMed, Telegram, Firebase — are the instruments. The research output is the performance. The conductor doesn't play every instrument. The conductor holds the vision, sets the tempo, and guides the ensemble. That's your role in the PAI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harness pattern works wherever knowledge, documents, and decisions intersect. Medicine: tumor board simulation, OPD note automation, IRB submissions. Law: case research, contract review, regulatory compliance. Education: course generation, adaptive quizzes, curriculum analysis. Research: systematic reviews, statistical pipelines, grant writing. The pattern is the same. The domain knowledge you provide is what makes it specialized.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NSTC grant case study demonstrates what's possible at the institutional level. Taiwan's government research funding process is rigorous. We built 4 agent modules: a literature agent for systematic review, a hypothesis agent for specific aims generation, a writing agent for full proposal drafting, and a review agent that critiques and scores the output. The committee measured 67 to 80 percent efficiency gains. This is the kind of verified, documented outcome that builds trust in AI-augmented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to try today, in order of time commitment. First: install Claude Code and spend 30 minutes exploring it with a real task from your work. Second: write your CLAUDE.md — your personal AI manual — in about 20 minutes. Third: pick the most repetitive thing in your workflow and spend an hour automating it. Measure the time you save. That measurement becomes your evidence for scaling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the tools and resources you need are here. Claude Code at claude.ai/code — start there. The Anthropic API for custom integrations. The MCP registry for connecting Claude to external tools. The microbiology course at clinical-ai-course.yuanuro.com — free access. And everything I've shown today is on my GitHub at github.com/lunhsiangyuan — open source, ready to explore.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want to leave you with one thought: the best AI system is not one that replaces your thinking — it's one that gives you time to think deeper. In medicine, that deeper thinking is what saves lives. Every hour I save on documentation, literature review, and grant writing is an hour I can spend with a patient who needs a thoughtful surgeon, not a busy one. I'm happy to take questions. You can find everything on GitHub, and my contact is on screen.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0A1E"/>
        </a:solidFill>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00D4FF"/>
          </a:solidFill>
          <a:ln/>
        </p:spPr>
        <p:txBody>
          <a:bodyPr wrap="square" rtlCol="0" anchor="ctr"/>
          <a:lstStyle/>
          <a:p>
            <a:pPr indent="0" marL="0">
              <a:buNone/>
            </a:pPr>
            <a:endParaRPr lang="en-US" dirty="0"/>
          </a:p>
        </p:txBody>
      </p:sp>
      <p:sp>
        <p:nvSpPr>
          <p:cNvPr id="3" name="Text 1"/>
          <p:cNvSpPr/>
          <p:nvPr/>
        </p:nvSpPr>
        <p:spPr>
          <a:xfrm>
            <a:off x="0" y="5092750"/>
            <a:ext cx="9144000" cy="50750"/>
          </a:xfrm>
          <a:prstGeom prst="rect">
            <a:avLst/>
          </a:prstGeom>
          <a:solidFill>
            <a:srgbClr val="9B59B6"/>
          </a:solidFill>
          <a:ln/>
        </p:spPr>
        <p:txBody>
          <a:bodyPr wrap="square" rtlCol="0" anchor="ctr"/>
          <a:lstStyle/>
          <a:p>
            <a:pPr indent="0" marL="0">
              <a:buNone/>
            </a:pPr>
            <a:endParaRPr lang="en-US" dirty="0"/>
          </a:p>
        </p:txBody>
      </p:sp>
      <p:sp>
        <p:nvSpPr>
          <p:cNvPr id="4" name="Text 2"/>
          <p:cNvSpPr/>
          <p:nvPr/>
        </p:nvSpPr>
        <p:spPr>
          <a:xfrm>
            <a:off x="253901" y="190500"/>
            <a:ext cx="762000" cy="38100"/>
          </a:xfrm>
          <a:prstGeom prst="rect">
            <a:avLst/>
          </a:prstGeom>
          <a:solidFill>
            <a:srgbClr val="00D4FF"/>
          </a:solidFill>
          <a:ln/>
        </p:spPr>
        <p:txBody>
          <a:bodyPr wrap="square" rtlCol="0" anchor="ctr"/>
          <a:lstStyle/>
          <a:p>
            <a:pPr indent="0" marL="0">
              <a:buNone/>
            </a:pPr>
            <a:endParaRPr lang="en-US" dirty="0"/>
          </a:p>
        </p:txBody>
      </p:sp>
      <p:sp>
        <p:nvSpPr>
          <p:cNvPr id="5" name="Text 3"/>
          <p:cNvSpPr/>
          <p:nvPr/>
        </p:nvSpPr>
        <p:spPr>
          <a:xfrm>
            <a:off x="253901" y="190500"/>
            <a:ext cx="38100" cy="762000"/>
          </a:xfrm>
          <a:prstGeom prst="rect">
            <a:avLst/>
          </a:prstGeom>
          <a:solidFill>
            <a:srgbClr val="00D4FF"/>
          </a:solidFill>
          <a:ln/>
        </p:spPr>
        <p:txBody>
          <a:bodyPr wrap="square" rtlCol="0" anchor="ctr"/>
          <a:lstStyle/>
          <a:p>
            <a:pPr indent="0" marL="0">
              <a:buNone/>
            </a:pPr>
            <a:endParaRPr lang="en-US" dirty="0"/>
          </a:p>
        </p:txBody>
      </p:sp>
      <p:sp>
        <p:nvSpPr>
          <p:cNvPr id="6" name="Text 4"/>
          <p:cNvSpPr/>
          <p:nvPr/>
        </p:nvSpPr>
        <p:spPr>
          <a:xfrm>
            <a:off x="8128099" y="4914900"/>
            <a:ext cx="762000" cy="38100"/>
          </a:xfrm>
          <a:prstGeom prst="rect">
            <a:avLst/>
          </a:prstGeom>
          <a:solidFill>
            <a:srgbClr val="9B59B6"/>
          </a:solidFill>
          <a:ln/>
        </p:spPr>
        <p:txBody>
          <a:bodyPr wrap="square" rtlCol="0" anchor="ctr"/>
          <a:lstStyle/>
          <a:p>
            <a:pPr indent="0" marL="0">
              <a:buNone/>
            </a:pPr>
            <a:endParaRPr lang="en-US" dirty="0"/>
          </a:p>
        </p:txBody>
      </p:sp>
      <p:sp>
        <p:nvSpPr>
          <p:cNvPr id="7" name="Text 5"/>
          <p:cNvSpPr/>
          <p:nvPr/>
        </p:nvSpPr>
        <p:spPr>
          <a:xfrm>
            <a:off x="8851999" y="4191000"/>
            <a:ext cx="38100" cy="762000"/>
          </a:xfrm>
          <a:prstGeom prst="rect">
            <a:avLst/>
          </a:prstGeom>
          <a:solidFill>
            <a:srgbClr val="9B59B6"/>
          </a:solidFill>
          <a:ln/>
        </p:spPr>
        <p:txBody>
          <a:bodyPr wrap="square" rtlCol="0" anchor="ctr"/>
          <a:lstStyle/>
          <a:p>
            <a:pPr indent="0" marL="0">
              <a:buNone/>
            </a:pPr>
            <a:endParaRPr lang="en-US" dirty="0"/>
          </a:p>
        </p:txBody>
      </p:sp>
      <p:sp>
        <p:nvSpPr>
          <p:cNvPr id="8" name="Text 6"/>
          <p:cNvSpPr/>
          <p:nvPr/>
        </p:nvSpPr>
        <p:spPr>
          <a:xfrm>
            <a:off x="3476179" y="823020"/>
            <a:ext cx="2191494" cy="244376"/>
          </a:xfrm>
          <a:prstGeom prst="rect">
            <a:avLst/>
          </a:prstGeom>
          <a:solidFill>
            <a:srgbClr val="00D4FF"/>
          </a:solidFill>
          <a:ln/>
        </p:spPr>
        <p:txBody>
          <a:bodyPr wrap="square" rtlCol="0" anchor="ctr"/>
          <a:lstStyle/>
          <a:p>
            <a:pPr indent="0" marL="0">
              <a:buNone/>
            </a:pPr>
            <a:endParaRPr lang="en-US" dirty="0"/>
          </a:p>
        </p:txBody>
      </p:sp>
      <p:sp>
        <p:nvSpPr>
          <p:cNvPr id="9" name="Text 7"/>
          <p:cNvSpPr/>
          <p:nvPr/>
        </p:nvSpPr>
        <p:spPr>
          <a:xfrm>
            <a:off x="3628579" y="873770"/>
            <a:ext cx="1924428" cy="142875"/>
          </a:xfrm>
          <a:prstGeom prst="rect">
            <a:avLst/>
          </a:prstGeom>
          <a:noFill/>
          <a:ln/>
        </p:spPr>
        <p:txBody>
          <a:bodyPr wrap="square" lIns="0" tIns="0" rIns="0" bIns="0" rtlCol="0" anchor="t"/>
          <a:lstStyle/>
          <a:p>
            <a:pPr algn="l" indent="0" marL="0">
              <a:buNone/>
            </a:pPr>
            <a:r>
              <a:rPr lang="en-US" sz="1000" b="1" dirty="0">
                <a:solidFill>
                  <a:srgbClr val="050A1E"/>
                </a:solidFill>
                <a:latin typeface="Arial" pitchFamily="34" charset="0"/>
                <a:ea typeface="Arial" pitchFamily="34" charset="-122"/>
                <a:cs typeface="Arial" pitchFamily="34" charset="-120"/>
              </a:rPr>
              <a:t>AI HUB KEYNOTE 2026</a:t>
            </a:r>
            <a:endParaRPr lang="en-US" sz="1000" dirty="0"/>
          </a:p>
        </p:txBody>
      </p:sp>
      <p:sp>
        <p:nvSpPr>
          <p:cNvPr id="10" name="Text 8"/>
          <p:cNvSpPr/>
          <p:nvPr/>
        </p:nvSpPr>
        <p:spPr>
          <a:xfrm>
            <a:off x="2411516" y="1321296"/>
            <a:ext cx="4320969" cy="1158180"/>
          </a:xfrm>
          <a:prstGeom prst="rect">
            <a:avLst/>
          </a:prstGeom>
          <a:noFill/>
          <a:ln/>
        </p:spPr>
        <p:txBody>
          <a:bodyPr wrap="square" lIns="0" tIns="0" rIns="0" bIns="0" rtlCol="0" anchor="t"/>
          <a:lstStyle/>
          <a:p>
            <a:pPr algn="ctr" indent="0" marL="0">
              <a:lnSpc>
                <a:spcPts val="4560"/>
              </a:lnSpc>
              <a:buNone/>
            </a:pPr>
            <a:r>
              <a:rPr lang="en-US" sz="3800" dirty="0">
                <a:solidFill>
                  <a:srgbClr val="FFFFFF"/>
                </a:solidFill>
                <a:latin typeface="Arial" pitchFamily="34" charset="0"/>
                <a:ea typeface="Arial" pitchFamily="34" charset="-122"/>
                <a:cs typeface="Arial" pitchFamily="34" charset="-120"/>
              </a:rPr>
              <a:t>From </a:t>
            </a:r>
            <a:pPr algn="ctr" indent="0" marL="0">
              <a:lnSpc>
                <a:spcPts val="4560"/>
              </a:lnSpc>
              <a:buNone/>
            </a:pPr>
            <a:r>
              <a:rPr lang="en-US" sz="3800" b="1" dirty="0">
                <a:solidFill>
                  <a:srgbClr val="00D4FF"/>
                </a:solidFill>
                <a:latin typeface="Arial" pitchFamily="34" charset="0"/>
                <a:ea typeface="Arial" pitchFamily="34" charset="-122"/>
                <a:cs typeface="Arial" pitchFamily="34" charset="-120"/>
              </a:rPr>
              <a:t>Stethoscope</a:t>
            </a:r>
            <a:pPr algn="ctr" indent="0" marL="0">
              <a:lnSpc>
                <a:spcPts val="4560"/>
              </a:lnSpc>
              <a:buNone/>
            </a:pPr>
            <a:endParaRPr lang="en-US" sz="3800" dirty="0"/>
          </a:p>
          <a:p>
            <a:pPr algn="ctr" indent="0" marL="0">
              <a:lnSpc>
                <a:spcPts val="4560"/>
              </a:lnSpc>
              <a:buNone/>
            </a:pPr>
            <a:r>
              <a:rPr lang="en-US" sz="3800" dirty="0">
                <a:solidFill>
                  <a:srgbClr val="FFFFFF"/>
                </a:solidFill>
                <a:latin typeface="Arial" pitchFamily="34" charset="0"/>
                <a:ea typeface="Arial" pitchFamily="34" charset="-122"/>
                <a:cs typeface="Arial" pitchFamily="34" charset="-120"/>
              </a:rPr>
              <a:t>to </a:t>
            </a:r>
            <a:endParaRPr lang="en-US" sz="3800" dirty="0"/>
          </a:p>
          <a:p>
            <a:pPr algn="ctr" indent="0" marL="0">
              <a:lnSpc>
                <a:spcPts val="4560"/>
              </a:lnSpc>
              <a:buNone/>
            </a:pPr>
            <a:r>
              <a:rPr lang="en-US" sz="3800" b="1" dirty="0">
                <a:solidFill>
                  <a:srgbClr val="9B59B6"/>
                </a:solidFill>
                <a:latin typeface="Arial" pitchFamily="34" charset="0"/>
                <a:ea typeface="Arial" pitchFamily="34" charset="-122"/>
                <a:cs typeface="Arial" pitchFamily="34" charset="-120"/>
              </a:rPr>
              <a:t>Terminal</a:t>
            </a:r>
            <a:endParaRPr lang="en-US" sz="3800" dirty="0"/>
          </a:p>
        </p:txBody>
      </p:sp>
      <p:sp>
        <p:nvSpPr>
          <p:cNvPr id="11" name="Text 9"/>
          <p:cNvSpPr/>
          <p:nvPr/>
        </p:nvSpPr>
        <p:spPr>
          <a:xfrm>
            <a:off x="2968337" y="2631877"/>
            <a:ext cx="3207178" cy="238125"/>
          </a:xfrm>
          <a:prstGeom prst="rect">
            <a:avLst/>
          </a:prstGeom>
          <a:noFill/>
          <a:ln/>
        </p:spPr>
        <p:txBody>
          <a:bodyPr wrap="square" lIns="0" tIns="0" rIns="0" bIns="0" rtlCol="0" anchor="t"/>
          <a:lstStyle/>
          <a:p>
            <a:pPr algn="ctr" indent="0" marL="0">
              <a:spcBef>
                <a:spcPts val="1200"/>
              </a:spcBef>
              <a:spcAft>
                <a:spcPts val="2000"/>
              </a:spcAft>
              <a:buNone/>
            </a:pPr>
            <a:r>
              <a:rPr lang="en-US" sz="1600" dirty="0">
                <a:solidFill>
                  <a:srgbClr val="B0BEC5"/>
                </a:solidFill>
                <a:latin typeface="Arial" pitchFamily="34" charset="0"/>
                <a:ea typeface="Arial" pitchFamily="34" charset="-122"/>
                <a:cs typeface="Arial" pitchFamily="34" charset="-120"/>
              </a:rPr>
              <a:t>A Doctor's Daily Life with AI Agents</a:t>
            </a:r>
            <a:endParaRPr lang="en-US" sz="1600" dirty="0"/>
          </a:p>
        </p:txBody>
      </p:sp>
      <p:sp>
        <p:nvSpPr>
          <p:cNvPr id="12" name="Text 10"/>
          <p:cNvSpPr/>
          <p:nvPr/>
        </p:nvSpPr>
        <p:spPr>
          <a:xfrm>
            <a:off x="1863923" y="3225403"/>
            <a:ext cx="5416153" cy="1095077"/>
          </a:xfrm>
          <a:prstGeom prst="rect">
            <a:avLst/>
          </a:prstGeom>
          <a:solidFill>
            <a:srgbClr val="00D4FF">
              <a:alpha val="8000"/>
            </a:srgbClr>
          </a:solidFill>
          <a:ln w="9525">
            <a:solidFill>
              <a:srgbClr val="00D4FF"/>
            </a:solidFill>
          </a:ln>
        </p:spPr>
        <p:txBody>
          <a:bodyPr wrap="square" rtlCol="0" anchor="ctr"/>
          <a:lstStyle/>
          <a:p>
            <a:pPr indent="0" marL="0">
              <a:buNone/>
            </a:pPr>
            <a:endParaRPr lang="en-US" dirty="0"/>
          </a:p>
        </p:txBody>
      </p:sp>
      <p:sp>
        <p:nvSpPr>
          <p:cNvPr id="13" name="Text 11"/>
          <p:cNvSpPr/>
          <p:nvPr/>
        </p:nvSpPr>
        <p:spPr>
          <a:xfrm>
            <a:off x="2078456" y="3526929"/>
            <a:ext cx="4987088" cy="200025"/>
          </a:xfrm>
          <a:prstGeom prst="rect">
            <a:avLst/>
          </a:prstGeom>
          <a:noFill/>
          <a:ln/>
        </p:spPr>
        <p:txBody>
          <a:bodyPr wrap="square" lIns="0" tIns="0" rIns="0" bIns="0" rtlCol="0" anchor="t"/>
          <a:lstStyle/>
          <a:p>
            <a:pPr algn="ctr" indent="0" marL="0">
              <a:spcBef>
                <a:spcPts val="1300"/>
              </a:spcBef>
              <a:spcAft>
                <a:spcPts val="1300"/>
              </a:spcAft>
              <a:buNone/>
            </a:pPr>
            <a:r>
              <a:rPr lang="en-US" sz="1300" b="1" dirty="0">
                <a:solidFill>
                  <a:srgbClr val="E0E0E0"/>
                </a:solidFill>
                <a:latin typeface="Arial" pitchFamily="34" charset="0"/>
                <a:ea typeface="Arial" pitchFamily="34" charset="-122"/>
                <a:cs typeface="Arial" pitchFamily="34" charset="-120"/>
              </a:rPr>
              <a:t>Dr. Lun-Hsiang Yuan</a:t>
            </a:r>
            <a:pPr algn="ctr" indent="0" marL="0">
              <a:spcBef>
                <a:spcPts val="1300"/>
              </a:spcBef>
              <a:spcAft>
                <a:spcPts val="1300"/>
              </a:spcAft>
              <a:buNone/>
            </a:pPr>
            <a:r>
              <a:rPr lang="en-US" sz="1300" dirty="0">
                <a:solidFill>
                  <a:srgbClr val="E0E0E0"/>
                </a:solidFill>
                <a:latin typeface="Arial" pitchFamily="34" charset="0"/>
                <a:ea typeface="Arial" pitchFamily="34" charset="-122"/>
                <a:cs typeface="Arial" pitchFamily="34" charset="-120"/>
              </a:rPr>
              <a:t>, MD, PhD</a:t>
            </a:r>
            <a:endParaRPr lang="en-US" sz="1300" dirty="0"/>
          </a:p>
        </p:txBody>
      </p:sp>
      <p:sp>
        <p:nvSpPr>
          <p:cNvPr id="14" name="Text 12"/>
          <p:cNvSpPr/>
          <p:nvPr/>
        </p:nvSpPr>
        <p:spPr>
          <a:xfrm>
            <a:off x="2078456" y="3892004"/>
            <a:ext cx="4987088" cy="152400"/>
          </a:xfrm>
          <a:prstGeom prst="rect">
            <a:avLst/>
          </a:prstGeom>
          <a:noFill/>
          <a:ln/>
        </p:spPr>
        <p:txBody>
          <a:bodyPr wrap="square" lIns="0" tIns="0" rIns="0" bIns="0" rtlCol="0" anchor="t"/>
          <a:lstStyle/>
          <a:p>
            <a:pPr algn="ctr" indent="0" marL="0">
              <a:spcBef>
                <a:spcPts val="1100"/>
              </a:spcBef>
              <a:spcAft>
                <a:spcPts val="1100"/>
              </a:spcAft>
              <a:buNone/>
            </a:pPr>
            <a:r>
              <a:rPr lang="en-US" sz="1100" dirty="0">
                <a:solidFill>
                  <a:srgbClr val="9B59B6"/>
                </a:solidFill>
                <a:latin typeface="Arial" pitchFamily="34" charset="0"/>
                <a:ea typeface="Arial" pitchFamily="34" charset="-122"/>
                <a:cs typeface="Arial" pitchFamily="34" charset="-120"/>
              </a:rPr>
              <a:t>Robotic Urologic Surgeon · Assistant Professor NYCU/NTUH · AI Agent Builder</a:t>
            </a:r>
            <a:endParaRPr lang="en-US" sz="1100" dirty="0"/>
          </a:p>
        </p:txBody>
      </p:sp>
      <p:sp>
        <p:nvSpPr>
          <p:cNvPr id="15" name="Text 13"/>
          <p:cNvSpPr/>
          <p:nvPr/>
        </p:nvSpPr>
        <p:spPr>
          <a:xfrm>
            <a:off x="7810202" y="4616500"/>
            <a:ext cx="971854" cy="133350"/>
          </a:xfrm>
          <a:prstGeom prst="rect">
            <a:avLst/>
          </a:prstGeom>
          <a:noFill/>
          <a:ln/>
        </p:spPr>
        <p:txBody>
          <a:bodyPr wrap="square" lIns="0" tIns="0" rIns="0" bIns="0" rtlCol="0" anchor="t"/>
          <a:lstStyle/>
          <a:p>
            <a:pPr algn="l" indent="0" marL="0">
              <a:spcBef>
                <a:spcPts val="900"/>
              </a:spcBef>
              <a:spcAft>
                <a:spcPts val="900"/>
              </a:spcAft>
              <a:buNone/>
            </a:pPr>
            <a:r>
              <a:rPr lang="en-US" sz="900" b="1" dirty="0">
                <a:solidFill>
                  <a:srgbClr val="F1C40F"/>
                </a:solidFill>
                <a:latin typeface="Arial" pitchFamily="34" charset="0"/>
                <a:ea typeface="Arial" pitchFamily="34" charset="-122"/>
                <a:cs typeface="Arial" pitchFamily="34" charset="-120"/>
              </a:rPr>
              <a:t>60 MIN KEYNOTE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0A1E"/>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D4FF"/>
          </a:solidFill>
          <a:ln/>
        </p:spPr>
        <p:txBody>
          <a:bodyPr wrap="square" rtlCol="0" anchor="ctr"/>
          <a:lstStyle/>
          <a:p>
            <a:pPr indent="0" marL="0">
              <a:buNone/>
            </a:pPr>
            <a:endParaRPr lang="en-US" dirty="0"/>
          </a:p>
        </p:txBody>
      </p:sp>
      <p:sp>
        <p:nvSpPr>
          <p:cNvPr id="3" name="Text 1"/>
          <p:cNvSpPr/>
          <p:nvPr/>
        </p:nvSpPr>
        <p:spPr>
          <a:xfrm>
            <a:off x="3561159" y="464790"/>
            <a:ext cx="2062115" cy="152400"/>
          </a:xfrm>
          <a:prstGeom prst="rect">
            <a:avLst/>
          </a:prstGeom>
          <a:noFill/>
          <a:ln/>
        </p:spPr>
        <p:txBody>
          <a:bodyPr wrap="square" lIns="0" tIns="0" rIns="0" bIns="0" rtlCol="0" anchor="t"/>
          <a:lstStyle/>
          <a:p>
            <a:pPr algn="l" indent="0" marL="0">
              <a:spcBef>
                <a:spcPts val="1100"/>
              </a:spcBef>
              <a:spcAft>
                <a:spcPts val="1600"/>
              </a:spcAft>
              <a:buNone/>
            </a:pPr>
            <a:r>
              <a:rPr lang="en-US" sz="1100" dirty="0">
                <a:solidFill>
                  <a:srgbClr val="00D4FF"/>
                </a:solidFill>
                <a:latin typeface="Arial" pitchFamily="34" charset="0"/>
                <a:ea typeface="Arial" pitchFamily="34" charset="-122"/>
                <a:cs typeface="Arial" pitchFamily="34" charset="-120"/>
              </a:rPr>
              <a:t>OPENING QUESTION</a:t>
            </a:r>
            <a:endParaRPr lang="en-US" sz="1100" dirty="0"/>
          </a:p>
        </p:txBody>
      </p:sp>
      <p:sp>
        <p:nvSpPr>
          <p:cNvPr id="4" name="Text 2"/>
          <p:cNvSpPr/>
          <p:nvPr/>
        </p:nvSpPr>
        <p:spPr>
          <a:xfrm>
            <a:off x="1608622" y="820341"/>
            <a:ext cx="5926607" cy="1238250"/>
          </a:xfrm>
          <a:prstGeom prst="rect">
            <a:avLst/>
          </a:prstGeom>
          <a:noFill/>
          <a:ln/>
        </p:spPr>
        <p:txBody>
          <a:bodyPr wrap="square" lIns="0" tIns="0" rIns="0" bIns="0" rtlCol="0" anchor="t"/>
          <a:lstStyle/>
          <a:p>
            <a:pPr algn="ctr" indent="0" marL="0">
              <a:buNone/>
            </a:pPr>
            <a:r>
              <a:rPr lang="en-US" sz="4200" dirty="0">
                <a:solidFill>
                  <a:srgbClr val="FFFFFF"/>
                </a:solidFill>
                <a:latin typeface="Arial" pitchFamily="34" charset="0"/>
                <a:ea typeface="Arial" pitchFamily="34" charset="-122"/>
                <a:cs typeface="Arial" pitchFamily="34" charset="-120"/>
              </a:rPr>
              <a:t>What if </a:t>
            </a:r>
            <a:pPr algn="ctr" indent="0" marL="0">
              <a:buNone/>
            </a:pPr>
            <a:r>
              <a:rPr lang="en-US" sz="4200" b="1" dirty="0">
                <a:solidFill>
                  <a:srgbClr val="F1C40F"/>
                </a:solidFill>
                <a:latin typeface="Arial" pitchFamily="34" charset="0"/>
                <a:ea typeface="Arial" pitchFamily="34" charset="-122"/>
                <a:cs typeface="Arial" pitchFamily="34" charset="-120"/>
              </a:rPr>
              <a:t>6 AI agents</a:t>
            </a:r>
            <a:pPr algn="ctr" indent="0" marL="0">
              <a:buNone/>
            </a:pPr>
            <a:endParaRPr lang="en-US" sz="4200" dirty="0"/>
          </a:p>
          <a:p>
            <a:pPr algn="ctr" indent="0" marL="0">
              <a:buNone/>
            </a:pPr>
            <a:r>
              <a:rPr lang="en-US" sz="4200" dirty="0">
                <a:solidFill>
                  <a:srgbClr val="FFFFFF"/>
                </a:solidFill>
                <a:latin typeface="Arial" pitchFamily="34" charset="0"/>
                <a:ea typeface="Arial" pitchFamily="34" charset="-122"/>
                <a:cs typeface="Arial" pitchFamily="34" charset="-120"/>
              </a:rPr>
              <a:t>reviewed your lecture?</a:t>
            </a:r>
            <a:endParaRPr lang="en-US" sz="4200" dirty="0"/>
          </a:p>
        </p:txBody>
      </p:sp>
      <p:sp>
        <p:nvSpPr>
          <p:cNvPr id="5" name="Text 3"/>
          <p:cNvSpPr/>
          <p:nvPr/>
        </p:nvSpPr>
        <p:spPr>
          <a:xfrm>
            <a:off x="1463040" y="2261741"/>
            <a:ext cx="6217920" cy="569119"/>
          </a:xfrm>
          <a:prstGeom prst="rect">
            <a:avLst/>
          </a:prstGeom>
          <a:noFill/>
          <a:ln/>
        </p:spPr>
        <p:txBody>
          <a:bodyPr wrap="square" lIns="0" tIns="0" rIns="0" bIns="0" rtlCol="0" anchor="t"/>
          <a:lstStyle/>
          <a:p>
            <a:pPr algn="ctr" indent="0" marL="0">
              <a:lnSpc>
                <a:spcPts val="2240"/>
              </a:lnSpc>
              <a:spcBef>
                <a:spcPts val="1600"/>
              </a:spcBef>
              <a:spcAft>
                <a:spcPts val="1400"/>
              </a:spcAft>
              <a:buNone/>
            </a:pPr>
            <a:r>
              <a:rPr lang="en-US" sz="1400" dirty="0">
                <a:solidFill>
                  <a:srgbClr val="B0BEC5"/>
                </a:solidFill>
                <a:latin typeface="Arial" pitchFamily="34" charset="0"/>
                <a:ea typeface="Arial" pitchFamily="34" charset="-122"/>
                <a:cs typeface="Arial" pitchFamily="34" charset="-120"/>
              </a:rPr>
              <a:t>Last month, I deployed a parallel agent team to review, critique, and improve a 16-week microbiology course — overnight.</a:t>
            </a:r>
            <a:endParaRPr lang="en-US" sz="1400" dirty="0"/>
          </a:p>
        </p:txBody>
      </p:sp>
      <p:sp>
        <p:nvSpPr>
          <p:cNvPr id="6" name="Text 4"/>
          <p:cNvSpPr/>
          <p:nvPr/>
        </p:nvSpPr>
        <p:spPr>
          <a:xfrm>
            <a:off x="89446" y="3364111"/>
            <a:ext cx="2050852" cy="1454051"/>
          </a:xfrm>
          <a:prstGeom prst="rect">
            <a:avLst/>
          </a:prstGeom>
          <a:solidFill>
            <a:srgbClr val="00D4FF">
              <a:alpha val="10000"/>
            </a:srgbClr>
          </a:solidFill>
          <a:ln w="9525">
            <a:solidFill>
              <a:srgbClr val="00D4FF"/>
            </a:solidFill>
          </a:ln>
        </p:spPr>
        <p:txBody>
          <a:bodyPr wrap="square" rtlCol="0" anchor="ctr"/>
          <a:lstStyle/>
          <a:p>
            <a:pPr indent="0" marL="0">
              <a:buNone/>
            </a:pPr>
            <a:endParaRPr lang="en-US" dirty="0"/>
          </a:p>
        </p:txBody>
      </p:sp>
      <p:sp>
        <p:nvSpPr>
          <p:cNvPr id="7" name="Text 5"/>
          <p:cNvSpPr/>
          <p:nvPr/>
        </p:nvSpPr>
        <p:spPr>
          <a:xfrm>
            <a:off x="337631" y="3805386"/>
            <a:ext cx="1554480" cy="323850"/>
          </a:xfrm>
          <a:prstGeom prst="rect">
            <a:avLst/>
          </a:prstGeom>
          <a:noFill/>
          <a:ln/>
        </p:spPr>
        <p:txBody>
          <a:bodyPr wrap="square" lIns="0" tIns="0" rIns="0" bIns="0" rtlCol="0" anchor="t"/>
          <a:lstStyle/>
          <a:p>
            <a:pPr algn="ctr" indent="0" marL="0">
              <a:spcBef>
                <a:spcPts val="2200"/>
              </a:spcBef>
              <a:spcAft>
                <a:spcPts val="2200"/>
              </a:spcAft>
              <a:buNone/>
            </a:pPr>
            <a:r>
              <a:rPr lang="en-US" sz="2200" b="1" dirty="0">
                <a:solidFill>
                  <a:srgbClr val="00D4FF"/>
                </a:solidFill>
                <a:latin typeface="Arial" pitchFamily="34" charset="0"/>
                <a:ea typeface="Arial" pitchFamily="34" charset="-122"/>
                <a:cs typeface="Arial" pitchFamily="34" charset="-120"/>
              </a:rPr>
              <a:t>6</a:t>
            </a:r>
            <a:endParaRPr lang="en-US" sz="2200" dirty="0"/>
          </a:p>
        </p:txBody>
      </p:sp>
      <p:sp>
        <p:nvSpPr>
          <p:cNvPr id="8" name="Text 6"/>
          <p:cNvSpPr/>
          <p:nvPr/>
        </p:nvSpPr>
        <p:spPr>
          <a:xfrm>
            <a:off x="337631" y="4408587"/>
            <a:ext cx="1554480" cy="133350"/>
          </a:xfrm>
          <a:prstGeom prst="rect">
            <a:avLst/>
          </a:prstGeom>
          <a:noFill/>
          <a:ln/>
        </p:spPr>
        <p:txBody>
          <a:bodyPr wrap="square" lIns="0" tIns="0" rIns="0" bIns="0" rtlCol="0" anchor="t"/>
          <a:lstStyle/>
          <a:p>
            <a:pPr algn="ctr" indent="0" marL="0">
              <a:spcBef>
                <a:spcPts val="900"/>
              </a:spcBef>
              <a:spcAft>
                <a:spcPts val="900"/>
              </a:spcAft>
              <a:buNone/>
            </a:pPr>
            <a:r>
              <a:rPr lang="en-US" sz="900" dirty="0">
                <a:solidFill>
                  <a:srgbClr val="B0BEC5"/>
                </a:solidFill>
                <a:latin typeface="Arial" pitchFamily="34" charset="0"/>
                <a:ea typeface="Arial" pitchFamily="34" charset="-122"/>
                <a:cs typeface="Arial" pitchFamily="34" charset="-120"/>
              </a:rPr>
              <a:t>PARALLEL AGENTS</a:t>
            </a:r>
            <a:endParaRPr lang="en-US" sz="900" dirty="0"/>
          </a:p>
        </p:txBody>
      </p:sp>
      <p:sp>
        <p:nvSpPr>
          <p:cNvPr id="9" name="Text 7"/>
          <p:cNvSpPr/>
          <p:nvPr/>
        </p:nvSpPr>
        <p:spPr>
          <a:xfrm>
            <a:off x="2394198" y="3364111"/>
            <a:ext cx="2050852" cy="1454051"/>
          </a:xfrm>
          <a:prstGeom prst="rect">
            <a:avLst/>
          </a:prstGeom>
          <a:solidFill>
            <a:srgbClr val="00D4FF">
              <a:alpha val="10000"/>
            </a:srgbClr>
          </a:solidFill>
          <a:ln w="9525">
            <a:solidFill>
              <a:srgbClr val="00D4FF"/>
            </a:solidFill>
          </a:ln>
        </p:spPr>
        <p:txBody>
          <a:bodyPr wrap="square" rtlCol="0" anchor="ctr"/>
          <a:lstStyle/>
          <a:p>
            <a:pPr indent="0" marL="0">
              <a:buNone/>
            </a:pPr>
            <a:endParaRPr lang="en-US" dirty="0"/>
          </a:p>
        </p:txBody>
      </p:sp>
      <p:sp>
        <p:nvSpPr>
          <p:cNvPr id="10" name="Text 8"/>
          <p:cNvSpPr/>
          <p:nvPr/>
        </p:nvSpPr>
        <p:spPr>
          <a:xfrm>
            <a:off x="2642384" y="3805386"/>
            <a:ext cx="1554480" cy="323850"/>
          </a:xfrm>
          <a:prstGeom prst="rect">
            <a:avLst/>
          </a:prstGeom>
          <a:noFill/>
          <a:ln/>
        </p:spPr>
        <p:txBody>
          <a:bodyPr wrap="square" lIns="0" tIns="0" rIns="0" bIns="0" rtlCol="0" anchor="t"/>
          <a:lstStyle/>
          <a:p>
            <a:pPr algn="ctr" indent="0" marL="0">
              <a:spcBef>
                <a:spcPts val="2200"/>
              </a:spcBef>
              <a:spcAft>
                <a:spcPts val="2200"/>
              </a:spcAft>
              <a:buNone/>
            </a:pPr>
            <a:r>
              <a:rPr lang="en-US" sz="2200" b="1" dirty="0">
                <a:solidFill>
                  <a:srgbClr val="00D4FF"/>
                </a:solidFill>
                <a:latin typeface="Arial" pitchFamily="34" charset="0"/>
                <a:ea typeface="Arial" pitchFamily="34" charset="-122"/>
                <a:cs typeface="Arial" pitchFamily="34" charset="-120"/>
              </a:rPr>
              <a:t>16</a:t>
            </a:r>
            <a:endParaRPr lang="en-US" sz="2200" dirty="0"/>
          </a:p>
        </p:txBody>
      </p:sp>
      <p:sp>
        <p:nvSpPr>
          <p:cNvPr id="11" name="Text 9"/>
          <p:cNvSpPr/>
          <p:nvPr/>
        </p:nvSpPr>
        <p:spPr>
          <a:xfrm>
            <a:off x="2642384" y="4408587"/>
            <a:ext cx="1554480" cy="133350"/>
          </a:xfrm>
          <a:prstGeom prst="rect">
            <a:avLst/>
          </a:prstGeom>
          <a:noFill/>
          <a:ln/>
        </p:spPr>
        <p:txBody>
          <a:bodyPr wrap="square" lIns="0" tIns="0" rIns="0" bIns="0" rtlCol="0" anchor="t"/>
          <a:lstStyle/>
          <a:p>
            <a:pPr algn="ctr" indent="0" marL="0">
              <a:spcBef>
                <a:spcPts val="900"/>
              </a:spcBef>
              <a:spcAft>
                <a:spcPts val="900"/>
              </a:spcAft>
              <a:buNone/>
            </a:pPr>
            <a:r>
              <a:rPr lang="en-US" sz="900" dirty="0">
                <a:solidFill>
                  <a:srgbClr val="B0BEC5"/>
                </a:solidFill>
                <a:latin typeface="Arial" pitchFamily="34" charset="0"/>
                <a:ea typeface="Arial" pitchFamily="34" charset="-122"/>
                <a:cs typeface="Arial" pitchFamily="34" charset="-120"/>
              </a:rPr>
              <a:t>WEEKS OF CONTENT</a:t>
            </a:r>
            <a:endParaRPr lang="en-US" sz="900" dirty="0"/>
          </a:p>
        </p:txBody>
      </p:sp>
      <p:sp>
        <p:nvSpPr>
          <p:cNvPr id="12" name="Text 10"/>
          <p:cNvSpPr/>
          <p:nvPr/>
        </p:nvSpPr>
        <p:spPr>
          <a:xfrm>
            <a:off x="4698950" y="3364111"/>
            <a:ext cx="2050852" cy="1454051"/>
          </a:xfrm>
          <a:prstGeom prst="rect">
            <a:avLst/>
          </a:prstGeom>
          <a:solidFill>
            <a:srgbClr val="00D4FF">
              <a:alpha val="10000"/>
            </a:srgbClr>
          </a:solidFill>
          <a:ln w="9525">
            <a:solidFill>
              <a:srgbClr val="00D4FF"/>
            </a:solidFill>
          </a:ln>
        </p:spPr>
        <p:txBody>
          <a:bodyPr wrap="square" rtlCol="0" anchor="ctr"/>
          <a:lstStyle/>
          <a:p>
            <a:pPr indent="0" marL="0">
              <a:buNone/>
            </a:pPr>
            <a:endParaRPr lang="en-US" dirty="0"/>
          </a:p>
        </p:txBody>
      </p:sp>
      <p:sp>
        <p:nvSpPr>
          <p:cNvPr id="13" name="Text 11"/>
          <p:cNvSpPr/>
          <p:nvPr/>
        </p:nvSpPr>
        <p:spPr>
          <a:xfrm>
            <a:off x="4947136" y="3805386"/>
            <a:ext cx="1554480" cy="323850"/>
          </a:xfrm>
          <a:prstGeom prst="rect">
            <a:avLst/>
          </a:prstGeom>
          <a:noFill/>
          <a:ln/>
        </p:spPr>
        <p:txBody>
          <a:bodyPr wrap="square" lIns="0" tIns="0" rIns="0" bIns="0" rtlCol="0" anchor="t"/>
          <a:lstStyle/>
          <a:p>
            <a:pPr algn="ctr" indent="0" marL="0">
              <a:spcBef>
                <a:spcPts val="2200"/>
              </a:spcBef>
              <a:spcAft>
                <a:spcPts val="2200"/>
              </a:spcAft>
              <a:buNone/>
            </a:pPr>
            <a:r>
              <a:rPr lang="en-US" sz="2200" b="1" dirty="0">
                <a:solidFill>
                  <a:srgbClr val="00D4FF"/>
                </a:solidFill>
                <a:latin typeface="Arial" pitchFamily="34" charset="0"/>
                <a:ea typeface="Arial" pitchFamily="34" charset="-122"/>
                <a:cs typeface="Arial" pitchFamily="34" charset="-120"/>
              </a:rPr>
              <a:t>8 hrs</a:t>
            </a:r>
            <a:endParaRPr lang="en-US" sz="2200" dirty="0"/>
          </a:p>
        </p:txBody>
      </p:sp>
      <p:sp>
        <p:nvSpPr>
          <p:cNvPr id="14" name="Text 12"/>
          <p:cNvSpPr/>
          <p:nvPr/>
        </p:nvSpPr>
        <p:spPr>
          <a:xfrm>
            <a:off x="4947136" y="4408587"/>
            <a:ext cx="1554480" cy="133350"/>
          </a:xfrm>
          <a:prstGeom prst="rect">
            <a:avLst/>
          </a:prstGeom>
          <a:noFill/>
          <a:ln/>
        </p:spPr>
        <p:txBody>
          <a:bodyPr wrap="square" lIns="0" tIns="0" rIns="0" bIns="0" rtlCol="0" anchor="t"/>
          <a:lstStyle/>
          <a:p>
            <a:pPr algn="ctr" indent="0" marL="0">
              <a:spcBef>
                <a:spcPts val="900"/>
              </a:spcBef>
              <a:spcAft>
                <a:spcPts val="900"/>
              </a:spcAft>
              <a:buNone/>
            </a:pPr>
            <a:r>
              <a:rPr lang="en-US" sz="900" dirty="0">
                <a:solidFill>
                  <a:srgbClr val="B0BEC5"/>
                </a:solidFill>
                <a:latin typeface="Arial" pitchFamily="34" charset="0"/>
                <a:ea typeface="Arial" pitchFamily="34" charset="-122"/>
                <a:cs typeface="Arial" pitchFamily="34" charset="-120"/>
              </a:rPr>
              <a:t>TOTAL RUNTIME</a:t>
            </a:r>
            <a:endParaRPr lang="en-US" sz="900" dirty="0"/>
          </a:p>
        </p:txBody>
      </p:sp>
      <p:sp>
        <p:nvSpPr>
          <p:cNvPr id="15" name="Text 13"/>
          <p:cNvSpPr/>
          <p:nvPr/>
        </p:nvSpPr>
        <p:spPr>
          <a:xfrm>
            <a:off x="7003703" y="3364111"/>
            <a:ext cx="2050852" cy="1454051"/>
          </a:xfrm>
          <a:prstGeom prst="rect">
            <a:avLst/>
          </a:prstGeom>
          <a:solidFill>
            <a:srgbClr val="00D4FF">
              <a:alpha val="10000"/>
            </a:srgbClr>
          </a:solidFill>
          <a:ln w="9525">
            <a:solidFill>
              <a:srgbClr val="00D4FF"/>
            </a:solidFill>
          </a:ln>
        </p:spPr>
        <p:txBody>
          <a:bodyPr wrap="square" rtlCol="0" anchor="ctr"/>
          <a:lstStyle/>
          <a:p>
            <a:pPr indent="0" marL="0">
              <a:buNone/>
            </a:pPr>
            <a:endParaRPr lang="en-US" dirty="0"/>
          </a:p>
        </p:txBody>
      </p:sp>
      <p:sp>
        <p:nvSpPr>
          <p:cNvPr id="16" name="Text 14"/>
          <p:cNvSpPr/>
          <p:nvPr/>
        </p:nvSpPr>
        <p:spPr>
          <a:xfrm>
            <a:off x="7251889" y="3805386"/>
            <a:ext cx="1554480" cy="323850"/>
          </a:xfrm>
          <a:prstGeom prst="rect">
            <a:avLst/>
          </a:prstGeom>
          <a:noFill/>
          <a:ln/>
        </p:spPr>
        <p:txBody>
          <a:bodyPr wrap="square" lIns="0" tIns="0" rIns="0" bIns="0" rtlCol="0" anchor="t"/>
          <a:lstStyle/>
          <a:p>
            <a:pPr algn="ctr" indent="0" marL="0">
              <a:spcBef>
                <a:spcPts val="2200"/>
              </a:spcBef>
              <a:spcAft>
                <a:spcPts val="2200"/>
              </a:spcAft>
              <a:buNone/>
            </a:pPr>
            <a:r>
              <a:rPr lang="en-US" sz="2200" b="1" dirty="0">
                <a:solidFill>
                  <a:srgbClr val="00D4FF"/>
                </a:solidFill>
                <a:latin typeface="Arial" pitchFamily="34" charset="0"/>
                <a:ea typeface="Arial" pitchFamily="34" charset="-122"/>
                <a:cs typeface="Arial" pitchFamily="34" charset="-120"/>
              </a:rPr>
              <a:t>0</a:t>
            </a:r>
            <a:endParaRPr lang="en-US" sz="2200" dirty="0"/>
          </a:p>
        </p:txBody>
      </p:sp>
      <p:sp>
        <p:nvSpPr>
          <p:cNvPr id="17" name="Text 15"/>
          <p:cNvSpPr/>
          <p:nvPr/>
        </p:nvSpPr>
        <p:spPr>
          <a:xfrm>
            <a:off x="7251889" y="4408587"/>
            <a:ext cx="1554480" cy="133350"/>
          </a:xfrm>
          <a:prstGeom prst="rect">
            <a:avLst/>
          </a:prstGeom>
          <a:noFill/>
          <a:ln/>
        </p:spPr>
        <p:txBody>
          <a:bodyPr wrap="square" lIns="0" tIns="0" rIns="0" bIns="0" rtlCol="0" anchor="t"/>
          <a:lstStyle/>
          <a:p>
            <a:pPr algn="ctr" indent="0" marL="0">
              <a:spcBef>
                <a:spcPts val="900"/>
              </a:spcBef>
              <a:spcAft>
                <a:spcPts val="900"/>
              </a:spcAft>
              <a:buNone/>
            </a:pPr>
            <a:r>
              <a:rPr lang="en-US" sz="900" dirty="0">
                <a:solidFill>
                  <a:srgbClr val="B0BEC5"/>
                </a:solidFill>
                <a:latin typeface="Arial" pitchFamily="34" charset="0"/>
                <a:ea typeface="Arial" pitchFamily="34" charset="-122"/>
                <a:cs typeface="Arial" pitchFamily="34" charset="-120"/>
              </a:rPr>
              <a:t>HOURS I WORKED</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50A1E"/>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9B59B6"/>
          </a:solidFill>
          <a:ln/>
        </p:spPr>
        <p:txBody>
          <a:bodyPr wrap="square" rtlCol="0" anchor="ctr"/>
          <a:lstStyle/>
          <a:p>
            <a:pPr indent="0" marL="0">
              <a:buNone/>
            </a:pPr>
            <a:endParaRPr lang="en-US" dirty="0"/>
          </a:p>
        </p:txBody>
      </p:sp>
      <p:sp>
        <p:nvSpPr>
          <p:cNvPr id="3" name="Text 1"/>
          <p:cNvSpPr/>
          <p:nvPr/>
        </p:nvSpPr>
        <p:spPr>
          <a:xfrm>
            <a:off x="507950" y="1504801"/>
            <a:ext cx="4404309" cy="142875"/>
          </a:xfrm>
          <a:prstGeom prst="rect">
            <a:avLst/>
          </a:prstGeom>
          <a:noFill/>
          <a:ln/>
        </p:spPr>
        <p:txBody>
          <a:bodyPr wrap="square" lIns="0" tIns="0" rIns="0" bIns="0" rtlCol="0" anchor="t"/>
          <a:lstStyle/>
          <a:p>
            <a:pPr algn="l" indent="0" marL="0">
              <a:spcBef>
                <a:spcPts val="1000"/>
              </a:spcBef>
              <a:spcAft>
                <a:spcPts val="1400"/>
              </a:spcAft>
              <a:buNone/>
            </a:pPr>
            <a:r>
              <a:rPr lang="en-US" sz="1000" dirty="0">
                <a:solidFill>
                  <a:srgbClr val="9B59B6"/>
                </a:solidFill>
                <a:latin typeface="Arial" pitchFamily="34" charset="0"/>
                <a:ea typeface="Arial" pitchFamily="34" charset="-122"/>
                <a:cs typeface="Arial" pitchFamily="34" charset="-120"/>
              </a:rPr>
              <a:t>PART 1 — HOOK</a:t>
            </a:r>
            <a:endParaRPr lang="en-US" sz="1000" dirty="0"/>
          </a:p>
        </p:txBody>
      </p:sp>
      <p:sp>
        <p:nvSpPr>
          <p:cNvPr id="4" name="Text 2"/>
          <p:cNvSpPr/>
          <p:nvPr/>
        </p:nvSpPr>
        <p:spPr>
          <a:xfrm>
            <a:off x="507950" y="1825377"/>
            <a:ext cx="4404309" cy="914400"/>
          </a:xfrm>
          <a:prstGeom prst="rect">
            <a:avLst/>
          </a:prstGeom>
          <a:noFill/>
          <a:ln/>
        </p:spPr>
        <p:txBody>
          <a:bodyPr wrap="square" lIns="0" tIns="0" rIns="0" bIns="0" rtlCol="0" anchor="t"/>
          <a:lstStyle/>
          <a:p>
            <a:pPr algn="l" indent="0" marL="0">
              <a:lnSpc>
                <a:spcPts val="3600"/>
              </a:lnSpc>
              <a:spcAft>
                <a:spcPts val="1600"/>
              </a:spcAft>
              <a:buNone/>
            </a:pPr>
            <a:r>
              <a:rPr lang="en-US" sz="3000" dirty="0">
                <a:solidFill>
                  <a:srgbClr val="FFFFFF"/>
                </a:solidFill>
                <a:latin typeface="Arial" pitchFamily="34" charset="0"/>
                <a:ea typeface="Arial" pitchFamily="34" charset="-122"/>
                <a:cs typeface="Arial" pitchFamily="34" charset="-120"/>
              </a:rPr>
              <a:t>Today's </a:t>
            </a:r>
            <a:pPr algn="l" indent="0" marL="0">
              <a:lnSpc>
                <a:spcPts val="3600"/>
              </a:lnSpc>
              <a:spcAft>
                <a:spcPts val="1600"/>
              </a:spcAft>
              <a:buNone/>
            </a:pPr>
            <a:r>
              <a:rPr lang="en-US" sz="3000" b="1" dirty="0">
                <a:solidFill>
                  <a:srgbClr val="00D4FF"/>
                </a:solidFill>
                <a:latin typeface="Arial" pitchFamily="34" charset="0"/>
                <a:ea typeface="Arial" pitchFamily="34" charset="-122"/>
                <a:cs typeface="Arial" pitchFamily="34" charset="-120"/>
              </a:rPr>
              <a:t>Live Demos</a:t>
            </a:r>
            <a:pPr algn="l" indent="0" marL="0">
              <a:lnSpc>
                <a:spcPts val="3600"/>
              </a:lnSpc>
              <a:spcAft>
                <a:spcPts val="1600"/>
              </a:spcAft>
              <a:buNone/>
            </a:pPr>
            <a:r>
              <a:rPr lang="en-US" sz="3000" dirty="0">
                <a:solidFill>
                  <a:srgbClr val="FFFFFF"/>
                </a:solidFill>
                <a:latin typeface="Arial" pitchFamily="34" charset="0"/>
                <a:ea typeface="Arial" pitchFamily="34" charset="-122"/>
                <a:cs typeface="Arial" pitchFamily="34" charset="-120"/>
              </a:rPr>
              <a:t> &amp; Agenda</a:t>
            </a:r>
            <a:endParaRPr lang="en-US" sz="3000" dirty="0"/>
          </a:p>
        </p:txBody>
      </p:sp>
      <p:sp>
        <p:nvSpPr>
          <p:cNvPr id="5" name="Text 3"/>
          <p:cNvSpPr/>
          <p:nvPr/>
        </p:nvSpPr>
        <p:spPr>
          <a:xfrm>
            <a:off x="507950" y="3095327"/>
            <a:ext cx="4404309" cy="517922"/>
          </a:xfrm>
          <a:prstGeom prst="rect">
            <a:avLst/>
          </a:prstGeom>
          <a:noFill/>
          <a:ln/>
        </p:spPr>
        <p:txBody>
          <a:bodyPr wrap="square" lIns="0" tIns="0" rIns="0" bIns="0" rtlCol="0" anchor="t"/>
          <a:lstStyle/>
          <a:p>
            <a:pPr algn="l" indent="0" marL="0">
              <a:lnSpc>
                <a:spcPts val="2040"/>
              </a:lnSpc>
              <a:spcBef>
                <a:spcPts val="1200"/>
              </a:spcBef>
              <a:spcAft>
                <a:spcPts val="1200"/>
              </a:spcAft>
              <a:buNone/>
            </a:pPr>
            <a:r>
              <a:rPr lang="en-US" sz="1200" dirty="0">
                <a:solidFill>
                  <a:srgbClr val="B0BEC5"/>
                </a:solidFill>
                <a:latin typeface="Arial" pitchFamily="34" charset="0"/>
                <a:ea typeface="Arial" pitchFamily="34" charset="-122"/>
                <a:cs typeface="Arial" pitchFamily="34" charset="-120"/>
              </a:rPr>
              <a:t>You won't just hear about AI agents — you'll see them built, deployed, and working in real clinical &amp; research contexts.</a:t>
            </a:r>
            <a:endParaRPr lang="en-US" sz="1200" dirty="0"/>
          </a:p>
        </p:txBody>
      </p:sp>
      <p:sp>
        <p:nvSpPr>
          <p:cNvPr id="6" name="Text 4"/>
          <p:cNvSpPr/>
          <p:nvPr/>
        </p:nvSpPr>
        <p:spPr>
          <a:xfrm>
            <a:off x="5206901" y="0"/>
            <a:ext cx="3937099" cy="5143500"/>
          </a:xfrm>
          <a:prstGeom prst="rect">
            <a:avLst/>
          </a:prstGeom>
          <a:solidFill>
            <a:srgbClr val="9B59B6">
              <a:alpha val="8000"/>
            </a:srgbClr>
          </a:solidFill>
          <a:ln/>
        </p:spPr>
        <p:txBody>
          <a:bodyPr wrap="square" rtlCol="0" anchor="ctr"/>
          <a:lstStyle/>
          <a:p>
            <a:pPr indent="0" marL="0">
              <a:buNone/>
            </a:pPr>
            <a:endParaRPr lang="en-US" dirty="0"/>
          </a:p>
        </p:txBody>
      </p:sp>
      <p:sp>
        <p:nvSpPr>
          <p:cNvPr id="7" name="Shape 5"/>
          <p:cNvSpPr/>
          <p:nvPr/>
        </p:nvSpPr>
        <p:spPr>
          <a:xfrm>
            <a:off x="5216426" y="0"/>
            <a:ext cx="0" cy="5143500"/>
          </a:xfrm>
          <a:prstGeom prst="line">
            <a:avLst/>
          </a:prstGeom>
          <a:noFill/>
          <a:ln w="19050">
            <a:solidFill>
              <a:srgbClr val="9B59B6"/>
            </a:solidFill>
            <a:prstDash val="solid"/>
          </a:ln>
        </p:spPr>
      </p:sp>
      <p:sp>
        <p:nvSpPr>
          <p:cNvPr id="8" name="Text 6"/>
          <p:cNvSpPr/>
          <p:nvPr/>
        </p:nvSpPr>
        <p:spPr>
          <a:xfrm>
            <a:off x="6356300" y="386507"/>
            <a:ext cx="1657201" cy="295275"/>
          </a:xfrm>
          <a:prstGeom prst="rect">
            <a:avLst/>
          </a:prstGeom>
          <a:solidFill>
            <a:srgbClr val="F1C40F"/>
          </a:solidFill>
          <a:ln/>
        </p:spPr>
        <p:txBody>
          <a:bodyPr wrap="square" rtlCol="0" anchor="ctr"/>
          <a:lstStyle/>
          <a:p>
            <a:pPr indent="0" marL="0">
              <a:buNone/>
            </a:pPr>
            <a:endParaRPr lang="en-US" dirty="0"/>
          </a:p>
        </p:txBody>
      </p:sp>
      <p:sp>
        <p:nvSpPr>
          <p:cNvPr id="9" name="Text 7"/>
          <p:cNvSpPr/>
          <p:nvPr/>
        </p:nvSpPr>
        <p:spPr>
          <a:xfrm>
            <a:off x="6534001" y="462707"/>
            <a:ext cx="1327836" cy="142875"/>
          </a:xfrm>
          <a:prstGeom prst="rect">
            <a:avLst/>
          </a:prstGeom>
          <a:noFill/>
          <a:ln/>
        </p:spPr>
        <p:txBody>
          <a:bodyPr wrap="square" lIns="0" tIns="0" rIns="0" bIns="0" rtlCol="0" anchor="t"/>
          <a:lstStyle/>
          <a:p>
            <a:pPr algn="l" indent="0" marL="0">
              <a:buNone/>
            </a:pPr>
            <a:r>
              <a:rPr lang="en-US" sz="1000" b="1" dirty="0">
                <a:solidFill>
                  <a:srgbClr val="050A1E"/>
                </a:solidFill>
                <a:latin typeface="Arial" pitchFamily="34" charset="0"/>
                <a:ea typeface="Arial" pitchFamily="34" charset="-122"/>
                <a:cs typeface="Arial" pitchFamily="34" charset="-120"/>
              </a:rPr>
              <a:t>WHAT TO EXPECT</a:t>
            </a:r>
            <a:endParaRPr lang="en-US" sz="1000" dirty="0"/>
          </a:p>
        </p:txBody>
      </p:sp>
      <p:sp>
        <p:nvSpPr>
          <p:cNvPr id="10" name="Text 8"/>
          <p:cNvSpPr/>
          <p:nvPr/>
        </p:nvSpPr>
        <p:spPr>
          <a:xfrm>
            <a:off x="5606951" y="884932"/>
            <a:ext cx="3156049" cy="866477"/>
          </a:xfrm>
          <a:prstGeom prst="rect">
            <a:avLst/>
          </a:prstGeom>
          <a:solidFill>
            <a:srgbClr val="00D4FF">
              <a:alpha val="8000"/>
            </a:srgbClr>
          </a:solidFill>
          <a:ln w="9525">
            <a:solidFill>
              <a:srgbClr val="00D4FF"/>
            </a:solidFill>
          </a:ln>
        </p:spPr>
        <p:txBody>
          <a:bodyPr wrap="square" rtlCol="0" anchor="ctr"/>
          <a:lstStyle/>
          <a:p>
            <a:pPr indent="0" marL="0">
              <a:buNone/>
            </a:pPr>
            <a:endParaRPr lang="en-US" dirty="0"/>
          </a:p>
        </p:txBody>
      </p:sp>
      <p:sp>
        <p:nvSpPr>
          <p:cNvPr id="11" name="Text 9"/>
          <p:cNvSpPr/>
          <p:nvPr/>
        </p:nvSpPr>
        <p:spPr>
          <a:xfrm>
            <a:off x="5768876" y="1199108"/>
            <a:ext cx="258979" cy="238125"/>
          </a:xfrm>
          <a:prstGeom prst="rect">
            <a:avLst/>
          </a:prstGeom>
          <a:noFill/>
          <a:ln/>
        </p:spPr>
        <p:txBody>
          <a:bodyPr wrap="square" lIns="0" tIns="0" rIns="0" bIns="0" rtlCol="0" anchor="t"/>
          <a:lstStyle/>
          <a:p>
            <a:pPr algn="l" indent="0" marL="0">
              <a:spcBef>
                <a:spcPts val="1600"/>
              </a:spcBef>
              <a:spcAft>
                <a:spcPts val="1600"/>
              </a:spcAft>
              <a:buNone/>
            </a:pPr>
            <a:r>
              <a:rPr lang="en-US" sz="1600" b="1" dirty="0">
                <a:solidFill>
                  <a:srgbClr val="00D4FF"/>
                </a:solidFill>
                <a:latin typeface="Arial" pitchFamily="34" charset="0"/>
                <a:ea typeface="Arial" pitchFamily="34" charset="-122"/>
                <a:cs typeface="Arial" pitchFamily="34" charset="-120"/>
              </a:rPr>
              <a:t>01</a:t>
            </a:r>
            <a:endParaRPr lang="en-US" sz="1600" dirty="0"/>
          </a:p>
        </p:txBody>
      </p:sp>
      <p:sp>
        <p:nvSpPr>
          <p:cNvPr id="12" name="Text 10"/>
          <p:cNvSpPr/>
          <p:nvPr/>
        </p:nvSpPr>
        <p:spPr>
          <a:xfrm>
            <a:off x="6149727" y="1165771"/>
            <a:ext cx="2500375" cy="304800"/>
          </a:xfrm>
          <a:prstGeom prst="rect">
            <a:avLst/>
          </a:prstGeom>
          <a:noFill/>
          <a:ln/>
        </p:spPr>
        <p:txBody>
          <a:bodyPr wrap="square" lIns="0" tIns="0" rIns="0" bIns="0" rtlCol="0" anchor="t"/>
          <a:lstStyle/>
          <a:p>
            <a:pPr algn="l" indent="0" marL="0">
              <a:spcBef>
                <a:spcPts val="1100"/>
              </a:spcBef>
              <a:spcAft>
                <a:spcPts val="1100"/>
              </a:spcAft>
              <a:buNone/>
            </a:pPr>
            <a:r>
              <a:rPr lang="en-US" sz="1100" b="1" dirty="0">
                <a:solidFill>
                  <a:srgbClr val="E0E0E0"/>
                </a:solidFill>
                <a:latin typeface="Arial" pitchFamily="34" charset="0"/>
                <a:ea typeface="Arial" pitchFamily="34" charset="-122"/>
                <a:cs typeface="Arial" pitchFamily="34" charset="-120"/>
              </a:rPr>
              <a:t>Claude Code in 3 min</a:t>
            </a:r>
            <a:pPr algn="l" indent="0" marL="0">
              <a:spcBef>
                <a:spcPts val="1100"/>
              </a:spcBef>
              <a:spcAft>
                <a:spcPts val="1100"/>
              </a:spcAft>
              <a:buNone/>
            </a:pPr>
            <a:r>
              <a:rPr lang="en-US" sz="1100" dirty="0">
                <a:solidFill>
                  <a:srgbClr val="E0E0E0"/>
                </a:solidFill>
                <a:latin typeface="Arial" pitchFamily="34" charset="0"/>
                <a:ea typeface="Arial" pitchFamily="34" charset="-122"/>
                <a:cs typeface="Arial" pitchFamily="34" charset="-120"/>
              </a:rPr>
              <a:t> — CSV → insight</a:t>
            </a:r>
            <a:endParaRPr lang="en-US" sz="1100" dirty="0"/>
          </a:p>
        </p:txBody>
      </p:sp>
      <p:sp>
        <p:nvSpPr>
          <p:cNvPr id="13" name="Text 11"/>
          <p:cNvSpPr/>
          <p:nvPr/>
        </p:nvSpPr>
        <p:spPr>
          <a:xfrm>
            <a:off x="5606951" y="1852910"/>
            <a:ext cx="3156049" cy="866477"/>
          </a:xfrm>
          <a:prstGeom prst="rect">
            <a:avLst/>
          </a:prstGeom>
          <a:solidFill>
            <a:srgbClr val="00D4FF">
              <a:alpha val="8000"/>
            </a:srgbClr>
          </a:solidFill>
          <a:ln w="9525">
            <a:solidFill>
              <a:srgbClr val="00D4FF"/>
            </a:solidFill>
          </a:ln>
        </p:spPr>
        <p:txBody>
          <a:bodyPr wrap="square" rtlCol="0" anchor="ctr"/>
          <a:lstStyle/>
          <a:p>
            <a:pPr indent="0" marL="0">
              <a:buNone/>
            </a:pPr>
            <a:endParaRPr lang="en-US" dirty="0"/>
          </a:p>
        </p:txBody>
      </p:sp>
      <p:sp>
        <p:nvSpPr>
          <p:cNvPr id="14" name="Text 12"/>
          <p:cNvSpPr/>
          <p:nvPr/>
        </p:nvSpPr>
        <p:spPr>
          <a:xfrm>
            <a:off x="5768876" y="2167086"/>
            <a:ext cx="258979" cy="238125"/>
          </a:xfrm>
          <a:prstGeom prst="rect">
            <a:avLst/>
          </a:prstGeom>
          <a:noFill/>
          <a:ln/>
        </p:spPr>
        <p:txBody>
          <a:bodyPr wrap="square" lIns="0" tIns="0" rIns="0" bIns="0" rtlCol="0" anchor="t"/>
          <a:lstStyle/>
          <a:p>
            <a:pPr algn="l" indent="0" marL="0">
              <a:spcBef>
                <a:spcPts val="1600"/>
              </a:spcBef>
              <a:spcAft>
                <a:spcPts val="1600"/>
              </a:spcAft>
              <a:buNone/>
            </a:pPr>
            <a:r>
              <a:rPr lang="en-US" sz="1600" b="1" dirty="0">
                <a:solidFill>
                  <a:srgbClr val="00D4FF"/>
                </a:solidFill>
                <a:latin typeface="Arial" pitchFamily="34" charset="0"/>
                <a:ea typeface="Arial" pitchFamily="34" charset="-122"/>
                <a:cs typeface="Arial" pitchFamily="34" charset="-120"/>
              </a:rPr>
              <a:t>02</a:t>
            </a:r>
            <a:endParaRPr lang="en-US" sz="1600" dirty="0"/>
          </a:p>
        </p:txBody>
      </p:sp>
      <p:sp>
        <p:nvSpPr>
          <p:cNvPr id="15" name="Text 13"/>
          <p:cNvSpPr/>
          <p:nvPr/>
        </p:nvSpPr>
        <p:spPr>
          <a:xfrm>
            <a:off x="6149727" y="2133749"/>
            <a:ext cx="2500375" cy="304800"/>
          </a:xfrm>
          <a:prstGeom prst="rect">
            <a:avLst/>
          </a:prstGeom>
          <a:noFill/>
          <a:ln/>
        </p:spPr>
        <p:txBody>
          <a:bodyPr wrap="square" lIns="0" tIns="0" rIns="0" bIns="0" rtlCol="0" anchor="t"/>
          <a:lstStyle/>
          <a:p>
            <a:pPr algn="l" indent="0" marL="0">
              <a:spcBef>
                <a:spcPts val="1100"/>
              </a:spcBef>
              <a:spcAft>
                <a:spcPts val="1100"/>
              </a:spcAft>
              <a:buNone/>
            </a:pPr>
            <a:r>
              <a:rPr lang="en-US" sz="1100" b="1" dirty="0">
                <a:solidFill>
                  <a:srgbClr val="E0E0E0"/>
                </a:solidFill>
                <a:latin typeface="Arial" pitchFamily="34" charset="0"/>
                <a:ea typeface="Arial" pitchFamily="34" charset="-122"/>
                <a:cs typeface="Arial" pitchFamily="34" charset="-120"/>
              </a:rPr>
              <a:t>Build a quiz app</a:t>
            </a:r>
            <a:pPr algn="l" indent="0" marL="0">
              <a:spcBef>
                <a:spcPts val="1100"/>
              </a:spcBef>
              <a:spcAft>
                <a:spcPts val="1100"/>
              </a:spcAft>
              <a:buNone/>
            </a:pPr>
            <a:r>
              <a:rPr lang="en-US" sz="1100" dirty="0">
                <a:solidFill>
                  <a:srgbClr val="E0E0E0"/>
                </a:solidFill>
                <a:latin typeface="Arial" pitchFamily="34" charset="0"/>
                <a:ea typeface="Arial" pitchFamily="34" charset="-122"/>
                <a:cs typeface="Arial" pitchFamily="34" charset="-120"/>
              </a:rPr>
              <a:t> — natural language only</a:t>
            </a:r>
            <a:endParaRPr lang="en-US" sz="1100" dirty="0"/>
          </a:p>
        </p:txBody>
      </p:sp>
      <p:sp>
        <p:nvSpPr>
          <p:cNvPr id="16" name="Text 14"/>
          <p:cNvSpPr/>
          <p:nvPr/>
        </p:nvSpPr>
        <p:spPr>
          <a:xfrm>
            <a:off x="5606951" y="2820888"/>
            <a:ext cx="3156049" cy="866477"/>
          </a:xfrm>
          <a:prstGeom prst="rect">
            <a:avLst/>
          </a:prstGeom>
          <a:solidFill>
            <a:srgbClr val="00D4FF">
              <a:alpha val="8000"/>
            </a:srgbClr>
          </a:solidFill>
          <a:ln w="9525">
            <a:solidFill>
              <a:srgbClr val="00D4FF"/>
            </a:solidFill>
          </a:ln>
        </p:spPr>
        <p:txBody>
          <a:bodyPr wrap="square" rtlCol="0" anchor="ctr"/>
          <a:lstStyle/>
          <a:p>
            <a:pPr indent="0" marL="0">
              <a:buNone/>
            </a:pPr>
            <a:endParaRPr lang="en-US" dirty="0"/>
          </a:p>
        </p:txBody>
      </p:sp>
      <p:sp>
        <p:nvSpPr>
          <p:cNvPr id="17" name="Text 15"/>
          <p:cNvSpPr/>
          <p:nvPr/>
        </p:nvSpPr>
        <p:spPr>
          <a:xfrm>
            <a:off x="5768876" y="3135064"/>
            <a:ext cx="258979" cy="238125"/>
          </a:xfrm>
          <a:prstGeom prst="rect">
            <a:avLst/>
          </a:prstGeom>
          <a:noFill/>
          <a:ln/>
        </p:spPr>
        <p:txBody>
          <a:bodyPr wrap="square" lIns="0" tIns="0" rIns="0" bIns="0" rtlCol="0" anchor="t"/>
          <a:lstStyle/>
          <a:p>
            <a:pPr algn="l" indent="0" marL="0">
              <a:spcBef>
                <a:spcPts val="1600"/>
              </a:spcBef>
              <a:spcAft>
                <a:spcPts val="1600"/>
              </a:spcAft>
              <a:buNone/>
            </a:pPr>
            <a:r>
              <a:rPr lang="en-US" sz="1600" b="1" dirty="0">
                <a:solidFill>
                  <a:srgbClr val="00D4FF"/>
                </a:solidFill>
                <a:latin typeface="Arial" pitchFamily="34" charset="0"/>
                <a:ea typeface="Arial" pitchFamily="34" charset="-122"/>
                <a:cs typeface="Arial" pitchFamily="34" charset="-120"/>
              </a:rPr>
              <a:t>03</a:t>
            </a:r>
            <a:endParaRPr lang="en-US" sz="1600" dirty="0"/>
          </a:p>
        </p:txBody>
      </p:sp>
      <p:sp>
        <p:nvSpPr>
          <p:cNvPr id="18" name="Text 16"/>
          <p:cNvSpPr/>
          <p:nvPr/>
        </p:nvSpPr>
        <p:spPr>
          <a:xfrm>
            <a:off x="6149727" y="3101727"/>
            <a:ext cx="2500375" cy="304800"/>
          </a:xfrm>
          <a:prstGeom prst="rect">
            <a:avLst/>
          </a:prstGeom>
          <a:noFill/>
          <a:ln/>
        </p:spPr>
        <p:txBody>
          <a:bodyPr wrap="square" lIns="0" tIns="0" rIns="0" bIns="0" rtlCol="0" anchor="t"/>
          <a:lstStyle/>
          <a:p>
            <a:pPr algn="l" indent="0" marL="0">
              <a:spcBef>
                <a:spcPts val="1100"/>
              </a:spcBef>
              <a:spcAft>
                <a:spcPts val="1100"/>
              </a:spcAft>
              <a:buNone/>
            </a:pPr>
            <a:r>
              <a:rPr lang="en-US" sz="1100" b="1" dirty="0">
                <a:solidFill>
                  <a:srgbClr val="E0E0E0"/>
                </a:solidFill>
                <a:latin typeface="Arial" pitchFamily="34" charset="0"/>
                <a:ea typeface="Arial" pitchFamily="34" charset="-122"/>
                <a:cs typeface="Arial" pitchFamily="34" charset="-120"/>
              </a:rPr>
              <a:t>Launch agent team</a:t>
            </a:r>
            <a:pPr algn="l" indent="0" marL="0">
              <a:spcBef>
                <a:spcPts val="1100"/>
              </a:spcBef>
              <a:spcAft>
                <a:spcPts val="1100"/>
              </a:spcAft>
              <a:buNone/>
            </a:pPr>
            <a:r>
              <a:rPr lang="en-US" sz="1100" dirty="0">
                <a:solidFill>
                  <a:srgbClr val="E0E0E0"/>
                </a:solidFill>
                <a:latin typeface="Arial" pitchFamily="34" charset="0"/>
                <a:ea typeface="Arial" pitchFamily="34" charset="-122"/>
                <a:cs typeface="Arial" pitchFamily="34" charset="-120"/>
              </a:rPr>
              <a:t> — parallel execution live</a:t>
            </a:r>
            <a:endParaRPr lang="en-US" sz="1100" dirty="0"/>
          </a:p>
        </p:txBody>
      </p:sp>
      <p:sp>
        <p:nvSpPr>
          <p:cNvPr id="19" name="Text 17"/>
          <p:cNvSpPr/>
          <p:nvPr/>
        </p:nvSpPr>
        <p:spPr>
          <a:xfrm>
            <a:off x="5606951" y="3788866"/>
            <a:ext cx="3156049" cy="866477"/>
          </a:xfrm>
          <a:prstGeom prst="rect">
            <a:avLst/>
          </a:prstGeom>
          <a:solidFill>
            <a:srgbClr val="00D4FF">
              <a:alpha val="8000"/>
            </a:srgbClr>
          </a:solidFill>
          <a:ln w="9525">
            <a:solidFill>
              <a:srgbClr val="00D4FF"/>
            </a:solidFill>
          </a:ln>
        </p:spPr>
        <p:txBody>
          <a:bodyPr wrap="square" rtlCol="0" anchor="ctr"/>
          <a:lstStyle/>
          <a:p>
            <a:pPr indent="0" marL="0">
              <a:buNone/>
            </a:pPr>
            <a:endParaRPr lang="en-US" dirty="0"/>
          </a:p>
        </p:txBody>
      </p:sp>
      <p:sp>
        <p:nvSpPr>
          <p:cNvPr id="20" name="Text 18"/>
          <p:cNvSpPr/>
          <p:nvPr/>
        </p:nvSpPr>
        <p:spPr>
          <a:xfrm>
            <a:off x="5768876" y="4103043"/>
            <a:ext cx="258979" cy="238125"/>
          </a:xfrm>
          <a:prstGeom prst="rect">
            <a:avLst/>
          </a:prstGeom>
          <a:noFill/>
          <a:ln/>
        </p:spPr>
        <p:txBody>
          <a:bodyPr wrap="square" lIns="0" tIns="0" rIns="0" bIns="0" rtlCol="0" anchor="t"/>
          <a:lstStyle/>
          <a:p>
            <a:pPr algn="l" indent="0" marL="0">
              <a:spcBef>
                <a:spcPts val="1600"/>
              </a:spcBef>
              <a:spcAft>
                <a:spcPts val="1600"/>
              </a:spcAft>
              <a:buNone/>
            </a:pPr>
            <a:r>
              <a:rPr lang="en-US" sz="1600" b="1" dirty="0">
                <a:solidFill>
                  <a:srgbClr val="00D4FF"/>
                </a:solidFill>
                <a:latin typeface="Arial" pitchFamily="34" charset="0"/>
                <a:ea typeface="Arial" pitchFamily="34" charset="-122"/>
                <a:cs typeface="Arial" pitchFamily="34" charset="-120"/>
              </a:rPr>
              <a:t>04</a:t>
            </a:r>
            <a:endParaRPr lang="en-US" sz="1600" dirty="0"/>
          </a:p>
        </p:txBody>
      </p:sp>
      <p:sp>
        <p:nvSpPr>
          <p:cNvPr id="21" name="Text 19"/>
          <p:cNvSpPr/>
          <p:nvPr/>
        </p:nvSpPr>
        <p:spPr>
          <a:xfrm>
            <a:off x="6149727" y="4145905"/>
            <a:ext cx="2284964" cy="152400"/>
          </a:xfrm>
          <a:prstGeom prst="rect">
            <a:avLst/>
          </a:prstGeom>
          <a:noFill/>
          <a:ln/>
        </p:spPr>
        <p:txBody>
          <a:bodyPr wrap="square" lIns="0" tIns="0" rIns="0" bIns="0" rtlCol="0" anchor="t"/>
          <a:lstStyle/>
          <a:p>
            <a:pPr algn="l" indent="0" marL="0">
              <a:spcBef>
                <a:spcPts val="1100"/>
              </a:spcBef>
              <a:spcAft>
                <a:spcPts val="1100"/>
              </a:spcAft>
              <a:buNone/>
            </a:pPr>
            <a:r>
              <a:rPr lang="en-US" sz="1100" b="1" dirty="0">
                <a:solidFill>
                  <a:srgbClr val="E0E0E0"/>
                </a:solidFill>
                <a:latin typeface="Arial" pitchFamily="34" charset="0"/>
                <a:ea typeface="Arial" pitchFamily="34" charset="-122"/>
                <a:cs typeface="Arial" pitchFamily="34" charset="-120"/>
              </a:rPr>
              <a:t>You try it</a:t>
            </a:r>
            <a:pPr algn="l" indent="0" marL="0">
              <a:spcBef>
                <a:spcPts val="1100"/>
              </a:spcBef>
              <a:spcAft>
                <a:spcPts val="1100"/>
              </a:spcAft>
              <a:buNone/>
            </a:pPr>
            <a:r>
              <a:rPr lang="en-US" sz="1100" dirty="0">
                <a:solidFill>
                  <a:srgbClr val="E0E0E0"/>
                </a:solidFill>
                <a:latin typeface="Arial" pitchFamily="34" charset="0"/>
                <a:ea typeface="Arial" pitchFamily="34" charset="-122"/>
                <a:cs typeface="Arial" pitchFamily="34" charset="-120"/>
              </a:rPr>
              <a:t> — hands-on 5 min activity</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50A1E"/>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D4FF"/>
          </a:solidFill>
          <a:ln/>
        </p:spPr>
        <p:txBody>
          <a:bodyPr wrap="square" rtlCol="0" anchor="ctr"/>
          <a:lstStyle/>
          <a:p>
            <a:pPr indent="0" marL="0">
              <a:buNone/>
            </a:pPr>
            <a:endParaRPr lang="en-US" dirty="0"/>
          </a:p>
        </p:txBody>
      </p:sp>
      <p:sp>
        <p:nvSpPr>
          <p:cNvPr id="3" name="Text 1"/>
          <p:cNvSpPr/>
          <p:nvPr/>
        </p:nvSpPr>
        <p:spPr>
          <a:xfrm>
            <a:off x="0" y="0"/>
            <a:ext cx="3955852" cy="5143500"/>
          </a:xfrm>
          <a:prstGeom prst="rect">
            <a:avLst/>
          </a:prstGeom>
          <a:solidFill>
            <a:srgbClr val="00D4FF">
              <a:alpha val="6000"/>
            </a:srgbClr>
          </a:solidFill>
          <a:ln/>
        </p:spPr>
        <p:txBody>
          <a:bodyPr wrap="square" rtlCol="0" anchor="ctr"/>
          <a:lstStyle/>
          <a:p>
            <a:pPr indent="0" marL="0">
              <a:buNone/>
            </a:pPr>
            <a:endParaRPr lang="en-US" dirty="0"/>
          </a:p>
        </p:txBody>
      </p:sp>
      <p:sp>
        <p:nvSpPr>
          <p:cNvPr id="4" name="Shape 2"/>
          <p:cNvSpPr/>
          <p:nvPr/>
        </p:nvSpPr>
        <p:spPr>
          <a:xfrm>
            <a:off x="3946327" y="0"/>
            <a:ext cx="0" cy="5143500"/>
          </a:xfrm>
          <a:prstGeom prst="line">
            <a:avLst/>
          </a:prstGeom>
          <a:noFill/>
          <a:ln w="19050">
            <a:solidFill>
              <a:srgbClr val="00D4FF"/>
            </a:solidFill>
            <a:prstDash val="solid"/>
          </a:ln>
        </p:spPr>
      </p:sp>
      <p:sp>
        <p:nvSpPr>
          <p:cNvPr id="5" name="Text 3"/>
          <p:cNvSpPr/>
          <p:nvPr/>
        </p:nvSpPr>
        <p:spPr>
          <a:xfrm>
            <a:off x="317450" y="1075134"/>
            <a:ext cx="3367939" cy="142875"/>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00D4FF"/>
                </a:solidFill>
                <a:latin typeface="Arial" pitchFamily="34" charset="0"/>
                <a:ea typeface="Arial" pitchFamily="34" charset="-122"/>
                <a:cs typeface="Arial" pitchFamily="34" charset="-120"/>
              </a:rPr>
              <a:t>PART 2 — MY JOURNEY</a:t>
            </a:r>
            <a:endParaRPr lang="en-US" sz="1000" dirty="0"/>
          </a:p>
        </p:txBody>
      </p:sp>
      <p:sp>
        <p:nvSpPr>
          <p:cNvPr id="6" name="Text 4"/>
          <p:cNvSpPr/>
          <p:nvPr/>
        </p:nvSpPr>
        <p:spPr>
          <a:xfrm>
            <a:off x="317450" y="1344960"/>
            <a:ext cx="946100" cy="946100"/>
          </a:xfrm>
          <a:prstGeom prst="roundRect">
            <a:avLst>
              <a:gd name="adj" fmla="val 96649"/>
            </a:avLst>
          </a:prstGeom>
          <a:solidFill>
            <a:srgbClr val="00D4FF">
              <a:alpha val="15000"/>
            </a:srgbClr>
          </a:solidFill>
          <a:ln w="28575">
            <a:solidFill>
              <a:srgbClr val="00D4FF"/>
            </a:solidFill>
          </a:ln>
        </p:spPr>
        <p:txBody>
          <a:bodyPr wrap="square" rtlCol="0" anchor="ctr"/>
          <a:lstStyle/>
          <a:p>
            <a:pPr indent="0" marL="0">
              <a:buNone/>
            </a:pPr>
            <a:endParaRPr lang="en-US" dirty="0"/>
          </a:p>
        </p:txBody>
      </p:sp>
      <p:sp>
        <p:nvSpPr>
          <p:cNvPr id="7" name="Text 5"/>
          <p:cNvSpPr/>
          <p:nvPr/>
        </p:nvSpPr>
        <p:spPr>
          <a:xfrm>
            <a:off x="624780" y="1656011"/>
            <a:ext cx="338069" cy="323850"/>
          </a:xfrm>
          <a:prstGeom prst="rect">
            <a:avLst/>
          </a:prstGeom>
          <a:noFill/>
          <a:ln/>
        </p:spPr>
        <p:txBody>
          <a:bodyPr wrap="square" lIns="0" tIns="0" rIns="0" bIns="0" rtlCol="0" anchor="t"/>
          <a:lstStyle/>
          <a:p>
            <a:pPr algn="l" indent="0" marL="0">
              <a:spcBef>
                <a:spcPts val="2200"/>
              </a:spcBef>
              <a:spcAft>
                <a:spcPts val="2200"/>
              </a:spcAft>
              <a:buNone/>
            </a:pPr>
            <a:r>
              <a:rPr lang="en-US" sz="2200" b="1" dirty="0">
                <a:solidFill>
                  <a:srgbClr val="00D4FF"/>
                </a:solidFill>
                <a:latin typeface="Arial" pitchFamily="34" charset="0"/>
                <a:ea typeface="Arial" pitchFamily="34" charset="-122"/>
                <a:cs typeface="Arial" pitchFamily="34" charset="-120"/>
              </a:rPr>
              <a:t>LY</a:t>
            </a:r>
            <a:endParaRPr lang="en-US" sz="2200" dirty="0"/>
          </a:p>
        </p:txBody>
      </p:sp>
      <p:sp>
        <p:nvSpPr>
          <p:cNvPr id="8" name="Text 6"/>
          <p:cNvSpPr/>
          <p:nvPr/>
        </p:nvSpPr>
        <p:spPr>
          <a:xfrm>
            <a:off x="317450" y="2468761"/>
            <a:ext cx="3367939" cy="266700"/>
          </a:xfrm>
          <a:prstGeom prst="rect">
            <a:avLst/>
          </a:prstGeom>
          <a:noFill/>
          <a:ln/>
        </p:spPr>
        <p:txBody>
          <a:bodyPr wrap="square" lIns="0" tIns="0" rIns="0" bIns="0" rtlCol="0" anchor="t"/>
          <a:lstStyle/>
          <a:p>
            <a:pPr algn="l" indent="0" marL="0">
              <a:spcAft>
                <a:spcPts val="400"/>
              </a:spcAft>
              <a:buNone/>
            </a:pPr>
            <a:r>
              <a:rPr lang="en-US" sz="1800" b="1" dirty="0">
                <a:solidFill>
                  <a:srgbClr val="FFFFFF"/>
                </a:solidFill>
                <a:latin typeface="Arial" pitchFamily="34" charset="0"/>
                <a:ea typeface="Arial" pitchFamily="34" charset="-122"/>
                <a:cs typeface="Arial" pitchFamily="34" charset="-120"/>
              </a:rPr>
              <a:t>Dr. Lun-Hsiang Yuan</a:t>
            </a:r>
            <a:endParaRPr lang="en-US" sz="1800" dirty="0"/>
          </a:p>
        </p:txBody>
      </p:sp>
      <p:sp>
        <p:nvSpPr>
          <p:cNvPr id="9" name="Text 7"/>
          <p:cNvSpPr/>
          <p:nvPr/>
        </p:nvSpPr>
        <p:spPr>
          <a:xfrm>
            <a:off x="317450" y="2786211"/>
            <a:ext cx="3367939" cy="380702"/>
          </a:xfrm>
          <a:prstGeom prst="rect">
            <a:avLst/>
          </a:prstGeom>
          <a:noFill/>
          <a:ln/>
        </p:spPr>
        <p:txBody>
          <a:bodyPr wrap="square" lIns="0" tIns="0" rIns="0" bIns="0" rtlCol="0" anchor="t"/>
          <a:lstStyle/>
          <a:p>
            <a:pPr algn="l" indent="0" marL="0">
              <a:lnSpc>
                <a:spcPts val="1500"/>
              </a:lnSpc>
              <a:spcAft>
                <a:spcPts val="1200"/>
              </a:spcAft>
              <a:buNone/>
            </a:pPr>
            <a:r>
              <a:rPr lang="en-US" sz="1000" dirty="0">
                <a:solidFill>
                  <a:srgbClr val="9B59B6"/>
                </a:solidFill>
                <a:latin typeface="Arial" pitchFamily="34" charset="0"/>
                <a:ea typeface="Arial" pitchFamily="34" charset="-122"/>
                <a:cs typeface="Arial" pitchFamily="34" charset="-120"/>
              </a:rPr>
              <a:t>MD · PhD · Robotic Surgeon</a:t>
            </a:r>
            <a:endParaRPr lang="en-US" sz="1000" dirty="0"/>
          </a:p>
          <a:p>
            <a:pPr algn="l" indent="0" marL="0">
              <a:lnSpc>
                <a:spcPts val="1500"/>
              </a:lnSpc>
              <a:spcAft>
                <a:spcPts val="1200"/>
              </a:spcAft>
              <a:buNone/>
            </a:pPr>
            <a:r>
              <a:rPr lang="en-US" sz="1000" dirty="0">
                <a:solidFill>
                  <a:srgbClr val="9B59B6"/>
                </a:solidFill>
                <a:latin typeface="Arial" pitchFamily="34" charset="0"/>
                <a:ea typeface="Arial" pitchFamily="34" charset="-122"/>
                <a:cs typeface="Arial" pitchFamily="34" charset="-120"/>
              </a:rPr>
              <a:t>Assistant Professor, NYCU/NTUH</a:t>
            </a:r>
            <a:endParaRPr lang="en-US" sz="1000" dirty="0"/>
          </a:p>
        </p:txBody>
      </p:sp>
      <p:sp>
        <p:nvSpPr>
          <p:cNvPr id="10" name="Text 8"/>
          <p:cNvSpPr/>
          <p:nvPr/>
        </p:nvSpPr>
        <p:spPr>
          <a:xfrm>
            <a:off x="317450" y="3319314"/>
            <a:ext cx="3301901" cy="228600"/>
          </a:xfrm>
          <a:prstGeom prst="rect">
            <a:avLst/>
          </a:prstGeom>
          <a:solidFill>
            <a:srgbClr val="9B59B6">
              <a:alpha val="20000"/>
            </a:srgbClr>
          </a:solidFill>
          <a:ln w="9525">
            <a:solidFill>
              <a:srgbClr val="9B59B6"/>
            </a:solidFill>
          </a:ln>
        </p:spPr>
        <p:txBody>
          <a:bodyPr wrap="square" rtlCol="0" anchor="ctr"/>
          <a:lstStyle/>
          <a:p>
            <a:pPr indent="0" marL="0">
              <a:buNone/>
            </a:pPr>
            <a:endParaRPr lang="en-US" dirty="0"/>
          </a:p>
        </p:txBody>
      </p:sp>
      <p:sp>
        <p:nvSpPr>
          <p:cNvPr id="11" name="Text 9"/>
          <p:cNvSpPr/>
          <p:nvPr/>
        </p:nvSpPr>
        <p:spPr>
          <a:xfrm>
            <a:off x="428476" y="3366939"/>
            <a:ext cx="3141446" cy="133350"/>
          </a:xfrm>
          <a:prstGeom prst="rect">
            <a:avLst/>
          </a:prstGeom>
          <a:noFill/>
          <a:ln/>
        </p:spPr>
        <p:txBody>
          <a:bodyPr wrap="square" lIns="0" tIns="0" rIns="0" bIns="0" rtlCol="0" anchor="t"/>
          <a:lstStyle/>
          <a:p>
            <a:pPr algn="l" indent="0" marL="0">
              <a:buNone/>
            </a:pPr>
            <a:r>
              <a:rPr lang="en-US" sz="900" dirty="0">
                <a:solidFill>
                  <a:srgbClr val="9B59B6"/>
                </a:solidFill>
                <a:latin typeface="Arial" pitchFamily="34" charset="0"/>
                <a:ea typeface="Arial" pitchFamily="34" charset="-122"/>
                <a:cs typeface="Arial" pitchFamily="34" charset="-120"/>
              </a:rPr>
              <a:t>NTUH Yunlin Branch</a:t>
            </a:r>
            <a:endParaRPr lang="en-US" sz="900" dirty="0"/>
          </a:p>
        </p:txBody>
      </p:sp>
      <p:sp>
        <p:nvSpPr>
          <p:cNvPr id="12" name="Text 10"/>
          <p:cNvSpPr/>
          <p:nvPr/>
        </p:nvSpPr>
        <p:spPr>
          <a:xfrm>
            <a:off x="317450" y="3611314"/>
            <a:ext cx="3301901" cy="228600"/>
          </a:xfrm>
          <a:prstGeom prst="rect">
            <a:avLst/>
          </a:prstGeom>
          <a:solidFill>
            <a:srgbClr val="9B59B6">
              <a:alpha val="20000"/>
            </a:srgbClr>
          </a:solidFill>
          <a:ln w="9525">
            <a:solidFill>
              <a:srgbClr val="9B59B6"/>
            </a:solidFill>
          </a:ln>
        </p:spPr>
        <p:txBody>
          <a:bodyPr wrap="square" rtlCol="0" anchor="ctr"/>
          <a:lstStyle/>
          <a:p>
            <a:pPr indent="0" marL="0">
              <a:buNone/>
            </a:pPr>
            <a:endParaRPr lang="en-US" dirty="0"/>
          </a:p>
        </p:txBody>
      </p:sp>
      <p:sp>
        <p:nvSpPr>
          <p:cNvPr id="13" name="Text 11"/>
          <p:cNvSpPr/>
          <p:nvPr/>
        </p:nvSpPr>
        <p:spPr>
          <a:xfrm>
            <a:off x="428476" y="3658939"/>
            <a:ext cx="3141446" cy="133350"/>
          </a:xfrm>
          <a:prstGeom prst="rect">
            <a:avLst/>
          </a:prstGeom>
          <a:noFill/>
          <a:ln/>
        </p:spPr>
        <p:txBody>
          <a:bodyPr wrap="square" lIns="0" tIns="0" rIns="0" bIns="0" rtlCol="0" anchor="t"/>
          <a:lstStyle/>
          <a:p>
            <a:pPr algn="l" indent="0" marL="0">
              <a:buNone/>
            </a:pPr>
            <a:r>
              <a:rPr lang="en-US" sz="900" dirty="0">
                <a:solidFill>
                  <a:srgbClr val="9B59B6"/>
                </a:solidFill>
                <a:latin typeface="Arial" pitchFamily="34" charset="0"/>
                <a:ea typeface="Arial" pitchFamily="34" charset="-122"/>
                <a:cs typeface="Arial" pitchFamily="34" charset="-120"/>
              </a:rPr>
              <a:t>Urologic Oncology</a:t>
            </a:r>
            <a:endParaRPr lang="en-US" sz="900" dirty="0"/>
          </a:p>
        </p:txBody>
      </p:sp>
      <p:sp>
        <p:nvSpPr>
          <p:cNvPr id="14" name="Text 12"/>
          <p:cNvSpPr/>
          <p:nvPr/>
        </p:nvSpPr>
        <p:spPr>
          <a:xfrm>
            <a:off x="317450" y="3903315"/>
            <a:ext cx="3301901" cy="228600"/>
          </a:xfrm>
          <a:prstGeom prst="rect">
            <a:avLst/>
          </a:prstGeom>
          <a:solidFill>
            <a:srgbClr val="9B59B6">
              <a:alpha val="20000"/>
            </a:srgbClr>
          </a:solidFill>
          <a:ln w="9525">
            <a:solidFill>
              <a:srgbClr val="9B59B6"/>
            </a:solidFill>
          </a:ln>
        </p:spPr>
        <p:txBody>
          <a:bodyPr wrap="square" rtlCol="0" anchor="ctr"/>
          <a:lstStyle/>
          <a:p>
            <a:pPr indent="0" marL="0">
              <a:buNone/>
            </a:pPr>
            <a:endParaRPr lang="en-US" dirty="0"/>
          </a:p>
        </p:txBody>
      </p:sp>
      <p:sp>
        <p:nvSpPr>
          <p:cNvPr id="15" name="Text 13"/>
          <p:cNvSpPr/>
          <p:nvPr/>
        </p:nvSpPr>
        <p:spPr>
          <a:xfrm>
            <a:off x="428476" y="3950940"/>
            <a:ext cx="3141446" cy="133350"/>
          </a:xfrm>
          <a:prstGeom prst="rect">
            <a:avLst/>
          </a:prstGeom>
          <a:noFill/>
          <a:ln/>
        </p:spPr>
        <p:txBody>
          <a:bodyPr wrap="square" lIns="0" tIns="0" rIns="0" bIns="0" rtlCol="0" anchor="t"/>
          <a:lstStyle/>
          <a:p>
            <a:pPr algn="l" indent="0" marL="0">
              <a:buNone/>
            </a:pPr>
            <a:r>
              <a:rPr lang="en-US" sz="900" dirty="0">
                <a:solidFill>
                  <a:srgbClr val="9B59B6"/>
                </a:solidFill>
                <a:latin typeface="Arial" pitchFamily="34" charset="0"/>
                <a:ea typeface="Arial" pitchFamily="34" charset="-122"/>
                <a:cs typeface="Arial" pitchFamily="34" charset="-120"/>
              </a:rPr>
              <a:t>AI Agent Builder</a:t>
            </a:r>
            <a:endParaRPr lang="en-US" sz="900" dirty="0"/>
          </a:p>
        </p:txBody>
      </p:sp>
      <p:sp>
        <p:nvSpPr>
          <p:cNvPr id="16" name="Text 14"/>
          <p:cNvSpPr/>
          <p:nvPr/>
        </p:nvSpPr>
        <p:spPr>
          <a:xfrm>
            <a:off x="4336852" y="386804"/>
            <a:ext cx="4514671" cy="647700"/>
          </a:xfrm>
          <a:prstGeom prst="rect">
            <a:avLst/>
          </a:prstGeom>
          <a:noFill/>
          <a:ln/>
        </p:spPr>
        <p:txBody>
          <a:bodyPr wrap="square" lIns="0" tIns="0" rIns="0" bIns="0" rtlCol="0" anchor="t"/>
          <a:lstStyle/>
          <a:p>
            <a:pPr algn="l" indent="0" marL="0">
              <a:spcAft>
                <a:spcPts val="2000"/>
              </a:spcAft>
              <a:buNone/>
            </a:pPr>
            <a:r>
              <a:rPr lang="en-US" sz="2200" dirty="0">
                <a:solidFill>
                  <a:srgbClr val="FFFFFF"/>
                </a:solidFill>
                <a:latin typeface="Arial" pitchFamily="34" charset="0"/>
                <a:ea typeface="Arial" pitchFamily="34" charset="-122"/>
                <a:cs typeface="Arial" pitchFamily="34" charset="-120"/>
              </a:rPr>
              <a:t>Clinician → </a:t>
            </a:r>
            <a:pPr algn="l" indent="0" marL="0">
              <a:spcAft>
                <a:spcPts val="2000"/>
              </a:spcAft>
              <a:buNone/>
            </a:pPr>
            <a:r>
              <a:rPr lang="en-US" sz="2200" b="1" dirty="0">
                <a:solidFill>
                  <a:srgbClr val="00D4FF"/>
                </a:solidFill>
                <a:latin typeface="Arial" pitchFamily="34" charset="0"/>
                <a:ea typeface="Arial" pitchFamily="34" charset="-122"/>
                <a:cs typeface="Arial" pitchFamily="34" charset="-120"/>
              </a:rPr>
              <a:t>Researcher → Builder</a:t>
            </a:r>
            <a:endParaRPr lang="en-US" sz="2200" dirty="0"/>
          </a:p>
        </p:txBody>
      </p:sp>
      <p:sp>
        <p:nvSpPr>
          <p:cNvPr id="17" name="Text 15"/>
          <p:cNvSpPr/>
          <p:nvPr/>
        </p:nvSpPr>
        <p:spPr>
          <a:xfrm>
            <a:off x="4336852" y="1428006"/>
            <a:ext cx="712419" cy="152400"/>
          </a:xfrm>
          <a:prstGeom prst="rect">
            <a:avLst/>
          </a:prstGeom>
          <a:noFill/>
          <a:ln/>
        </p:spPr>
        <p:txBody>
          <a:bodyPr wrap="square" lIns="0" tIns="0" rIns="0" bIns="0" rtlCol="0" anchor="t"/>
          <a:lstStyle/>
          <a:p>
            <a:pPr algn="l" indent="0" marL="0">
              <a:spcBef>
                <a:spcPts val="1100"/>
              </a:spcBef>
              <a:spcAft>
                <a:spcPts val="1100"/>
              </a:spcAft>
              <a:buNone/>
            </a:pPr>
            <a:r>
              <a:rPr lang="en-US" sz="1100" b="1" dirty="0">
                <a:solidFill>
                  <a:srgbClr val="F1C40F"/>
                </a:solidFill>
                <a:latin typeface="Arial" pitchFamily="34" charset="0"/>
                <a:ea typeface="Arial" pitchFamily="34" charset="-122"/>
                <a:cs typeface="Arial" pitchFamily="34" charset="-120"/>
              </a:rPr>
              <a:t>NYCU</a:t>
            </a:r>
            <a:endParaRPr lang="en-US" sz="1100" dirty="0"/>
          </a:p>
        </p:txBody>
      </p:sp>
      <p:sp>
        <p:nvSpPr>
          <p:cNvPr id="18" name="Text 16"/>
          <p:cNvSpPr/>
          <p:nvPr/>
        </p:nvSpPr>
        <p:spPr>
          <a:xfrm>
            <a:off x="5035302" y="1326505"/>
            <a:ext cx="101501" cy="101501"/>
          </a:xfrm>
          <a:prstGeom prst="roundRect">
            <a:avLst>
              <a:gd name="adj" fmla="val 900878"/>
            </a:avLst>
          </a:prstGeom>
          <a:solidFill>
            <a:srgbClr val="00D4FF"/>
          </a:solidFill>
          <a:ln/>
        </p:spPr>
        <p:txBody>
          <a:bodyPr wrap="square" rtlCol="0" anchor="ctr"/>
          <a:lstStyle/>
          <a:p>
            <a:pPr indent="0" marL="0">
              <a:buNone/>
            </a:pPr>
            <a:endParaRPr lang="en-US" dirty="0"/>
          </a:p>
        </p:txBody>
      </p:sp>
      <p:sp>
        <p:nvSpPr>
          <p:cNvPr id="19" name="Text 17"/>
          <p:cNvSpPr/>
          <p:nvPr/>
        </p:nvSpPr>
        <p:spPr>
          <a:xfrm>
            <a:off x="5263753" y="1428006"/>
            <a:ext cx="3569232" cy="391120"/>
          </a:xfrm>
          <a:prstGeom prst="rect">
            <a:avLst/>
          </a:prstGeom>
          <a:noFill/>
          <a:ln/>
        </p:spPr>
        <p:txBody>
          <a:bodyPr wrap="square" lIns="0" tIns="0" rIns="0" bIns="0" rtlCol="0" anchor="t"/>
          <a:lstStyle/>
          <a:p>
            <a:pPr algn="l" indent="0" marL="0">
              <a:lnSpc>
                <a:spcPts val="1540"/>
              </a:lnSpc>
              <a:spcBef>
                <a:spcPts val="1100"/>
              </a:spcBef>
              <a:spcAft>
                <a:spcPts val="1100"/>
              </a:spcAft>
              <a:buNone/>
            </a:pPr>
            <a:r>
              <a:rPr lang="en-US" sz="1100" dirty="0">
                <a:solidFill>
                  <a:srgbClr val="E0E0E0"/>
                </a:solidFill>
                <a:latin typeface="Arial" pitchFamily="34" charset="0"/>
                <a:ea typeface="Arial" pitchFamily="34" charset="-122"/>
                <a:cs typeface="Arial" pitchFamily="34" charset="-120"/>
              </a:rPr>
              <a:t>MD — National Yang Ming Chiao Tung University School of Medicine</a:t>
            </a:r>
            <a:endParaRPr lang="en-US" sz="1100" dirty="0"/>
          </a:p>
        </p:txBody>
      </p:sp>
      <p:sp>
        <p:nvSpPr>
          <p:cNvPr id="20" name="Text 18"/>
          <p:cNvSpPr/>
          <p:nvPr/>
        </p:nvSpPr>
        <p:spPr>
          <a:xfrm>
            <a:off x="4336852" y="2225278"/>
            <a:ext cx="712419" cy="152400"/>
          </a:xfrm>
          <a:prstGeom prst="rect">
            <a:avLst/>
          </a:prstGeom>
          <a:noFill/>
          <a:ln/>
        </p:spPr>
        <p:txBody>
          <a:bodyPr wrap="square" lIns="0" tIns="0" rIns="0" bIns="0" rtlCol="0" anchor="t"/>
          <a:lstStyle/>
          <a:p>
            <a:pPr algn="l" indent="0" marL="0">
              <a:spcBef>
                <a:spcPts val="1100"/>
              </a:spcBef>
              <a:spcAft>
                <a:spcPts val="1100"/>
              </a:spcAft>
              <a:buNone/>
            </a:pPr>
            <a:r>
              <a:rPr lang="en-US" sz="1100" b="1" dirty="0">
                <a:solidFill>
                  <a:srgbClr val="F1C40F"/>
                </a:solidFill>
                <a:latin typeface="Arial" pitchFamily="34" charset="0"/>
                <a:ea typeface="Arial" pitchFamily="34" charset="-122"/>
                <a:cs typeface="Arial" pitchFamily="34" charset="-120"/>
              </a:rPr>
              <a:t>2015–</a:t>
            </a:r>
            <a:endParaRPr lang="en-US" sz="1100" dirty="0"/>
          </a:p>
        </p:txBody>
      </p:sp>
      <p:sp>
        <p:nvSpPr>
          <p:cNvPr id="21" name="Text 19"/>
          <p:cNvSpPr/>
          <p:nvPr/>
        </p:nvSpPr>
        <p:spPr>
          <a:xfrm>
            <a:off x="5035302" y="2123777"/>
            <a:ext cx="101501" cy="101501"/>
          </a:xfrm>
          <a:prstGeom prst="roundRect">
            <a:avLst>
              <a:gd name="adj" fmla="val 900878"/>
            </a:avLst>
          </a:prstGeom>
          <a:solidFill>
            <a:srgbClr val="00D4FF"/>
          </a:solidFill>
          <a:ln/>
        </p:spPr>
        <p:txBody>
          <a:bodyPr wrap="square" rtlCol="0" anchor="ctr"/>
          <a:lstStyle/>
          <a:p>
            <a:pPr indent="0" marL="0">
              <a:buNone/>
            </a:pPr>
            <a:endParaRPr lang="en-US" dirty="0"/>
          </a:p>
        </p:txBody>
      </p:sp>
      <p:sp>
        <p:nvSpPr>
          <p:cNvPr id="22" name="Text 20"/>
          <p:cNvSpPr/>
          <p:nvPr/>
        </p:nvSpPr>
        <p:spPr>
          <a:xfrm>
            <a:off x="5263753" y="2225278"/>
            <a:ext cx="3569232" cy="391120"/>
          </a:xfrm>
          <a:prstGeom prst="rect">
            <a:avLst/>
          </a:prstGeom>
          <a:noFill/>
          <a:ln/>
        </p:spPr>
        <p:txBody>
          <a:bodyPr wrap="square" lIns="0" tIns="0" rIns="0" bIns="0" rtlCol="0" anchor="t"/>
          <a:lstStyle/>
          <a:p>
            <a:pPr algn="l" indent="0" marL="0">
              <a:lnSpc>
                <a:spcPts val="1540"/>
              </a:lnSpc>
              <a:spcBef>
                <a:spcPts val="1100"/>
              </a:spcBef>
              <a:spcAft>
                <a:spcPts val="1100"/>
              </a:spcAft>
              <a:buNone/>
            </a:pPr>
            <a:r>
              <a:rPr lang="en-US" sz="1100" dirty="0">
                <a:solidFill>
                  <a:srgbClr val="E0E0E0"/>
                </a:solidFill>
                <a:latin typeface="Arial" pitchFamily="34" charset="0"/>
                <a:ea typeface="Arial" pitchFamily="34" charset="-122"/>
                <a:cs typeface="Arial" pitchFamily="34" charset="-120"/>
              </a:rPr>
              <a:t>Urologic surgeon: TVGH, KVGH, E-Da Cancer Hospital, NTUH Yunlin</a:t>
            </a:r>
            <a:endParaRPr lang="en-US" sz="1100" dirty="0"/>
          </a:p>
        </p:txBody>
      </p:sp>
      <p:sp>
        <p:nvSpPr>
          <p:cNvPr id="23" name="Text 21"/>
          <p:cNvSpPr/>
          <p:nvPr/>
        </p:nvSpPr>
        <p:spPr>
          <a:xfrm>
            <a:off x="4336852" y="3022550"/>
            <a:ext cx="712419" cy="152400"/>
          </a:xfrm>
          <a:prstGeom prst="rect">
            <a:avLst/>
          </a:prstGeom>
          <a:noFill/>
          <a:ln/>
        </p:spPr>
        <p:txBody>
          <a:bodyPr wrap="square" lIns="0" tIns="0" rIns="0" bIns="0" rtlCol="0" anchor="t"/>
          <a:lstStyle/>
          <a:p>
            <a:pPr algn="l" indent="0" marL="0">
              <a:spcBef>
                <a:spcPts val="1100"/>
              </a:spcBef>
              <a:spcAft>
                <a:spcPts val="1100"/>
              </a:spcAft>
              <a:buNone/>
            </a:pPr>
            <a:r>
              <a:rPr lang="en-US" sz="1100" b="1" dirty="0">
                <a:solidFill>
                  <a:srgbClr val="F1C40F"/>
                </a:solidFill>
                <a:latin typeface="Arial" pitchFamily="34" charset="0"/>
                <a:ea typeface="Arial" pitchFamily="34" charset="-122"/>
                <a:cs typeface="Arial" pitchFamily="34" charset="-120"/>
              </a:rPr>
              <a:t>Seoul</a:t>
            </a:r>
            <a:endParaRPr lang="en-US" sz="1100" dirty="0"/>
          </a:p>
        </p:txBody>
      </p:sp>
      <p:sp>
        <p:nvSpPr>
          <p:cNvPr id="24" name="Text 22"/>
          <p:cNvSpPr/>
          <p:nvPr/>
        </p:nvSpPr>
        <p:spPr>
          <a:xfrm>
            <a:off x="5035302" y="2921050"/>
            <a:ext cx="101501" cy="101501"/>
          </a:xfrm>
          <a:prstGeom prst="roundRect">
            <a:avLst>
              <a:gd name="adj" fmla="val 900878"/>
            </a:avLst>
          </a:prstGeom>
          <a:solidFill>
            <a:srgbClr val="00D4FF"/>
          </a:solidFill>
          <a:ln/>
        </p:spPr>
        <p:txBody>
          <a:bodyPr wrap="square" rtlCol="0" anchor="ctr"/>
          <a:lstStyle/>
          <a:p>
            <a:pPr indent="0" marL="0">
              <a:buNone/>
            </a:pPr>
            <a:endParaRPr lang="en-US" dirty="0"/>
          </a:p>
        </p:txBody>
      </p:sp>
      <p:sp>
        <p:nvSpPr>
          <p:cNvPr id="25" name="Text 23"/>
          <p:cNvSpPr/>
          <p:nvPr/>
        </p:nvSpPr>
        <p:spPr>
          <a:xfrm>
            <a:off x="5263753" y="3022550"/>
            <a:ext cx="3459477" cy="195560"/>
          </a:xfrm>
          <a:prstGeom prst="rect">
            <a:avLst/>
          </a:prstGeom>
          <a:noFill/>
          <a:ln/>
        </p:spPr>
        <p:txBody>
          <a:bodyPr wrap="square" lIns="0" tIns="0" rIns="0" bIns="0" rtlCol="0" anchor="t"/>
          <a:lstStyle/>
          <a:p>
            <a:pPr algn="l" indent="0" marL="0">
              <a:lnSpc>
                <a:spcPts val="1540"/>
              </a:lnSpc>
              <a:spcBef>
                <a:spcPts val="1100"/>
              </a:spcBef>
              <a:spcAft>
                <a:spcPts val="1100"/>
              </a:spcAft>
              <a:buNone/>
            </a:pPr>
            <a:r>
              <a:rPr lang="en-US" sz="1100" dirty="0">
                <a:solidFill>
                  <a:srgbClr val="E0E0E0"/>
                </a:solidFill>
                <a:latin typeface="Arial" pitchFamily="34" charset="0"/>
                <a:ea typeface="Arial" pitchFamily="34" charset="-122"/>
                <a:cs typeface="Arial" pitchFamily="34" charset="-120"/>
              </a:rPr>
              <a:t>Yonsei University — da Vinci robotic surgery fellowship</a:t>
            </a:r>
            <a:endParaRPr lang="en-US" sz="1100" dirty="0"/>
          </a:p>
        </p:txBody>
      </p:sp>
      <p:sp>
        <p:nvSpPr>
          <p:cNvPr id="26" name="Text 24"/>
          <p:cNvSpPr/>
          <p:nvPr/>
        </p:nvSpPr>
        <p:spPr>
          <a:xfrm>
            <a:off x="4336852" y="3624263"/>
            <a:ext cx="712419" cy="152400"/>
          </a:xfrm>
          <a:prstGeom prst="rect">
            <a:avLst/>
          </a:prstGeom>
          <a:noFill/>
          <a:ln/>
        </p:spPr>
        <p:txBody>
          <a:bodyPr wrap="square" lIns="0" tIns="0" rIns="0" bIns="0" rtlCol="0" anchor="t"/>
          <a:lstStyle/>
          <a:p>
            <a:pPr algn="l" indent="0" marL="0">
              <a:spcBef>
                <a:spcPts val="1100"/>
              </a:spcBef>
              <a:spcAft>
                <a:spcPts val="1100"/>
              </a:spcAft>
              <a:buNone/>
            </a:pPr>
            <a:r>
              <a:rPr lang="en-US" sz="1100" b="1" dirty="0">
                <a:solidFill>
                  <a:srgbClr val="F1C40F"/>
                </a:solidFill>
                <a:latin typeface="Arial" pitchFamily="34" charset="0"/>
                <a:ea typeface="Arial" pitchFamily="34" charset="-122"/>
                <a:cs typeface="Arial" pitchFamily="34" charset="-120"/>
              </a:rPr>
              <a:t>NCKU</a:t>
            </a:r>
            <a:endParaRPr lang="en-US" sz="1100" dirty="0"/>
          </a:p>
        </p:txBody>
      </p:sp>
      <p:sp>
        <p:nvSpPr>
          <p:cNvPr id="27" name="Text 25"/>
          <p:cNvSpPr/>
          <p:nvPr/>
        </p:nvSpPr>
        <p:spPr>
          <a:xfrm>
            <a:off x="5035302" y="3522762"/>
            <a:ext cx="101501" cy="101501"/>
          </a:xfrm>
          <a:prstGeom prst="roundRect">
            <a:avLst>
              <a:gd name="adj" fmla="val 900878"/>
            </a:avLst>
          </a:prstGeom>
          <a:solidFill>
            <a:srgbClr val="00D4FF"/>
          </a:solidFill>
          <a:ln/>
        </p:spPr>
        <p:txBody>
          <a:bodyPr wrap="square" rtlCol="0" anchor="ctr"/>
          <a:lstStyle/>
          <a:p>
            <a:pPr indent="0" marL="0">
              <a:buNone/>
            </a:pPr>
            <a:endParaRPr lang="en-US" dirty="0"/>
          </a:p>
        </p:txBody>
      </p:sp>
      <p:sp>
        <p:nvSpPr>
          <p:cNvPr id="28" name="Text 26"/>
          <p:cNvSpPr/>
          <p:nvPr/>
        </p:nvSpPr>
        <p:spPr>
          <a:xfrm>
            <a:off x="5263753" y="3624263"/>
            <a:ext cx="3032299" cy="195560"/>
          </a:xfrm>
          <a:prstGeom prst="rect">
            <a:avLst/>
          </a:prstGeom>
          <a:noFill/>
          <a:ln/>
        </p:spPr>
        <p:txBody>
          <a:bodyPr wrap="square" lIns="0" tIns="0" rIns="0" bIns="0" rtlCol="0" anchor="t"/>
          <a:lstStyle/>
          <a:p>
            <a:pPr algn="l" indent="0" marL="0">
              <a:lnSpc>
                <a:spcPts val="1540"/>
              </a:lnSpc>
              <a:spcBef>
                <a:spcPts val="1100"/>
              </a:spcBef>
              <a:spcAft>
                <a:spcPts val="1100"/>
              </a:spcAft>
              <a:buNone/>
            </a:pPr>
            <a:r>
              <a:rPr lang="en-US" sz="1100" dirty="0">
                <a:solidFill>
                  <a:srgbClr val="E0E0E0"/>
                </a:solidFill>
                <a:latin typeface="Arial" pitchFamily="34" charset="0"/>
                <a:ea typeface="Arial" pitchFamily="34" charset="-122"/>
                <a:cs typeface="Arial" pitchFamily="34" charset="-120"/>
              </a:rPr>
              <a:t>PhD — AI/LLM applications in urologic oncology</a:t>
            </a:r>
            <a:endParaRPr lang="en-US" sz="1100" dirty="0"/>
          </a:p>
        </p:txBody>
      </p:sp>
      <p:sp>
        <p:nvSpPr>
          <p:cNvPr id="29" name="Text 27"/>
          <p:cNvSpPr/>
          <p:nvPr/>
        </p:nvSpPr>
        <p:spPr>
          <a:xfrm>
            <a:off x="4336852" y="4225975"/>
            <a:ext cx="712419" cy="152400"/>
          </a:xfrm>
          <a:prstGeom prst="rect">
            <a:avLst/>
          </a:prstGeom>
          <a:noFill/>
          <a:ln/>
        </p:spPr>
        <p:txBody>
          <a:bodyPr wrap="square" lIns="0" tIns="0" rIns="0" bIns="0" rtlCol="0" anchor="t"/>
          <a:lstStyle/>
          <a:p>
            <a:pPr algn="l" indent="0" marL="0">
              <a:spcBef>
                <a:spcPts val="1100"/>
              </a:spcBef>
              <a:spcAft>
                <a:spcPts val="1100"/>
              </a:spcAft>
              <a:buNone/>
            </a:pPr>
            <a:r>
              <a:rPr lang="en-US" sz="1100" b="1" dirty="0">
                <a:solidFill>
                  <a:srgbClr val="F1C40F"/>
                </a:solidFill>
                <a:latin typeface="Arial" pitchFamily="34" charset="0"/>
                <a:ea typeface="Arial" pitchFamily="34" charset="-122"/>
                <a:cs typeface="Arial" pitchFamily="34" charset="-120"/>
              </a:rPr>
              <a:t>2024–</a:t>
            </a:r>
            <a:endParaRPr lang="en-US" sz="1100" dirty="0"/>
          </a:p>
        </p:txBody>
      </p:sp>
      <p:sp>
        <p:nvSpPr>
          <p:cNvPr id="30" name="Text 28"/>
          <p:cNvSpPr/>
          <p:nvPr/>
        </p:nvSpPr>
        <p:spPr>
          <a:xfrm>
            <a:off x="5035302" y="4124474"/>
            <a:ext cx="101501" cy="101501"/>
          </a:xfrm>
          <a:prstGeom prst="roundRect">
            <a:avLst>
              <a:gd name="adj" fmla="val 900878"/>
            </a:avLst>
          </a:prstGeom>
          <a:solidFill>
            <a:srgbClr val="00D4FF"/>
          </a:solidFill>
          <a:ln/>
        </p:spPr>
        <p:txBody>
          <a:bodyPr wrap="square" rtlCol="0" anchor="ctr"/>
          <a:lstStyle/>
          <a:p>
            <a:pPr indent="0" marL="0">
              <a:buNone/>
            </a:pPr>
            <a:endParaRPr lang="en-US" dirty="0"/>
          </a:p>
        </p:txBody>
      </p:sp>
      <p:sp>
        <p:nvSpPr>
          <p:cNvPr id="31" name="Text 29"/>
          <p:cNvSpPr/>
          <p:nvPr/>
        </p:nvSpPr>
        <p:spPr>
          <a:xfrm>
            <a:off x="5263753" y="4225975"/>
            <a:ext cx="3569232" cy="391120"/>
          </a:xfrm>
          <a:prstGeom prst="rect">
            <a:avLst/>
          </a:prstGeom>
          <a:noFill/>
          <a:ln/>
        </p:spPr>
        <p:txBody>
          <a:bodyPr wrap="square" lIns="0" tIns="0" rIns="0" bIns="0" rtlCol="0" anchor="t"/>
          <a:lstStyle/>
          <a:p>
            <a:pPr algn="l" indent="0" marL="0">
              <a:lnSpc>
                <a:spcPts val="1540"/>
              </a:lnSpc>
              <a:spcBef>
                <a:spcPts val="1100"/>
              </a:spcBef>
              <a:spcAft>
                <a:spcPts val="1100"/>
              </a:spcAft>
              <a:buNone/>
            </a:pPr>
            <a:r>
              <a:rPr lang="en-US" sz="1100" dirty="0">
                <a:solidFill>
                  <a:srgbClr val="E0E0E0"/>
                </a:solidFill>
                <a:latin typeface="Arial" pitchFamily="34" charset="0"/>
                <a:ea typeface="Arial" pitchFamily="34" charset="-122"/>
                <a:cs typeface="Arial" pitchFamily="34" charset="-120"/>
              </a:rPr>
              <a:t>Claude Code adoption → full AI agent ecosystem on Mac Mini</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50A1E"/>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F1C40F"/>
          </a:solidFill>
          <a:ln/>
        </p:spPr>
        <p:txBody>
          <a:bodyPr wrap="square" rtlCol="0" anchor="ctr"/>
          <a:lstStyle/>
          <a:p>
            <a:pPr indent="0" marL="0">
              <a:buNone/>
            </a:pPr>
            <a:endParaRPr lang="en-US" dirty="0"/>
          </a:p>
        </p:txBody>
      </p:sp>
      <p:sp>
        <p:nvSpPr>
          <p:cNvPr id="3" name="Text 1"/>
          <p:cNvSpPr/>
          <p:nvPr/>
        </p:nvSpPr>
        <p:spPr>
          <a:xfrm>
            <a:off x="3391346" y="481161"/>
            <a:ext cx="2408381" cy="142875"/>
          </a:xfrm>
          <a:prstGeom prst="rect">
            <a:avLst/>
          </a:prstGeom>
          <a:noFill/>
          <a:ln/>
        </p:spPr>
        <p:txBody>
          <a:bodyPr wrap="square" lIns="0" tIns="0" rIns="0" bIns="0" rtlCol="0" anchor="t"/>
          <a:lstStyle/>
          <a:p>
            <a:pPr algn="l" indent="0" marL="0">
              <a:spcBef>
                <a:spcPts val="1000"/>
              </a:spcBef>
              <a:spcAft>
                <a:spcPts val="1200"/>
              </a:spcAft>
              <a:buNone/>
            </a:pPr>
            <a:r>
              <a:rPr lang="en-US" sz="1000" dirty="0">
                <a:solidFill>
                  <a:srgbClr val="F1C40F"/>
                </a:solidFill>
                <a:latin typeface="Arial" pitchFamily="34" charset="0"/>
                <a:ea typeface="Arial" pitchFamily="34" charset="-122"/>
                <a:cs typeface="Arial" pitchFamily="34" charset="-120"/>
              </a:rPr>
              <a:t>THE ROBOT REVOLUTION</a:t>
            </a:r>
            <a:endParaRPr lang="en-US" sz="1000" dirty="0"/>
          </a:p>
        </p:txBody>
      </p:sp>
      <p:sp>
        <p:nvSpPr>
          <p:cNvPr id="4" name="Text 2"/>
          <p:cNvSpPr/>
          <p:nvPr/>
        </p:nvSpPr>
        <p:spPr>
          <a:xfrm>
            <a:off x="672441" y="776436"/>
            <a:ext cx="7799118" cy="409575"/>
          </a:xfrm>
          <a:prstGeom prst="rect">
            <a:avLst/>
          </a:prstGeom>
          <a:noFill/>
          <a:ln/>
        </p:spPr>
        <p:txBody>
          <a:bodyPr wrap="square" lIns="0" tIns="0" rIns="0" bIns="0" rtlCol="0" anchor="t"/>
          <a:lstStyle/>
          <a:p>
            <a:pPr algn="ctr" indent="0" marL="0">
              <a:spcAft>
                <a:spcPts val="2400"/>
              </a:spcAft>
              <a:buNone/>
            </a:pPr>
            <a:r>
              <a:rPr lang="en-US" sz="2800" dirty="0">
                <a:solidFill>
                  <a:srgbClr val="FFFFFF"/>
                </a:solidFill>
                <a:latin typeface="Arial" pitchFamily="34" charset="0"/>
                <a:ea typeface="Arial" pitchFamily="34" charset="-122"/>
                <a:cs typeface="Arial" pitchFamily="34" charset="-120"/>
              </a:rPr>
              <a:t>Asia's </a:t>
            </a:r>
            <a:pPr algn="ctr" indent="0" marL="0">
              <a:spcAft>
                <a:spcPts val="2400"/>
              </a:spcAft>
              <a:buNone/>
            </a:pPr>
            <a:r>
              <a:rPr lang="en-US" sz="2800" b="1" dirty="0">
                <a:solidFill>
                  <a:srgbClr val="F1C40F"/>
                </a:solidFill>
                <a:latin typeface="Arial" pitchFamily="34" charset="0"/>
                <a:ea typeface="Arial" pitchFamily="34" charset="-122"/>
                <a:cs typeface="Arial" pitchFamily="34" charset="-120"/>
              </a:rPr>
              <a:t>#1 Volume</a:t>
            </a:r>
            <a:pPr algn="ctr" indent="0" marL="0">
              <a:spcAft>
                <a:spcPts val="2400"/>
              </a:spcAft>
              <a:buNone/>
            </a:pPr>
            <a:r>
              <a:rPr lang="en-US" sz="2800" dirty="0">
                <a:solidFill>
                  <a:srgbClr val="FFFFFF"/>
                </a:solidFill>
                <a:latin typeface="Arial" pitchFamily="34" charset="0"/>
                <a:ea typeface="Arial" pitchFamily="34" charset="-122"/>
                <a:cs typeface="Arial" pitchFamily="34" charset="-120"/>
              </a:rPr>
              <a:t> Senhance Robotic Program</a:t>
            </a:r>
            <a:endParaRPr lang="en-US" sz="2800" dirty="0"/>
          </a:p>
        </p:txBody>
      </p:sp>
      <p:sp>
        <p:nvSpPr>
          <p:cNvPr id="5" name="Text 3"/>
          <p:cNvSpPr/>
          <p:nvPr/>
        </p:nvSpPr>
        <p:spPr>
          <a:xfrm>
            <a:off x="368498" y="1490811"/>
            <a:ext cx="1949351" cy="1739801"/>
          </a:xfrm>
          <a:prstGeom prst="rect">
            <a:avLst/>
          </a:prstGeom>
          <a:solidFill>
            <a:srgbClr val="F1C40F">
              <a:alpha val="8000"/>
            </a:srgbClr>
          </a:solidFill>
          <a:ln w="9525">
            <a:solidFill>
              <a:srgbClr val="F1C40F"/>
            </a:solidFill>
          </a:ln>
        </p:spPr>
        <p:txBody>
          <a:bodyPr wrap="square" rtlCol="0" anchor="ctr"/>
          <a:lstStyle/>
          <a:p>
            <a:pPr indent="0" marL="0">
              <a:buNone/>
            </a:pPr>
            <a:endParaRPr lang="en-US" dirty="0"/>
          </a:p>
        </p:txBody>
      </p:sp>
      <p:sp>
        <p:nvSpPr>
          <p:cNvPr id="6" name="Text 4"/>
          <p:cNvSpPr/>
          <p:nvPr/>
        </p:nvSpPr>
        <p:spPr>
          <a:xfrm>
            <a:off x="565934" y="1932087"/>
            <a:ext cx="1554480" cy="323850"/>
          </a:xfrm>
          <a:prstGeom prst="rect">
            <a:avLst/>
          </a:prstGeom>
          <a:noFill/>
          <a:ln/>
        </p:spPr>
        <p:txBody>
          <a:bodyPr wrap="square" lIns="0" tIns="0" rIns="0" bIns="0" rtlCol="0" anchor="t"/>
          <a:lstStyle/>
          <a:p>
            <a:pPr algn="ctr" indent="0" marL="0">
              <a:spcBef>
                <a:spcPts val="2200"/>
              </a:spcBef>
              <a:spcAft>
                <a:spcPts val="2200"/>
              </a:spcAft>
              <a:buNone/>
            </a:pPr>
            <a:r>
              <a:rPr lang="en-US" sz="2200" b="1" dirty="0">
                <a:solidFill>
                  <a:srgbClr val="F1C40F"/>
                </a:solidFill>
                <a:latin typeface="Arial" pitchFamily="34" charset="0"/>
                <a:ea typeface="Arial" pitchFamily="34" charset="-122"/>
                <a:cs typeface="Arial" pitchFamily="34" charset="-120"/>
              </a:rPr>
              <a:t>341+</a:t>
            </a:r>
            <a:endParaRPr lang="en-US" sz="2200" dirty="0"/>
          </a:p>
        </p:txBody>
      </p:sp>
      <p:sp>
        <p:nvSpPr>
          <p:cNvPr id="7" name="Text 5"/>
          <p:cNvSpPr/>
          <p:nvPr/>
        </p:nvSpPr>
        <p:spPr>
          <a:xfrm>
            <a:off x="565934" y="2535287"/>
            <a:ext cx="1554480" cy="171450"/>
          </a:xfrm>
          <a:prstGeom prst="rect">
            <a:avLst/>
          </a:prstGeom>
          <a:noFill/>
          <a:ln/>
        </p:spPr>
        <p:txBody>
          <a:bodyPr wrap="square" lIns="0" tIns="0" rIns="0" bIns="0" rtlCol="0" anchor="t"/>
          <a:lstStyle/>
          <a:p>
            <a:pPr algn="ctr" indent="0" marL="0">
              <a:spcBef>
                <a:spcPts val="600"/>
              </a:spcBef>
              <a:spcAft>
                <a:spcPts val="200"/>
              </a:spcAft>
              <a:buNone/>
            </a:pPr>
            <a:r>
              <a:rPr lang="en-US" sz="1200" b="1" dirty="0">
                <a:solidFill>
                  <a:srgbClr val="FFFFFF"/>
                </a:solidFill>
                <a:latin typeface="Arial" pitchFamily="34" charset="0"/>
                <a:ea typeface="Arial" pitchFamily="34" charset="-122"/>
                <a:cs typeface="Arial" pitchFamily="34" charset="-120"/>
              </a:rPr>
              <a:t>Cases</a:t>
            </a:r>
            <a:endParaRPr lang="en-US" sz="1200" dirty="0"/>
          </a:p>
        </p:txBody>
      </p:sp>
      <p:sp>
        <p:nvSpPr>
          <p:cNvPr id="8" name="Text 6"/>
          <p:cNvSpPr/>
          <p:nvPr/>
        </p:nvSpPr>
        <p:spPr>
          <a:xfrm>
            <a:off x="565934" y="2821037"/>
            <a:ext cx="1554480" cy="133350"/>
          </a:xfrm>
          <a:prstGeom prst="rect">
            <a:avLst/>
          </a:prstGeom>
          <a:noFill/>
          <a:ln/>
        </p:spPr>
        <p:txBody>
          <a:bodyPr wrap="square" lIns="0" tIns="0" rIns="0" bIns="0" rtlCol="0" anchor="t"/>
          <a:lstStyle/>
          <a:p>
            <a:pPr algn="ctr" indent="0" marL="0">
              <a:spcBef>
                <a:spcPts val="900"/>
              </a:spcBef>
              <a:spcAft>
                <a:spcPts val="900"/>
              </a:spcAft>
              <a:buNone/>
            </a:pPr>
            <a:r>
              <a:rPr lang="en-US" sz="900" dirty="0">
                <a:solidFill>
                  <a:srgbClr val="B0BEC5"/>
                </a:solidFill>
                <a:latin typeface="Arial" pitchFamily="34" charset="0"/>
                <a:ea typeface="Arial" pitchFamily="34" charset="-122"/>
                <a:cs typeface="Arial" pitchFamily="34" charset="-120"/>
              </a:rPr>
              <a:t>Senhance Robotic</a:t>
            </a:r>
            <a:endParaRPr lang="en-US" sz="900" dirty="0"/>
          </a:p>
        </p:txBody>
      </p:sp>
      <p:sp>
        <p:nvSpPr>
          <p:cNvPr id="9" name="Text 7"/>
          <p:cNvSpPr/>
          <p:nvPr/>
        </p:nvSpPr>
        <p:spPr>
          <a:xfrm>
            <a:off x="2521000" y="1490811"/>
            <a:ext cx="1949351" cy="1739801"/>
          </a:xfrm>
          <a:prstGeom prst="rect">
            <a:avLst/>
          </a:prstGeom>
          <a:solidFill>
            <a:srgbClr val="F1C40F">
              <a:alpha val="8000"/>
            </a:srgbClr>
          </a:solidFill>
          <a:ln w="9525">
            <a:solidFill>
              <a:srgbClr val="F1C40F"/>
            </a:solidFill>
          </a:ln>
        </p:spPr>
        <p:txBody>
          <a:bodyPr wrap="square" rtlCol="0" anchor="ctr"/>
          <a:lstStyle/>
          <a:p>
            <a:pPr indent="0" marL="0">
              <a:buNone/>
            </a:pPr>
            <a:endParaRPr lang="en-US" dirty="0"/>
          </a:p>
        </p:txBody>
      </p:sp>
      <p:sp>
        <p:nvSpPr>
          <p:cNvPr id="10" name="Text 8"/>
          <p:cNvSpPr/>
          <p:nvPr/>
        </p:nvSpPr>
        <p:spPr>
          <a:xfrm>
            <a:off x="2718435" y="1932087"/>
            <a:ext cx="1554480" cy="323850"/>
          </a:xfrm>
          <a:prstGeom prst="rect">
            <a:avLst/>
          </a:prstGeom>
          <a:noFill/>
          <a:ln/>
        </p:spPr>
        <p:txBody>
          <a:bodyPr wrap="square" lIns="0" tIns="0" rIns="0" bIns="0" rtlCol="0" anchor="t"/>
          <a:lstStyle/>
          <a:p>
            <a:pPr algn="ctr" indent="0" marL="0">
              <a:spcBef>
                <a:spcPts val="2200"/>
              </a:spcBef>
              <a:spcAft>
                <a:spcPts val="2200"/>
              </a:spcAft>
              <a:buNone/>
            </a:pPr>
            <a:r>
              <a:rPr lang="en-US" sz="2200" b="1" dirty="0">
                <a:solidFill>
                  <a:srgbClr val="F1C40F"/>
                </a:solidFill>
                <a:latin typeface="Arial" pitchFamily="34" charset="0"/>
                <a:ea typeface="Arial" pitchFamily="34" charset="-122"/>
                <a:cs typeface="Arial" pitchFamily="34" charset="-120"/>
              </a:rPr>
              <a:t>#1</a:t>
            </a:r>
            <a:endParaRPr lang="en-US" sz="2200" dirty="0"/>
          </a:p>
        </p:txBody>
      </p:sp>
      <p:sp>
        <p:nvSpPr>
          <p:cNvPr id="11" name="Text 9"/>
          <p:cNvSpPr/>
          <p:nvPr/>
        </p:nvSpPr>
        <p:spPr>
          <a:xfrm>
            <a:off x="2718435" y="2535287"/>
            <a:ext cx="1554480" cy="171450"/>
          </a:xfrm>
          <a:prstGeom prst="rect">
            <a:avLst/>
          </a:prstGeom>
          <a:noFill/>
          <a:ln/>
        </p:spPr>
        <p:txBody>
          <a:bodyPr wrap="square" lIns="0" tIns="0" rIns="0" bIns="0" rtlCol="0" anchor="t"/>
          <a:lstStyle/>
          <a:p>
            <a:pPr algn="ctr" indent="0" marL="0">
              <a:spcBef>
                <a:spcPts val="600"/>
              </a:spcBef>
              <a:spcAft>
                <a:spcPts val="200"/>
              </a:spcAft>
              <a:buNone/>
            </a:pPr>
            <a:r>
              <a:rPr lang="en-US" sz="1200" b="1" dirty="0">
                <a:solidFill>
                  <a:srgbClr val="FFFFFF"/>
                </a:solidFill>
                <a:latin typeface="Arial" pitchFamily="34" charset="0"/>
                <a:ea typeface="Arial" pitchFamily="34" charset="-122"/>
                <a:cs typeface="Arial" pitchFamily="34" charset="-120"/>
              </a:rPr>
              <a:t>Asia Volume</a:t>
            </a:r>
            <a:endParaRPr lang="en-US" sz="1200" dirty="0"/>
          </a:p>
        </p:txBody>
      </p:sp>
      <p:sp>
        <p:nvSpPr>
          <p:cNvPr id="12" name="Text 10"/>
          <p:cNvSpPr/>
          <p:nvPr/>
        </p:nvSpPr>
        <p:spPr>
          <a:xfrm>
            <a:off x="2718435" y="2821037"/>
            <a:ext cx="1554480" cy="133350"/>
          </a:xfrm>
          <a:prstGeom prst="rect">
            <a:avLst/>
          </a:prstGeom>
          <a:noFill/>
          <a:ln/>
        </p:spPr>
        <p:txBody>
          <a:bodyPr wrap="square" lIns="0" tIns="0" rIns="0" bIns="0" rtlCol="0" anchor="t"/>
          <a:lstStyle/>
          <a:p>
            <a:pPr algn="ctr" indent="0" marL="0">
              <a:spcBef>
                <a:spcPts val="900"/>
              </a:spcBef>
              <a:spcAft>
                <a:spcPts val="900"/>
              </a:spcAft>
              <a:buNone/>
            </a:pPr>
            <a:r>
              <a:rPr lang="en-US" sz="900" dirty="0">
                <a:solidFill>
                  <a:srgbClr val="B0BEC5"/>
                </a:solidFill>
                <a:latin typeface="Arial" pitchFamily="34" charset="0"/>
                <a:ea typeface="Arial" pitchFamily="34" charset="-122"/>
                <a:cs typeface="Arial" pitchFamily="34" charset="-120"/>
              </a:rPr>
              <a:t>Senhance Platform</a:t>
            </a:r>
            <a:endParaRPr lang="en-US" sz="900" dirty="0"/>
          </a:p>
        </p:txBody>
      </p:sp>
      <p:sp>
        <p:nvSpPr>
          <p:cNvPr id="13" name="Text 11"/>
          <p:cNvSpPr/>
          <p:nvPr/>
        </p:nvSpPr>
        <p:spPr>
          <a:xfrm>
            <a:off x="4673501" y="1490811"/>
            <a:ext cx="1949351" cy="1739801"/>
          </a:xfrm>
          <a:prstGeom prst="rect">
            <a:avLst/>
          </a:prstGeom>
          <a:solidFill>
            <a:srgbClr val="F1C40F">
              <a:alpha val="8000"/>
            </a:srgbClr>
          </a:solidFill>
          <a:ln w="9525">
            <a:solidFill>
              <a:srgbClr val="F1C40F"/>
            </a:solidFill>
          </a:ln>
        </p:spPr>
        <p:txBody>
          <a:bodyPr wrap="square" rtlCol="0" anchor="ctr"/>
          <a:lstStyle/>
          <a:p>
            <a:pPr indent="0" marL="0">
              <a:buNone/>
            </a:pPr>
            <a:endParaRPr lang="en-US" dirty="0"/>
          </a:p>
        </p:txBody>
      </p:sp>
      <p:sp>
        <p:nvSpPr>
          <p:cNvPr id="14" name="Text 12"/>
          <p:cNvSpPr/>
          <p:nvPr/>
        </p:nvSpPr>
        <p:spPr>
          <a:xfrm>
            <a:off x="4870936" y="1932087"/>
            <a:ext cx="1554480" cy="323850"/>
          </a:xfrm>
          <a:prstGeom prst="rect">
            <a:avLst/>
          </a:prstGeom>
          <a:noFill/>
          <a:ln/>
        </p:spPr>
        <p:txBody>
          <a:bodyPr wrap="square" lIns="0" tIns="0" rIns="0" bIns="0" rtlCol="0" anchor="t"/>
          <a:lstStyle/>
          <a:p>
            <a:pPr algn="ctr" indent="0" marL="0">
              <a:spcBef>
                <a:spcPts val="2200"/>
              </a:spcBef>
              <a:spcAft>
                <a:spcPts val="2200"/>
              </a:spcAft>
              <a:buNone/>
            </a:pPr>
            <a:r>
              <a:rPr lang="en-US" sz="2200" b="1" dirty="0">
                <a:solidFill>
                  <a:srgbClr val="F1C40F"/>
                </a:solidFill>
                <a:latin typeface="Arial" pitchFamily="34" charset="0"/>
                <a:ea typeface="Arial" pitchFamily="34" charset="-122"/>
                <a:cs typeface="Arial" pitchFamily="34" charset="-120"/>
              </a:rPr>
              <a:t>PhD</a:t>
            </a:r>
            <a:endParaRPr lang="en-US" sz="2200" dirty="0"/>
          </a:p>
        </p:txBody>
      </p:sp>
      <p:sp>
        <p:nvSpPr>
          <p:cNvPr id="15" name="Text 13"/>
          <p:cNvSpPr/>
          <p:nvPr/>
        </p:nvSpPr>
        <p:spPr>
          <a:xfrm>
            <a:off x="4870936" y="2535287"/>
            <a:ext cx="1554480" cy="171450"/>
          </a:xfrm>
          <a:prstGeom prst="rect">
            <a:avLst/>
          </a:prstGeom>
          <a:noFill/>
          <a:ln/>
        </p:spPr>
        <p:txBody>
          <a:bodyPr wrap="square" lIns="0" tIns="0" rIns="0" bIns="0" rtlCol="0" anchor="t"/>
          <a:lstStyle/>
          <a:p>
            <a:pPr algn="ctr" indent="0" marL="0">
              <a:spcBef>
                <a:spcPts val="600"/>
              </a:spcBef>
              <a:spcAft>
                <a:spcPts val="200"/>
              </a:spcAft>
              <a:buNone/>
            </a:pPr>
            <a:r>
              <a:rPr lang="en-US" sz="1200" b="1" dirty="0">
                <a:solidFill>
                  <a:srgbClr val="FFFFFF"/>
                </a:solidFill>
                <a:latin typeface="Arial" pitchFamily="34" charset="0"/>
                <a:ea typeface="Arial" pitchFamily="34" charset="-122"/>
                <a:cs typeface="Arial" pitchFamily="34" charset="-120"/>
              </a:rPr>
              <a:t>AI Research</a:t>
            </a:r>
            <a:endParaRPr lang="en-US" sz="1200" dirty="0"/>
          </a:p>
        </p:txBody>
      </p:sp>
      <p:sp>
        <p:nvSpPr>
          <p:cNvPr id="16" name="Text 14"/>
          <p:cNvSpPr/>
          <p:nvPr/>
        </p:nvSpPr>
        <p:spPr>
          <a:xfrm>
            <a:off x="4870936" y="2821037"/>
            <a:ext cx="1554480" cy="133350"/>
          </a:xfrm>
          <a:prstGeom prst="rect">
            <a:avLst/>
          </a:prstGeom>
          <a:noFill/>
          <a:ln/>
        </p:spPr>
        <p:txBody>
          <a:bodyPr wrap="square" lIns="0" tIns="0" rIns="0" bIns="0" rtlCol="0" anchor="t"/>
          <a:lstStyle/>
          <a:p>
            <a:pPr algn="ctr" indent="0" marL="0">
              <a:spcBef>
                <a:spcPts val="900"/>
              </a:spcBef>
              <a:spcAft>
                <a:spcPts val="900"/>
              </a:spcAft>
              <a:buNone/>
            </a:pPr>
            <a:r>
              <a:rPr lang="en-US" sz="900" dirty="0">
                <a:solidFill>
                  <a:srgbClr val="B0BEC5"/>
                </a:solidFill>
                <a:latin typeface="Arial" pitchFamily="34" charset="0"/>
                <a:ea typeface="Arial" pitchFamily="34" charset="-122"/>
                <a:cs typeface="Arial" pitchFamily="34" charset="-120"/>
              </a:rPr>
              <a:t>LLM in Urology</a:t>
            </a:r>
            <a:endParaRPr lang="en-US" sz="900" dirty="0"/>
          </a:p>
        </p:txBody>
      </p:sp>
      <p:sp>
        <p:nvSpPr>
          <p:cNvPr id="17" name="Text 15"/>
          <p:cNvSpPr/>
          <p:nvPr/>
        </p:nvSpPr>
        <p:spPr>
          <a:xfrm>
            <a:off x="6826002" y="1490811"/>
            <a:ext cx="1949351" cy="1739801"/>
          </a:xfrm>
          <a:prstGeom prst="rect">
            <a:avLst/>
          </a:prstGeom>
          <a:solidFill>
            <a:srgbClr val="F1C40F">
              <a:alpha val="8000"/>
            </a:srgbClr>
          </a:solidFill>
          <a:ln w="9525">
            <a:solidFill>
              <a:srgbClr val="F1C40F"/>
            </a:solidFill>
          </a:ln>
        </p:spPr>
        <p:txBody>
          <a:bodyPr wrap="square" rtlCol="0" anchor="ctr"/>
          <a:lstStyle/>
          <a:p>
            <a:pPr indent="0" marL="0">
              <a:buNone/>
            </a:pPr>
            <a:endParaRPr lang="en-US" dirty="0"/>
          </a:p>
        </p:txBody>
      </p:sp>
      <p:sp>
        <p:nvSpPr>
          <p:cNvPr id="18" name="Text 16"/>
          <p:cNvSpPr/>
          <p:nvPr/>
        </p:nvSpPr>
        <p:spPr>
          <a:xfrm>
            <a:off x="7023437" y="1932087"/>
            <a:ext cx="1554480" cy="323850"/>
          </a:xfrm>
          <a:prstGeom prst="rect">
            <a:avLst/>
          </a:prstGeom>
          <a:noFill/>
          <a:ln/>
        </p:spPr>
        <p:txBody>
          <a:bodyPr wrap="square" lIns="0" tIns="0" rIns="0" bIns="0" rtlCol="0" anchor="t"/>
          <a:lstStyle/>
          <a:p>
            <a:pPr algn="ctr" indent="0" marL="0">
              <a:spcBef>
                <a:spcPts val="2200"/>
              </a:spcBef>
              <a:spcAft>
                <a:spcPts val="2200"/>
              </a:spcAft>
              <a:buNone/>
            </a:pPr>
            <a:r>
              <a:rPr lang="en-US" sz="2200" b="1" dirty="0">
                <a:solidFill>
                  <a:srgbClr val="F1C40F"/>
                </a:solidFill>
                <a:latin typeface="Arial" pitchFamily="34" charset="0"/>
                <a:ea typeface="Arial" pitchFamily="34" charset="-122"/>
                <a:cs typeface="Arial" pitchFamily="34" charset="-120"/>
              </a:rPr>
              <a:t>2x</a:t>
            </a:r>
            <a:endParaRPr lang="en-US" sz="2200" dirty="0"/>
          </a:p>
        </p:txBody>
      </p:sp>
      <p:sp>
        <p:nvSpPr>
          <p:cNvPr id="19" name="Text 17"/>
          <p:cNvSpPr/>
          <p:nvPr/>
        </p:nvSpPr>
        <p:spPr>
          <a:xfrm>
            <a:off x="7023437" y="2535287"/>
            <a:ext cx="1554480" cy="171450"/>
          </a:xfrm>
          <a:prstGeom prst="rect">
            <a:avLst/>
          </a:prstGeom>
          <a:noFill/>
          <a:ln/>
        </p:spPr>
        <p:txBody>
          <a:bodyPr wrap="square" lIns="0" tIns="0" rIns="0" bIns="0" rtlCol="0" anchor="t"/>
          <a:lstStyle/>
          <a:p>
            <a:pPr algn="ctr" indent="0" marL="0">
              <a:spcBef>
                <a:spcPts val="600"/>
              </a:spcBef>
              <a:spcAft>
                <a:spcPts val="200"/>
              </a:spcAft>
              <a:buNone/>
            </a:pPr>
            <a:r>
              <a:rPr lang="en-US" sz="1200" b="1" dirty="0">
                <a:solidFill>
                  <a:srgbClr val="FFFFFF"/>
                </a:solidFill>
                <a:latin typeface="Arial" pitchFamily="34" charset="0"/>
                <a:ea typeface="Arial" pitchFamily="34" charset="-122"/>
                <a:cs typeface="Arial" pitchFamily="34" charset="-120"/>
              </a:rPr>
              <a:t>Platforms</a:t>
            </a:r>
            <a:endParaRPr lang="en-US" sz="1200" dirty="0"/>
          </a:p>
        </p:txBody>
      </p:sp>
      <p:sp>
        <p:nvSpPr>
          <p:cNvPr id="20" name="Text 18"/>
          <p:cNvSpPr/>
          <p:nvPr/>
        </p:nvSpPr>
        <p:spPr>
          <a:xfrm>
            <a:off x="7023437" y="2821037"/>
            <a:ext cx="1554480" cy="133350"/>
          </a:xfrm>
          <a:prstGeom prst="rect">
            <a:avLst/>
          </a:prstGeom>
          <a:noFill/>
          <a:ln/>
        </p:spPr>
        <p:txBody>
          <a:bodyPr wrap="square" lIns="0" tIns="0" rIns="0" bIns="0" rtlCol="0" anchor="t"/>
          <a:lstStyle/>
          <a:p>
            <a:pPr algn="ctr" indent="0" marL="0">
              <a:spcBef>
                <a:spcPts val="900"/>
              </a:spcBef>
              <a:spcAft>
                <a:spcPts val="900"/>
              </a:spcAft>
              <a:buNone/>
            </a:pPr>
            <a:r>
              <a:rPr lang="en-US" sz="900" dirty="0">
                <a:solidFill>
                  <a:srgbClr val="B0BEC5"/>
                </a:solidFill>
                <a:latin typeface="Arial" pitchFamily="34" charset="0"/>
                <a:ea typeface="Arial" pitchFamily="34" charset="-122"/>
                <a:cs typeface="Arial" pitchFamily="34" charset="-120"/>
              </a:rPr>
              <a:t>da Vinci + Senhance</a:t>
            </a:r>
            <a:endParaRPr lang="en-US" sz="900" dirty="0"/>
          </a:p>
        </p:txBody>
      </p:sp>
      <p:sp>
        <p:nvSpPr>
          <p:cNvPr id="21" name="Text 19"/>
          <p:cNvSpPr/>
          <p:nvPr/>
        </p:nvSpPr>
        <p:spPr>
          <a:xfrm>
            <a:off x="1124099" y="3484513"/>
            <a:ext cx="6895802" cy="1304776"/>
          </a:xfrm>
          <a:prstGeom prst="rect">
            <a:avLst/>
          </a:prstGeom>
          <a:solidFill>
            <a:srgbClr val="00D4FF">
              <a:alpha val="8000"/>
            </a:srgbClr>
          </a:solidFill>
          <a:ln/>
        </p:spPr>
        <p:txBody>
          <a:bodyPr wrap="square" rtlCol="0" anchor="ctr"/>
          <a:lstStyle/>
          <a:p>
            <a:pPr indent="0" marL="0">
              <a:buNone/>
            </a:pPr>
            <a:endParaRPr lang="en-US" dirty="0"/>
          </a:p>
        </p:txBody>
      </p:sp>
      <p:sp>
        <p:nvSpPr>
          <p:cNvPr id="22" name="Shape 20"/>
          <p:cNvSpPr/>
          <p:nvPr/>
        </p:nvSpPr>
        <p:spPr>
          <a:xfrm>
            <a:off x="1143149" y="3484513"/>
            <a:ext cx="0" cy="1304776"/>
          </a:xfrm>
          <a:prstGeom prst="line">
            <a:avLst/>
          </a:prstGeom>
          <a:noFill/>
          <a:ln w="38100">
            <a:solidFill>
              <a:srgbClr val="00D4FF"/>
            </a:solidFill>
            <a:prstDash val="solid"/>
          </a:ln>
        </p:spPr>
      </p:sp>
      <p:sp>
        <p:nvSpPr>
          <p:cNvPr id="23" name="Text 21"/>
          <p:cNvSpPr/>
          <p:nvPr/>
        </p:nvSpPr>
        <p:spPr>
          <a:xfrm>
            <a:off x="1416100" y="3801963"/>
            <a:ext cx="6476899" cy="400050"/>
          </a:xfrm>
          <a:prstGeom prst="rect">
            <a:avLst/>
          </a:prstGeom>
          <a:noFill/>
          <a:ln/>
        </p:spPr>
        <p:txBody>
          <a:bodyPr wrap="square" lIns="0" tIns="0" rIns="0" bIns="0" rtlCol="0" anchor="t"/>
          <a:lstStyle/>
          <a:p>
            <a:pPr algn="l" indent="0" marL="0">
              <a:spcBef>
                <a:spcPts val="1300"/>
              </a:spcBef>
              <a:spcAft>
                <a:spcPts val="1300"/>
              </a:spcAft>
              <a:buNone/>
            </a:pPr>
            <a:r>
              <a:rPr lang="en-US" sz="1300" i="1" dirty="0">
                <a:solidFill>
                  <a:srgbClr val="E0E0E0"/>
                </a:solidFill>
                <a:latin typeface="Arial" pitchFamily="34" charset="0"/>
                <a:ea typeface="Arial" pitchFamily="34" charset="-122"/>
                <a:cs typeface="Arial" pitchFamily="34" charset="-120"/>
              </a:rPr>
              <a:t>"I operate robots by day. I build AI agents by night. Both require precision, systems thinking, and the courage to automate."</a:t>
            </a:r>
            <a:endParaRPr lang="en-US" sz="1300" dirty="0"/>
          </a:p>
        </p:txBody>
      </p:sp>
      <p:sp>
        <p:nvSpPr>
          <p:cNvPr id="24" name="Text 22"/>
          <p:cNvSpPr/>
          <p:nvPr/>
        </p:nvSpPr>
        <p:spPr>
          <a:xfrm>
            <a:off x="1416100" y="4367064"/>
            <a:ext cx="6476899" cy="142875"/>
          </a:xfrm>
          <a:prstGeom prst="rect">
            <a:avLst/>
          </a:prstGeom>
          <a:noFill/>
          <a:ln/>
        </p:spPr>
        <p:txBody>
          <a:bodyPr wrap="square" lIns="0" tIns="0" rIns="0" bIns="0" rtlCol="0" anchor="t"/>
          <a:lstStyle/>
          <a:p>
            <a:pPr algn="l" indent="0" marL="0">
              <a:spcBef>
                <a:spcPts val="600"/>
              </a:spcBef>
              <a:spcAft>
                <a:spcPts val="1000"/>
              </a:spcAft>
              <a:buNone/>
            </a:pPr>
            <a:r>
              <a:rPr lang="en-US" sz="1000" dirty="0">
                <a:solidFill>
                  <a:srgbClr val="00D4FF"/>
                </a:solidFill>
                <a:latin typeface="Arial" pitchFamily="34" charset="0"/>
                <a:ea typeface="Arial" pitchFamily="34" charset="-122"/>
                <a:cs typeface="Arial" pitchFamily="34" charset="-120"/>
              </a:rPr>
              <a:t>— Dr. Lun-Hsiang Yuan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50A1E"/>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D4FF"/>
          </a:solidFill>
          <a:ln/>
        </p:spPr>
        <p:txBody>
          <a:bodyPr wrap="square" rtlCol="0" anchor="ctr"/>
          <a:lstStyle/>
          <a:p>
            <a:pPr indent="0" marL="0">
              <a:buNone/>
            </a:pPr>
            <a:endParaRPr lang="en-US" dirty="0"/>
          </a:p>
        </p:txBody>
      </p:sp>
      <p:sp>
        <p:nvSpPr>
          <p:cNvPr id="3" name="Text 1"/>
          <p:cNvSpPr/>
          <p:nvPr/>
        </p:nvSpPr>
        <p:spPr>
          <a:xfrm>
            <a:off x="381000" y="650974"/>
            <a:ext cx="4145179" cy="142875"/>
          </a:xfrm>
          <a:prstGeom prst="rect">
            <a:avLst/>
          </a:prstGeom>
          <a:noFill/>
          <a:ln/>
        </p:spPr>
        <p:txBody>
          <a:bodyPr wrap="square" lIns="0" tIns="0" rIns="0" bIns="0" rtlCol="0" anchor="t"/>
          <a:lstStyle/>
          <a:p>
            <a:pPr algn="l" indent="0" marL="0">
              <a:spcBef>
                <a:spcPts val="1000"/>
              </a:spcBef>
              <a:spcAft>
                <a:spcPts val="1200"/>
              </a:spcAft>
              <a:buNone/>
            </a:pPr>
            <a:r>
              <a:rPr lang="en-US" sz="1000" dirty="0">
                <a:solidFill>
                  <a:srgbClr val="00D4FF"/>
                </a:solidFill>
                <a:latin typeface="Arial" pitchFamily="34" charset="0"/>
                <a:ea typeface="Arial" pitchFamily="34" charset="-122"/>
                <a:cs typeface="Arial" pitchFamily="34" charset="-120"/>
              </a:rPr>
              <a:t>THE GPT MOMENT</a:t>
            </a:r>
            <a:endParaRPr lang="en-US" sz="1000" dirty="0"/>
          </a:p>
        </p:txBody>
      </p:sp>
      <p:sp>
        <p:nvSpPr>
          <p:cNvPr id="4" name="Text 2"/>
          <p:cNvSpPr/>
          <p:nvPr/>
        </p:nvSpPr>
        <p:spPr>
          <a:xfrm>
            <a:off x="381000" y="946249"/>
            <a:ext cx="4145179" cy="858441"/>
          </a:xfrm>
          <a:prstGeom prst="rect">
            <a:avLst/>
          </a:prstGeom>
          <a:noFill/>
          <a:ln/>
        </p:spPr>
        <p:txBody>
          <a:bodyPr wrap="square" lIns="0" tIns="0" rIns="0" bIns="0" rtlCol="0" anchor="t"/>
          <a:lstStyle/>
          <a:p>
            <a:pPr algn="l" indent="0" marL="0">
              <a:lnSpc>
                <a:spcPts val="3380"/>
              </a:lnSpc>
              <a:spcAft>
                <a:spcPts val="1400"/>
              </a:spcAft>
              <a:buNone/>
            </a:pPr>
            <a:r>
              <a:rPr lang="en-US" sz="2600" dirty="0">
                <a:solidFill>
                  <a:srgbClr val="FFFFFF"/>
                </a:solidFill>
                <a:latin typeface="Arial" pitchFamily="34" charset="0"/>
                <a:ea typeface="Arial" pitchFamily="34" charset="-122"/>
                <a:cs typeface="Arial" pitchFamily="34" charset="-120"/>
              </a:rPr>
              <a:t>The Day </a:t>
            </a:r>
            <a:pPr algn="l" indent="0" marL="0">
              <a:lnSpc>
                <a:spcPts val="3380"/>
              </a:lnSpc>
              <a:spcAft>
                <a:spcPts val="1400"/>
              </a:spcAft>
              <a:buNone/>
            </a:pPr>
            <a:r>
              <a:rPr lang="en-US" sz="2600" b="1" dirty="0">
                <a:solidFill>
                  <a:srgbClr val="00D4FF"/>
                </a:solidFill>
                <a:latin typeface="Arial" pitchFamily="34" charset="0"/>
                <a:ea typeface="Arial" pitchFamily="34" charset="-122"/>
                <a:cs typeface="Arial" pitchFamily="34" charset="-120"/>
              </a:rPr>
              <a:t>Everything</a:t>
            </a:r>
            <a:pPr algn="l" indent="0" marL="0">
              <a:lnSpc>
                <a:spcPts val="3380"/>
              </a:lnSpc>
              <a:spcAft>
                <a:spcPts val="1400"/>
              </a:spcAft>
              <a:buNone/>
            </a:pPr>
            <a:r>
              <a:rPr lang="en-US" sz="2600" dirty="0">
                <a:solidFill>
                  <a:srgbClr val="FFFFFF"/>
                </a:solidFill>
                <a:latin typeface="Arial" pitchFamily="34" charset="0"/>
                <a:ea typeface="Arial" pitchFamily="34" charset="-122"/>
                <a:cs typeface="Arial" pitchFamily="34" charset="-120"/>
              </a:rPr>
              <a:t> Changed</a:t>
            </a:r>
            <a:endParaRPr lang="en-US" sz="2600" dirty="0"/>
          </a:p>
        </p:txBody>
      </p:sp>
      <p:sp>
        <p:nvSpPr>
          <p:cNvPr id="5" name="Text 3"/>
          <p:cNvSpPr/>
          <p:nvPr/>
        </p:nvSpPr>
        <p:spPr>
          <a:xfrm>
            <a:off x="381000" y="2134791"/>
            <a:ext cx="4145179" cy="776883"/>
          </a:xfrm>
          <a:prstGeom prst="rect">
            <a:avLst/>
          </a:prstGeom>
          <a:noFill/>
          <a:ln/>
        </p:spPr>
        <p:txBody>
          <a:bodyPr wrap="square" lIns="0" tIns="0" rIns="0" bIns="0" rtlCol="0" anchor="t"/>
          <a:lstStyle/>
          <a:p>
            <a:pPr algn="l" indent="0" marL="0">
              <a:lnSpc>
                <a:spcPts val="2040"/>
              </a:lnSpc>
              <a:spcBef>
                <a:spcPts val="1200"/>
              </a:spcBef>
              <a:spcAft>
                <a:spcPts val="1200"/>
              </a:spcAft>
              <a:buNone/>
            </a:pPr>
            <a:r>
              <a:rPr lang="en-US" sz="1200" dirty="0">
                <a:solidFill>
                  <a:srgbClr val="B0BEC5"/>
                </a:solidFill>
                <a:latin typeface="Arial" pitchFamily="34" charset="0"/>
                <a:ea typeface="Arial" pitchFamily="34" charset="-122"/>
                <a:cs typeface="Arial" pitchFamily="34" charset="-120"/>
              </a:rPr>
              <a:t>Late 2022. A colleague shared a link. I typed a clinical question. GPT-4 answered better than most textbooks. I stayed up until 3am exploring.</a:t>
            </a:r>
            <a:endParaRPr lang="en-US" sz="1200" dirty="0"/>
          </a:p>
        </p:txBody>
      </p:sp>
      <p:sp>
        <p:nvSpPr>
          <p:cNvPr id="6" name="Text 4"/>
          <p:cNvSpPr/>
          <p:nvPr/>
        </p:nvSpPr>
        <p:spPr>
          <a:xfrm>
            <a:off x="381000" y="3267224"/>
            <a:ext cx="4063901" cy="1352252"/>
          </a:xfrm>
          <a:prstGeom prst="rect">
            <a:avLst/>
          </a:prstGeom>
          <a:solidFill>
            <a:srgbClr val="F1C40F">
              <a:alpha val="10000"/>
            </a:srgbClr>
          </a:solidFill>
          <a:ln w="9525">
            <a:solidFill>
              <a:srgbClr val="F1C40F"/>
            </a:solidFill>
          </a:ln>
        </p:spPr>
        <p:txBody>
          <a:bodyPr wrap="square" rtlCol="0" anchor="ctr"/>
          <a:lstStyle/>
          <a:p>
            <a:pPr indent="0" marL="0">
              <a:buNone/>
            </a:pPr>
            <a:endParaRPr lang="en-US" dirty="0"/>
          </a:p>
        </p:txBody>
      </p:sp>
      <p:sp>
        <p:nvSpPr>
          <p:cNvPr id="7" name="Text 5"/>
          <p:cNvSpPr/>
          <p:nvPr/>
        </p:nvSpPr>
        <p:spPr>
          <a:xfrm>
            <a:off x="568226" y="3568750"/>
            <a:ext cx="3763238" cy="133350"/>
          </a:xfrm>
          <a:prstGeom prst="rect">
            <a:avLst/>
          </a:prstGeom>
          <a:noFill/>
          <a:ln/>
        </p:spPr>
        <p:txBody>
          <a:bodyPr wrap="square" lIns="0" tIns="0" rIns="0" bIns="0" rtlCol="0" anchor="t"/>
          <a:lstStyle/>
          <a:p>
            <a:pPr algn="l" indent="0" marL="0">
              <a:spcBef>
                <a:spcPts val="900"/>
              </a:spcBef>
              <a:spcAft>
                <a:spcPts val="600"/>
              </a:spcAft>
              <a:buNone/>
            </a:pPr>
            <a:r>
              <a:rPr lang="en-US" sz="900" dirty="0">
                <a:solidFill>
                  <a:srgbClr val="F1C40F"/>
                </a:solidFill>
                <a:latin typeface="Arial" pitchFamily="34" charset="0"/>
                <a:ea typeface="Arial" pitchFamily="34" charset="-122"/>
                <a:cs typeface="Arial" pitchFamily="34" charset="-120"/>
              </a:rPr>
              <a:t>THE REALIZATION</a:t>
            </a:r>
            <a:endParaRPr lang="en-US" sz="900" dirty="0"/>
          </a:p>
        </p:txBody>
      </p:sp>
      <p:sp>
        <p:nvSpPr>
          <p:cNvPr id="8" name="Text 6"/>
          <p:cNvSpPr/>
          <p:nvPr/>
        </p:nvSpPr>
        <p:spPr>
          <a:xfrm>
            <a:off x="568226" y="3867150"/>
            <a:ext cx="3763238" cy="400050"/>
          </a:xfrm>
          <a:prstGeom prst="rect">
            <a:avLst/>
          </a:prstGeom>
          <a:noFill/>
          <a:ln/>
        </p:spPr>
        <p:txBody>
          <a:bodyPr wrap="square" lIns="0" tIns="0" rIns="0" bIns="0" rtlCol="0" anchor="t"/>
          <a:lstStyle/>
          <a:p>
            <a:pPr algn="l" indent="0" marL="0">
              <a:spcBef>
                <a:spcPts val="1300"/>
              </a:spcBef>
              <a:spcAft>
                <a:spcPts val="1300"/>
              </a:spcAft>
              <a:buNone/>
            </a:pPr>
            <a:r>
              <a:rPr lang="en-US" sz="1300" dirty="0">
                <a:solidFill>
                  <a:srgbClr val="FFFFFF"/>
                </a:solidFill>
                <a:latin typeface="Arial" pitchFamily="34" charset="0"/>
                <a:ea typeface="Arial" pitchFamily="34" charset="-122"/>
                <a:cs typeface="Arial" pitchFamily="34" charset="-120"/>
              </a:rPr>
              <a:t>"This isn't a search engine. This is a </a:t>
            </a:r>
            <a:pPr algn="l" indent="0" marL="0">
              <a:spcBef>
                <a:spcPts val="1300"/>
              </a:spcBef>
              <a:spcAft>
                <a:spcPts val="1300"/>
              </a:spcAft>
              <a:buNone/>
            </a:pPr>
            <a:r>
              <a:rPr lang="en-US" sz="1300" i="1" dirty="0">
                <a:solidFill>
                  <a:srgbClr val="F1C40F"/>
                </a:solidFill>
                <a:latin typeface="Arial" pitchFamily="34" charset="0"/>
                <a:ea typeface="Arial" pitchFamily="34" charset="-122"/>
                <a:cs typeface="Arial" pitchFamily="34" charset="-120"/>
              </a:rPr>
              <a:t>thinking partner</a:t>
            </a:r>
            <a:pPr algn="l" indent="0" marL="0">
              <a:spcBef>
                <a:spcPts val="1300"/>
              </a:spcBef>
              <a:spcAft>
                <a:spcPts val="1300"/>
              </a:spcAft>
              <a:buNone/>
            </a:pPr>
            <a:r>
              <a:rPr lang="en-US" sz="1300" dirty="0">
                <a:solidFill>
                  <a:srgbClr val="FFFFFF"/>
                </a:solidFill>
                <a:latin typeface="Arial" pitchFamily="34" charset="0"/>
                <a:ea typeface="Arial" pitchFamily="34" charset="-122"/>
                <a:cs typeface="Arial" pitchFamily="34" charset="-120"/>
              </a:rPr>
              <a:t>."</a:t>
            </a:r>
            <a:endParaRPr lang="en-US" sz="1300" dirty="0"/>
          </a:p>
        </p:txBody>
      </p:sp>
      <p:sp>
        <p:nvSpPr>
          <p:cNvPr id="9" name="Text 7"/>
          <p:cNvSpPr/>
          <p:nvPr/>
        </p:nvSpPr>
        <p:spPr>
          <a:xfrm>
            <a:off x="4825901" y="0"/>
            <a:ext cx="4318099" cy="5143500"/>
          </a:xfrm>
          <a:prstGeom prst="rect">
            <a:avLst/>
          </a:prstGeom>
          <a:solidFill>
            <a:srgbClr val="00D4FF">
              <a:alpha val="4000"/>
            </a:srgbClr>
          </a:solidFill>
          <a:ln/>
        </p:spPr>
        <p:txBody>
          <a:bodyPr wrap="square" rtlCol="0" anchor="ctr"/>
          <a:lstStyle/>
          <a:p>
            <a:pPr indent="0" marL="0">
              <a:buNone/>
            </a:pPr>
            <a:endParaRPr lang="en-US" dirty="0"/>
          </a:p>
        </p:txBody>
      </p:sp>
      <p:sp>
        <p:nvSpPr>
          <p:cNvPr id="10" name="Shape 8"/>
          <p:cNvSpPr/>
          <p:nvPr/>
        </p:nvSpPr>
        <p:spPr>
          <a:xfrm>
            <a:off x="4835426" y="0"/>
            <a:ext cx="0" cy="5143500"/>
          </a:xfrm>
          <a:prstGeom prst="line">
            <a:avLst/>
          </a:prstGeom>
          <a:noFill/>
          <a:ln w="19050">
            <a:solidFill>
              <a:srgbClr val="00D4FF"/>
            </a:solidFill>
            <a:prstDash val="solid"/>
          </a:ln>
        </p:spPr>
      </p:sp>
      <p:sp>
        <p:nvSpPr>
          <p:cNvPr id="11" name="Text 9"/>
          <p:cNvSpPr/>
          <p:nvPr/>
        </p:nvSpPr>
        <p:spPr>
          <a:xfrm>
            <a:off x="5225951" y="508099"/>
            <a:ext cx="3607790" cy="142875"/>
          </a:xfrm>
          <a:prstGeom prst="rect">
            <a:avLst/>
          </a:prstGeom>
          <a:noFill/>
          <a:ln/>
        </p:spPr>
        <p:txBody>
          <a:bodyPr wrap="square" lIns="0" tIns="0" rIns="0" bIns="0" rtlCol="0" anchor="t"/>
          <a:lstStyle/>
          <a:p>
            <a:pPr algn="l" indent="0" marL="0">
              <a:spcBef>
                <a:spcPts val="1000"/>
              </a:spcBef>
              <a:spcAft>
                <a:spcPts val="1200"/>
              </a:spcAft>
              <a:buNone/>
            </a:pPr>
            <a:r>
              <a:rPr lang="en-US" sz="1000" dirty="0">
                <a:solidFill>
                  <a:srgbClr val="00D4FF"/>
                </a:solidFill>
                <a:latin typeface="Arial" pitchFamily="34" charset="0"/>
                <a:ea typeface="Arial" pitchFamily="34" charset="-122"/>
                <a:cs typeface="Arial" pitchFamily="34" charset="-120"/>
              </a:rPr>
              <a:t>THE EVOLUTION</a:t>
            </a:r>
            <a:endParaRPr lang="en-US" sz="1000" dirty="0"/>
          </a:p>
        </p:txBody>
      </p:sp>
      <p:sp>
        <p:nvSpPr>
          <p:cNvPr id="12" name="Text 10"/>
          <p:cNvSpPr/>
          <p:nvPr/>
        </p:nvSpPr>
        <p:spPr>
          <a:xfrm>
            <a:off x="5225951" y="968425"/>
            <a:ext cx="284937" cy="200025"/>
          </a:xfrm>
          <a:prstGeom prst="rect">
            <a:avLst/>
          </a:prstGeom>
          <a:noFill/>
          <a:ln/>
        </p:spPr>
        <p:txBody>
          <a:bodyPr wrap="square" lIns="0" tIns="0" rIns="0" bIns="0" rtlCol="0" anchor="t"/>
          <a:lstStyle/>
          <a:p>
            <a:pPr algn="l" indent="0" marL="0">
              <a:spcBef>
                <a:spcPts val="1300"/>
              </a:spcBef>
              <a:spcAft>
                <a:spcPts val="1300"/>
              </a:spcAft>
              <a:buNone/>
            </a:pPr>
            <a:r>
              <a:rPr lang="en-US" sz="1300" b="1" dirty="0">
                <a:solidFill>
                  <a:srgbClr val="00D4FF"/>
                </a:solidFill>
                <a:latin typeface="Arial" pitchFamily="34" charset="0"/>
                <a:ea typeface="Arial" pitchFamily="34" charset="-122"/>
                <a:cs typeface="Arial" pitchFamily="34" charset="-120"/>
              </a:rPr>
              <a:t>01</a:t>
            </a:r>
            <a:endParaRPr lang="en-US" sz="1300" dirty="0"/>
          </a:p>
        </p:txBody>
      </p:sp>
      <p:sp>
        <p:nvSpPr>
          <p:cNvPr id="13" name="Text 11"/>
          <p:cNvSpPr/>
          <p:nvPr/>
        </p:nvSpPr>
        <p:spPr>
          <a:xfrm>
            <a:off x="5505301" y="955774"/>
            <a:ext cx="3239360" cy="213271"/>
          </a:xfrm>
          <a:prstGeom prst="rect">
            <a:avLst/>
          </a:prstGeom>
          <a:noFill/>
          <a:ln/>
        </p:spPr>
        <p:txBody>
          <a:bodyPr wrap="square" lIns="0" tIns="0" rIns="0" bIns="0" rtlCol="0" anchor="t"/>
          <a:lstStyle/>
          <a:p>
            <a:pPr algn="l" indent="0" marL="0">
              <a:lnSpc>
                <a:spcPts val="1680"/>
              </a:lnSpc>
              <a:spcBef>
                <a:spcPts val="1200"/>
              </a:spcBef>
              <a:spcAft>
                <a:spcPts val="1200"/>
              </a:spcAft>
              <a:buNone/>
            </a:pPr>
            <a:r>
              <a:rPr lang="en-US" sz="1200" b="1" dirty="0">
                <a:solidFill>
                  <a:srgbClr val="E0E0E0"/>
                </a:solidFill>
                <a:latin typeface="Arial" pitchFamily="34" charset="0"/>
                <a:ea typeface="Arial" pitchFamily="34" charset="-122"/>
                <a:cs typeface="Arial" pitchFamily="34" charset="-120"/>
              </a:rPr>
              <a:t>ChatGPT</a:t>
            </a:r>
            <a:pPr algn="l" indent="0" marL="0">
              <a:lnSpc>
                <a:spcPts val="1680"/>
              </a:lnSpc>
              <a:spcBef>
                <a:spcPts val="1200"/>
              </a:spcBef>
              <a:spcAft>
                <a:spcPts val="1200"/>
              </a:spcAft>
              <a:buNone/>
            </a:pPr>
            <a:r>
              <a:rPr lang="en-US" sz="1200" dirty="0">
                <a:solidFill>
                  <a:srgbClr val="E0E0E0"/>
                </a:solidFill>
                <a:latin typeface="Arial" pitchFamily="34" charset="0"/>
                <a:ea typeface="Arial" pitchFamily="34" charset="-122"/>
                <a:cs typeface="Arial" pitchFamily="34" charset="-120"/>
              </a:rPr>
              <a:t> — clinical Q&amp;A, literature summaries</a:t>
            </a:r>
            <a:endParaRPr lang="en-US" sz="1200" dirty="0"/>
          </a:p>
        </p:txBody>
      </p:sp>
      <p:sp>
        <p:nvSpPr>
          <p:cNvPr id="14" name="Text 12"/>
          <p:cNvSpPr/>
          <p:nvPr/>
        </p:nvSpPr>
        <p:spPr>
          <a:xfrm>
            <a:off x="5505301" y="1321445"/>
            <a:ext cx="3239360" cy="142875"/>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9B59B6"/>
                </a:solidFill>
                <a:latin typeface="Arial" pitchFamily="34" charset="0"/>
                <a:ea typeface="Arial" pitchFamily="34" charset="-122"/>
                <a:cs typeface="Arial" pitchFamily="34" charset="-120"/>
              </a:rPr>
              <a:t>Still copy-pasting into the browser</a:t>
            </a:r>
            <a:endParaRPr lang="en-US" sz="1000" dirty="0"/>
          </a:p>
        </p:txBody>
      </p:sp>
      <p:sp>
        <p:nvSpPr>
          <p:cNvPr id="15" name="Text 13"/>
          <p:cNvSpPr/>
          <p:nvPr/>
        </p:nvSpPr>
        <p:spPr>
          <a:xfrm>
            <a:off x="5225951" y="1883271"/>
            <a:ext cx="284937" cy="200025"/>
          </a:xfrm>
          <a:prstGeom prst="rect">
            <a:avLst/>
          </a:prstGeom>
          <a:noFill/>
          <a:ln/>
        </p:spPr>
        <p:txBody>
          <a:bodyPr wrap="square" lIns="0" tIns="0" rIns="0" bIns="0" rtlCol="0" anchor="t"/>
          <a:lstStyle/>
          <a:p>
            <a:pPr algn="l" indent="0" marL="0">
              <a:spcBef>
                <a:spcPts val="1300"/>
              </a:spcBef>
              <a:spcAft>
                <a:spcPts val="1300"/>
              </a:spcAft>
              <a:buNone/>
            </a:pPr>
            <a:r>
              <a:rPr lang="en-US" sz="1300" b="1" dirty="0">
                <a:solidFill>
                  <a:srgbClr val="00D4FF"/>
                </a:solidFill>
                <a:latin typeface="Arial" pitchFamily="34" charset="0"/>
                <a:ea typeface="Arial" pitchFamily="34" charset="-122"/>
                <a:cs typeface="Arial" pitchFamily="34" charset="-120"/>
              </a:rPr>
              <a:t>02</a:t>
            </a:r>
            <a:endParaRPr lang="en-US" sz="1300" dirty="0"/>
          </a:p>
        </p:txBody>
      </p:sp>
      <p:sp>
        <p:nvSpPr>
          <p:cNvPr id="16" name="Text 14"/>
          <p:cNvSpPr/>
          <p:nvPr/>
        </p:nvSpPr>
        <p:spPr>
          <a:xfrm>
            <a:off x="5505301" y="1870621"/>
            <a:ext cx="3322853" cy="426541"/>
          </a:xfrm>
          <a:prstGeom prst="rect">
            <a:avLst/>
          </a:prstGeom>
          <a:noFill/>
          <a:ln/>
        </p:spPr>
        <p:txBody>
          <a:bodyPr wrap="square" lIns="0" tIns="0" rIns="0" bIns="0" rtlCol="0" anchor="t"/>
          <a:lstStyle/>
          <a:p>
            <a:pPr algn="l" indent="0" marL="0">
              <a:lnSpc>
                <a:spcPts val="1680"/>
              </a:lnSpc>
              <a:spcBef>
                <a:spcPts val="1200"/>
              </a:spcBef>
              <a:spcAft>
                <a:spcPts val="1200"/>
              </a:spcAft>
              <a:buNone/>
            </a:pPr>
            <a:r>
              <a:rPr lang="en-US" sz="1200" b="1" dirty="0">
                <a:solidFill>
                  <a:srgbClr val="E0E0E0"/>
                </a:solidFill>
                <a:latin typeface="Arial" pitchFamily="34" charset="0"/>
                <a:ea typeface="Arial" pitchFamily="34" charset="-122"/>
                <a:cs typeface="Arial" pitchFamily="34" charset="-120"/>
              </a:rPr>
              <a:t>API + Python scripts</a:t>
            </a:r>
            <a:pPr algn="l" indent="0" marL="0">
              <a:lnSpc>
                <a:spcPts val="1680"/>
              </a:lnSpc>
              <a:spcBef>
                <a:spcPts val="1200"/>
              </a:spcBef>
              <a:spcAft>
                <a:spcPts val="1200"/>
              </a:spcAft>
              <a:buNone/>
            </a:pPr>
            <a:r>
              <a:rPr lang="en-US" sz="1200" dirty="0">
                <a:solidFill>
                  <a:srgbClr val="E0E0E0"/>
                </a:solidFill>
                <a:latin typeface="Arial" pitchFamily="34" charset="0"/>
                <a:ea typeface="Arial" pitchFamily="34" charset="-122"/>
                <a:cs typeface="Arial" pitchFamily="34" charset="-120"/>
              </a:rPr>
              <a:t> — first automation attempts</a:t>
            </a:r>
            <a:endParaRPr lang="en-US" sz="1200" dirty="0"/>
          </a:p>
        </p:txBody>
      </p:sp>
      <p:sp>
        <p:nvSpPr>
          <p:cNvPr id="17" name="Text 15"/>
          <p:cNvSpPr/>
          <p:nvPr/>
        </p:nvSpPr>
        <p:spPr>
          <a:xfrm>
            <a:off x="5505301" y="2449562"/>
            <a:ext cx="3322853" cy="142875"/>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9B59B6"/>
                </a:solidFill>
                <a:latin typeface="Arial" pitchFamily="34" charset="0"/>
                <a:ea typeface="Arial" pitchFamily="34" charset="-122"/>
                <a:cs typeface="Arial" pitchFamily="34" charset="-120"/>
              </a:rPr>
              <a:t>Research assistant bots via Telegram</a:t>
            </a:r>
            <a:endParaRPr lang="en-US" sz="1000" dirty="0"/>
          </a:p>
        </p:txBody>
      </p:sp>
      <p:sp>
        <p:nvSpPr>
          <p:cNvPr id="18" name="Text 16"/>
          <p:cNvSpPr/>
          <p:nvPr/>
        </p:nvSpPr>
        <p:spPr>
          <a:xfrm>
            <a:off x="5225951" y="3011388"/>
            <a:ext cx="284937" cy="200025"/>
          </a:xfrm>
          <a:prstGeom prst="rect">
            <a:avLst/>
          </a:prstGeom>
          <a:noFill/>
          <a:ln/>
        </p:spPr>
        <p:txBody>
          <a:bodyPr wrap="square" lIns="0" tIns="0" rIns="0" bIns="0" rtlCol="0" anchor="t"/>
          <a:lstStyle/>
          <a:p>
            <a:pPr algn="l" indent="0" marL="0">
              <a:spcBef>
                <a:spcPts val="1300"/>
              </a:spcBef>
              <a:spcAft>
                <a:spcPts val="1300"/>
              </a:spcAft>
              <a:buNone/>
            </a:pPr>
            <a:r>
              <a:rPr lang="en-US" sz="1300" b="1" dirty="0">
                <a:solidFill>
                  <a:srgbClr val="00D4FF"/>
                </a:solidFill>
                <a:latin typeface="Arial" pitchFamily="34" charset="0"/>
                <a:ea typeface="Arial" pitchFamily="34" charset="-122"/>
                <a:cs typeface="Arial" pitchFamily="34" charset="-120"/>
              </a:rPr>
              <a:t>03</a:t>
            </a:r>
            <a:endParaRPr lang="en-US" sz="1300" dirty="0"/>
          </a:p>
        </p:txBody>
      </p:sp>
      <p:sp>
        <p:nvSpPr>
          <p:cNvPr id="19" name="Text 17"/>
          <p:cNvSpPr/>
          <p:nvPr/>
        </p:nvSpPr>
        <p:spPr>
          <a:xfrm>
            <a:off x="5505301" y="2998738"/>
            <a:ext cx="3322853" cy="426541"/>
          </a:xfrm>
          <a:prstGeom prst="rect">
            <a:avLst/>
          </a:prstGeom>
          <a:noFill/>
          <a:ln/>
        </p:spPr>
        <p:txBody>
          <a:bodyPr wrap="square" lIns="0" tIns="0" rIns="0" bIns="0" rtlCol="0" anchor="t"/>
          <a:lstStyle/>
          <a:p>
            <a:pPr algn="l" indent="0" marL="0">
              <a:lnSpc>
                <a:spcPts val="1680"/>
              </a:lnSpc>
              <a:spcBef>
                <a:spcPts val="1200"/>
              </a:spcBef>
              <a:spcAft>
                <a:spcPts val="1200"/>
              </a:spcAft>
              <a:buNone/>
            </a:pPr>
            <a:r>
              <a:rPr lang="en-US" sz="1200" b="1" dirty="0">
                <a:solidFill>
                  <a:srgbClr val="E0E0E0"/>
                </a:solidFill>
                <a:latin typeface="Arial" pitchFamily="34" charset="0"/>
                <a:ea typeface="Arial" pitchFamily="34" charset="-122"/>
                <a:cs typeface="Arial" pitchFamily="34" charset="-120"/>
              </a:rPr>
              <a:t>Claude Code</a:t>
            </a:r>
            <a:pPr algn="l" indent="0" marL="0">
              <a:lnSpc>
                <a:spcPts val="1680"/>
              </a:lnSpc>
              <a:spcBef>
                <a:spcPts val="1200"/>
              </a:spcBef>
              <a:spcAft>
                <a:spcPts val="1200"/>
              </a:spcAft>
              <a:buNone/>
            </a:pPr>
            <a:r>
              <a:rPr lang="en-US" sz="1200" dirty="0">
                <a:solidFill>
                  <a:srgbClr val="E0E0E0"/>
                </a:solidFill>
                <a:latin typeface="Arial" pitchFamily="34" charset="0"/>
                <a:ea typeface="Arial" pitchFamily="34" charset="-122"/>
                <a:cs typeface="Arial" pitchFamily="34" charset="-120"/>
              </a:rPr>
              <a:t> — the terminal becomes my home</a:t>
            </a:r>
            <a:endParaRPr lang="en-US" sz="1200" dirty="0"/>
          </a:p>
        </p:txBody>
      </p:sp>
      <p:sp>
        <p:nvSpPr>
          <p:cNvPr id="20" name="Text 18"/>
          <p:cNvSpPr/>
          <p:nvPr/>
        </p:nvSpPr>
        <p:spPr>
          <a:xfrm>
            <a:off x="5505301" y="3577679"/>
            <a:ext cx="3322853" cy="142875"/>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9B59B6"/>
                </a:solidFill>
                <a:latin typeface="Arial" pitchFamily="34" charset="0"/>
                <a:ea typeface="Arial" pitchFamily="34" charset="-122"/>
                <a:cs typeface="Arial" pitchFamily="34" charset="-120"/>
              </a:rPr>
              <a:t>Agentic loops, file system access, real tools</a:t>
            </a:r>
            <a:endParaRPr lang="en-US" sz="1000" dirty="0"/>
          </a:p>
        </p:txBody>
      </p:sp>
      <p:sp>
        <p:nvSpPr>
          <p:cNvPr id="21" name="Text 19"/>
          <p:cNvSpPr/>
          <p:nvPr/>
        </p:nvSpPr>
        <p:spPr>
          <a:xfrm>
            <a:off x="5225951" y="4139505"/>
            <a:ext cx="284937" cy="200025"/>
          </a:xfrm>
          <a:prstGeom prst="rect">
            <a:avLst/>
          </a:prstGeom>
          <a:noFill/>
          <a:ln/>
        </p:spPr>
        <p:txBody>
          <a:bodyPr wrap="square" lIns="0" tIns="0" rIns="0" bIns="0" rtlCol="0" anchor="t"/>
          <a:lstStyle/>
          <a:p>
            <a:pPr algn="l" indent="0" marL="0">
              <a:spcBef>
                <a:spcPts val="1300"/>
              </a:spcBef>
              <a:spcAft>
                <a:spcPts val="1300"/>
              </a:spcAft>
              <a:buNone/>
            </a:pPr>
            <a:r>
              <a:rPr lang="en-US" sz="1300" b="1" dirty="0">
                <a:solidFill>
                  <a:srgbClr val="00D4FF"/>
                </a:solidFill>
                <a:latin typeface="Arial" pitchFamily="34" charset="0"/>
                <a:ea typeface="Arial" pitchFamily="34" charset="-122"/>
                <a:cs typeface="Arial" pitchFamily="34" charset="-120"/>
              </a:rPr>
              <a:t>04</a:t>
            </a:r>
            <a:endParaRPr lang="en-US" sz="1300" dirty="0"/>
          </a:p>
        </p:txBody>
      </p:sp>
      <p:sp>
        <p:nvSpPr>
          <p:cNvPr id="22" name="Text 20"/>
          <p:cNvSpPr/>
          <p:nvPr/>
        </p:nvSpPr>
        <p:spPr>
          <a:xfrm>
            <a:off x="5505301" y="4126855"/>
            <a:ext cx="3300234" cy="213271"/>
          </a:xfrm>
          <a:prstGeom prst="rect">
            <a:avLst/>
          </a:prstGeom>
          <a:noFill/>
          <a:ln/>
        </p:spPr>
        <p:txBody>
          <a:bodyPr wrap="square" lIns="0" tIns="0" rIns="0" bIns="0" rtlCol="0" anchor="t"/>
          <a:lstStyle/>
          <a:p>
            <a:pPr algn="l" indent="0" marL="0">
              <a:lnSpc>
                <a:spcPts val="1680"/>
              </a:lnSpc>
              <a:spcBef>
                <a:spcPts val="1200"/>
              </a:spcBef>
              <a:spcAft>
                <a:spcPts val="1200"/>
              </a:spcAft>
              <a:buNone/>
            </a:pPr>
            <a:r>
              <a:rPr lang="en-US" sz="1200" b="1" dirty="0">
                <a:solidFill>
                  <a:srgbClr val="E0E0E0"/>
                </a:solidFill>
                <a:latin typeface="Arial" pitchFamily="34" charset="0"/>
                <a:ea typeface="Arial" pitchFamily="34" charset="-122"/>
                <a:cs typeface="Arial" pitchFamily="34" charset="-120"/>
              </a:rPr>
              <a:t>Agent Ecosystem</a:t>
            </a:r>
            <a:pPr algn="l" indent="0" marL="0">
              <a:lnSpc>
                <a:spcPts val="1680"/>
              </a:lnSpc>
              <a:spcBef>
                <a:spcPts val="1200"/>
              </a:spcBef>
              <a:spcAft>
                <a:spcPts val="1200"/>
              </a:spcAft>
              <a:buNone/>
            </a:pPr>
            <a:r>
              <a:rPr lang="en-US" sz="1200" dirty="0">
                <a:solidFill>
                  <a:srgbClr val="E0E0E0"/>
                </a:solidFill>
                <a:latin typeface="Arial" pitchFamily="34" charset="0"/>
                <a:ea typeface="Arial" pitchFamily="34" charset="-122"/>
                <a:cs typeface="Arial" pitchFamily="34" charset="-120"/>
              </a:rPr>
              <a:t> — 24/7 AI team on Mac Mini</a:t>
            </a:r>
            <a:endParaRPr lang="en-US" sz="1200" dirty="0"/>
          </a:p>
        </p:txBody>
      </p:sp>
      <p:sp>
        <p:nvSpPr>
          <p:cNvPr id="23" name="Text 21"/>
          <p:cNvSpPr/>
          <p:nvPr/>
        </p:nvSpPr>
        <p:spPr>
          <a:xfrm>
            <a:off x="5505301" y="4492526"/>
            <a:ext cx="3300234" cy="142875"/>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9B59B6"/>
                </a:solidFill>
                <a:latin typeface="Arial" pitchFamily="34" charset="0"/>
                <a:ea typeface="Arial" pitchFamily="34" charset="-122"/>
                <a:cs typeface="Arial" pitchFamily="34" charset="-120"/>
              </a:rPr>
              <a:t>Hermes, Serie, Watchdog, paper-review agents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50A1E"/>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9B59B6"/>
          </a:solidFill>
          <a:ln/>
        </p:spPr>
        <p:txBody>
          <a:bodyPr wrap="square" rtlCol="0" anchor="ctr"/>
          <a:lstStyle/>
          <a:p>
            <a:pPr indent="0" marL="0">
              <a:buNone/>
            </a:pPr>
            <a:endParaRPr lang="en-US" dirty="0"/>
          </a:p>
        </p:txBody>
      </p:sp>
      <p:sp>
        <p:nvSpPr>
          <p:cNvPr id="3" name="Text 1"/>
          <p:cNvSpPr/>
          <p:nvPr/>
        </p:nvSpPr>
        <p:spPr>
          <a:xfrm>
            <a:off x="406301" y="548729"/>
            <a:ext cx="8498026" cy="133350"/>
          </a:xfrm>
          <a:prstGeom prst="rect">
            <a:avLst/>
          </a:prstGeom>
          <a:noFill/>
          <a:ln/>
        </p:spPr>
        <p:txBody>
          <a:bodyPr wrap="square" lIns="0" tIns="0" rIns="0" bIns="0" rtlCol="0" anchor="t"/>
          <a:lstStyle/>
          <a:p>
            <a:pPr algn="l" indent="0" marL="0">
              <a:spcBef>
                <a:spcPts val="900"/>
              </a:spcBef>
              <a:spcAft>
                <a:spcPts val="600"/>
              </a:spcAft>
              <a:buNone/>
            </a:pPr>
            <a:r>
              <a:rPr lang="en-US" sz="900" dirty="0">
                <a:solidFill>
                  <a:srgbClr val="9B59B6"/>
                </a:solidFill>
                <a:latin typeface="Arial" pitchFamily="34" charset="0"/>
                <a:ea typeface="Arial" pitchFamily="34" charset="-122"/>
                <a:cs typeface="Arial" pitchFamily="34" charset="-120"/>
              </a:rPr>
              <a:t>BEFORE vs AFTER</a:t>
            </a:r>
            <a:endParaRPr lang="en-US" sz="900" dirty="0"/>
          </a:p>
        </p:txBody>
      </p:sp>
      <p:sp>
        <p:nvSpPr>
          <p:cNvPr id="4" name="Text 2"/>
          <p:cNvSpPr/>
          <p:nvPr/>
        </p:nvSpPr>
        <p:spPr>
          <a:xfrm>
            <a:off x="406301" y="758279"/>
            <a:ext cx="8498026" cy="295275"/>
          </a:xfrm>
          <a:prstGeom prst="rect">
            <a:avLst/>
          </a:prstGeom>
          <a:noFill/>
          <a:ln/>
        </p:spPr>
        <p:txBody>
          <a:bodyPr wrap="square" lIns="0" tIns="0" rIns="0" bIns="0" rtlCol="0" anchor="t"/>
          <a:lstStyle/>
          <a:p>
            <a:pPr algn="l" indent="0" marL="0">
              <a:spcAft>
                <a:spcPts val="1200"/>
              </a:spcAft>
              <a:buNone/>
            </a:pPr>
            <a:r>
              <a:rPr lang="en-US" sz="2000" dirty="0">
                <a:solidFill>
                  <a:srgbClr val="FFFFFF"/>
                </a:solidFill>
                <a:latin typeface="Arial" pitchFamily="34" charset="0"/>
                <a:ea typeface="Arial" pitchFamily="34" charset="-122"/>
                <a:cs typeface="Arial" pitchFamily="34" charset="-120"/>
              </a:rPr>
              <a:t>My Workflow: </a:t>
            </a:r>
            <a:pPr algn="l" indent="0" marL="0">
              <a:spcAft>
                <a:spcPts val="1200"/>
              </a:spcAft>
              <a:buNone/>
            </a:pPr>
            <a:r>
              <a:rPr lang="en-US" sz="2000" b="1" dirty="0">
                <a:solidFill>
                  <a:srgbClr val="9B59B6"/>
                </a:solidFill>
                <a:latin typeface="Arial" pitchFamily="34" charset="0"/>
                <a:ea typeface="Arial" pitchFamily="34" charset="-122"/>
                <a:cs typeface="Arial" pitchFamily="34" charset="-120"/>
              </a:rPr>
              <a:t>Before and After</a:t>
            </a:r>
            <a:pPr algn="l" indent="0" marL="0">
              <a:spcAft>
                <a:spcPts val="1200"/>
              </a:spcAft>
              <a:buNone/>
            </a:pPr>
            <a:r>
              <a:rPr lang="en-US" sz="2000" dirty="0">
                <a:solidFill>
                  <a:srgbClr val="FFFFFF"/>
                </a:solidFill>
                <a:latin typeface="Arial" pitchFamily="34" charset="0"/>
                <a:ea typeface="Arial" pitchFamily="34" charset="-122"/>
                <a:cs typeface="Arial" pitchFamily="34" charset="-120"/>
              </a:rPr>
              <a:t> Claude Code</a:t>
            </a:r>
            <a:endParaRPr lang="en-US" sz="2000" dirty="0"/>
          </a:p>
        </p:txBody>
      </p:sp>
      <p:sp>
        <p:nvSpPr>
          <p:cNvPr id="5" name="Text 3"/>
          <p:cNvSpPr/>
          <p:nvPr/>
        </p:nvSpPr>
        <p:spPr>
          <a:xfrm>
            <a:off x="406301" y="1205954"/>
            <a:ext cx="3835598" cy="295275"/>
          </a:xfrm>
          <a:prstGeom prst="rect">
            <a:avLst/>
          </a:prstGeom>
          <a:solidFill>
            <a:srgbClr val="2C1810"/>
          </a:solidFill>
          <a:ln/>
        </p:spPr>
        <p:txBody>
          <a:bodyPr wrap="square" rtlCol="0" anchor="ctr"/>
          <a:lstStyle/>
          <a:p>
            <a:pPr indent="0" marL="0">
              <a:buNone/>
            </a:pPr>
            <a:endParaRPr lang="en-US" dirty="0"/>
          </a:p>
        </p:txBody>
      </p:sp>
      <p:sp>
        <p:nvSpPr>
          <p:cNvPr id="6" name="Text 4"/>
          <p:cNvSpPr/>
          <p:nvPr/>
        </p:nvSpPr>
        <p:spPr>
          <a:xfrm>
            <a:off x="533251" y="1282154"/>
            <a:ext cx="3653332" cy="142875"/>
          </a:xfrm>
          <a:prstGeom prst="rect">
            <a:avLst/>
          </a:prstGeom>
          <a:noFill/>
          <a:ln/>
        </p:spPr>
        <p:txBody>
          <a:bodyPr wrap="square" lIns="0" tIns="0" rIns="0" bIns="0" rtlCol="0" anchor="t"/>
          <a:lstStyle/>
          <a:p>
            <a:pPr algn="l" indent="0" marL="0">
              <a:buNone/>
            </a:pPr>
            <a:r>
              <a:rPr lang="en-US" sz="1000" b="1" dirty="0">
                <a:solidFill>
                  <a:srgbClr val="E74C3C"/>
                </a:solidFill>
                <a:latin typeface="Arial" pitchFamily="34" charset="0"/>
                <a:ea typeface="Arial" pitchFamily="34" charset="-122"/>
                <a:cs typeface="Arial" pitchFamily="34" charset="-120"/>
              </a:rPr>
              <a:t>BEFORE (2022)</a:t>
            </a:r>
            <a:endParaRPr lang="en-US" sz="1000" dirty="0"/>
          </a:p>
        </p:txBody>
      </p:sp>
      <p:sp>
        <p:nvSpPr>
          <p:cNvPr id="7" name="Text 5"/>
          <p:cNvSpPr/>
          <p:nvPr/>
        </p:nvSpPr>
        <p:spPr>
          <a:xfrm>
            <a:off x="406301" y="1729680"/>
            <a:ext cx="181255" cy="142875"/>
          </a:xfrm>
          <a:prstGeom prst="rect">
            <a:avLst/>
          </a:prstGeom>
          <a:noFill/>
          <a:ln/>
        </p:spPr>
        <p:txBody>
          <a:bodyPr wrap="square" lIns="0" tIns="0" rIns="0" bIns="0" rtlCol="0" anchor="t"/>
          <a:lstStyle/>
          <a:p>
            <a:pPr algn="l" indent="0" marL="0">
              <a:spcBef>
                <a:spcPts val="1000"/>
              </a:spcBef>
              <a:spcAft>
                <a:spcPts val="1000"/>
              </a:spcAft>
              <a:buNone/>
            </a:pPr>
            <a:r>
              <a:rPr lang="en-US" sz="1000" b="1" dirty="0">
                <a:solidFill>
                  <a:srgbClr val="E74C3C"/>
                </a:solidFill>
                <a:latin typeface="Arial" pitchFamily="34" charset="0"/>
                <a:ea typeface="Arial" pitchFamily="34" charset="-122"/>
                <a:cs typeface="Arial" pitchFamily="34" charset="-120"/>
              </a:rPr>
              <a:t>✗</a:t>
            </a:r>
            <a:endParaRPr lang="en-US" sz="1000" dirty="0"/>
          </a:p>
        </p:txBody>
      </p:sp>
      <p:sp>
        <p:nvSpPr>
          <p:cNvPr id="8" name="Text 6"/>
          <p:cNvSpPr/>
          <p:nvPr/>
        </p:nvSpPr>
        <p:spPr>
          <a:xfrm>
            <a:off x="584002" y="1729680"/>
            <a:ext cx="2560490" cy="164902"/>
          </a:xfrm>
          <a:prstGeom prst="rect">
            <a:avLst/>
          </a:prstGeom>
          <a:noFill/>
          <a:ln/>
        </p:spPr>
        <p:txBody>
          <a:bodyPr wrap="square" lIns="0" tIns="0" rIns="0" bIns="0" rtlCol="0" anchor="t"/>
          <a:lstStyle/>
          <a:p>
            <a:pPr algn="l" indent="0" marL="0">
              <a:lnSpc>
                <a:spcPts val="1300"/>
              </a:lnSpc>
              <a:spcBef>
                <a:spcPts val="1000"/>
              </a:spcBef>
              <a:spcAft>
                <a:spcPts val="1000"/>
              </a:spcAft>
              <a:buNone/>
            </a:pPr>
            <a:r>
              <a:rPr lang="en-US" sz="1000" dirty="0">
                <a:solidFill>
                  <a:srgbClr val="D0D0D0"/>
                </a:solidFill>
                <a:latin typeface="Arial" pitchFamily="34" charset="0"/>
                <a:ea typeface="Arial" pitchFamily="34" charset="-122"/>
                <a:cs typeface="Arial" pitchFamily="34" charset="-120"/>
              </a:rPr>
              <a:t>Copy-paste between browser tabs and Word</a:t>
            </a:r>
            <a:endParaRPr lang="en-US" sz="1000" dirty="0"/>
          </a:p>
        </p:txBody>
      </p:sp>
      <p:sp>
        <p:nvSpPr>
          <p:cNvPr id="9" name="Text 7"/>
          <p:cNvSpPr/>
          <p:nvPr/>
        </p:nvSpPr>
        <p:spPr>
          <a:xfrm>
            <a:off x="406301" y="2211884"/>
            <a:ext cx="181255" cy="142875"/>
          </a:xfrm>
          <a:prstGeom prst="rect">
            <a:avLst/>
          </a:prstGeom>
          <a:noFill/>
          <a:ln/>
        </p:spPr>
        <p:txBody>
          <a:bodyPr wrap="square" lIns="0" tIns="0" rIns="0" bIns="0" rtlCol="0" anchor="t"/>
          <a:lstStyle/>
          <a:p>
            <a:pPr algn="l" indent="0" marL="0">
              <a:spcBef>
                <a:spcPts val="1000"/>
              </a:spcBef>
              <a:spcAft>
                <a:spcPts val="1000"/>
              </a:spcAft>
              <a:buNone/>
            </a:pPr>
            <a:r>
              <a:rPr lang="en-US" sz="1000" b="1" dirty="0">
                <a:solidFill>
                  <a:srgbClr val="E74C3C"/>
                </a:solidFill>
                <a:latin typeface="Arial" pitchFamily="34" charset="0"/>
                <a:ea typeface="Arial" pitchFamily="34" charset="-122"/>
                <a:cs typeface="Arial" pitchFamily="34" charset="-120"/>
              </a:rPr>
              <a:t>✗</a:t>
            </a:r>
            <a:endParaRPr lang="en-US" sz="1000" dirty="0"/>
          </a:p>
        </p:txBody>
      </p:sp>
      <p:sp>
        <p:nvSpPr>
          <p:cNvPr id="10" name="Text 8"/>
          <p:cNvSpPr/>
          <p:nvPr/>
        </p:nvSpPr>
        <p:spPr>
          <a:xfrm>
            <a:off x="584002" y="2211884"/>
            <a:ext cx="2397148" cy="164902"/>
          </a:xfrm>
          <a:prstGeom prst="rect">
            <a:avLst/>
          </a:prstGeom>
          <a:noFill/>
          <a:ln/>
        </p:spPr>
        <p:txBody>
          <a:bodyPr wrap="square" lIns="0" tIns="0" rIns="0" bIns="0" rtlCol="0" anchor="t"/>
          <a:lstStyle/>
          <a:p>
            <a:pPr algn="l" indent="0" marL="0">
              <a:lnSpc>
                <a:spcPts val="1300"/>
              </a:lnSpc>
              <a:spcBef>
                <a:spcPts val="1000"/>
              </a:spcBef>
              <a:spcAft>
                <a:spcPts val="1000"/>
              </a:spcAft>
              <a:buNone/>
            </a:pPr>
            <a:r>
              <a:rPr lang="en-US" sz="1000" dirty="0">
                <a:solidFill>
                  <a:srgbClr val="D0D0D0"/>
                </a:solidFill>
                <a:latin typeface="Arial" pitchFamily="34" charset="0"/>
                <a:ea typeface="Arial" pitchFamily="34" charset="-122"/>
                <a:cs typeface="Arial" pitchFamily="34" charset="-120"/>
              </a:rPr>
              <a:t>Manual literature search: 2-3 hrs per topic</a:t>
            </a:r>
            <a:endParaRPr lang="en-US" sz="1000" dirty="0"/>
          </a:p>
        </p:txBody>
      </p:sp>
      <p:sp>
        <p:nvSpPr>
          <p:cNvPr id="11" name="Text 9"/>
          <p:cNvSpPr/>
          <p:nvPr/>
        </p:nvSpPr>
        <p:spPr>
          <a:xfrm>
            <a:off x="406301" y="2694087"/>
            <a:ext cx="181255" cy="142875"/>
          </a:xfrm>
          <a:prstGeom prst="rect">
            <a:avLst/>
          </a:prstGeom>
          <a:noFill/>
          <a:ln/>
        </p:spPr>
        <p:txBody>
          <a:bodyPr wrap="square" lIns="0" tIns="0" rIns="0" bIns="0" rtlCol="0" anchor="t"/>
          <a:lstStyle/>
          <a:p>
            <a:pPr algn="l" indent="0" marL="0">
              <a:spcBef>
                <a:spcPts val="1000"/>
              </a:spcBef>
              <a:spcAft>
                <a:spcPts val="1000"/>
              </a:spcAft>
              <a:buNone/>
            </a:pPr>
            <a:r>
              <a:rPr lang="en-US" sz="1000" b="1" dirty="0">
                <a:solidFill>
                  <a:srgbClr val="E74C3C"/>
                </a:solidFill>
                <a:latin typeface="Arial" pitchFamily="34" charset="0"/>
                <a:ea typeface="Arial" pitchFamily="34" charset="-122"/>
                <a:cs typeface="Arial" pitchFamily="34" charset="-120"/>
              </a:rPr>
              <a:t>✗</a:t>
            </a:r>
            <a:endParaRPr lang="en-US" sz="1000" dirty="0"/>
          </a:p>
        </p:txBody>
      </p:sp>
      <p:sp>
        <p:nvSpPr>
          <p:cNvPr id="12" name="Text 10"/>
          <p:cNvSpPr/>
          <p:nvPr/>
        </p:nvSpPr>
        <p:spPr>
          <a:xfrm>
            <a:off x="584002" y="2694087"/>
            <a:ext cx="2267507" cy="164902"/>
          </a:xfrm>
          <a:prstGeom prst="rect">
            <a:avLst/>
          </a:prstGeom>
          <a:noFill/>
          <a:ln/>
        </p:spPr>
        <p:txBody>
          <a:bodyPr wrap="square" lIns="0" tIns="0" rIns="0" bIns="0" rtlCol="0" anchor="t"/>
          <a:lstStyle/>
          <a:p>
            <a:pPr algn="l" indent="0" marL="0">
              <a:lnSpc>
                <a:spcPts val="1300"/>
              </a:lnSpc>
              <a:spcBef>
                <a:spcPts val="1000"/>
              </a:spcBef>
              <a:spcAft>
                <a:spcPts val="1000"/>
              </a:spcAft>
              <a:buNone/>
            </a:pPr>
            <a:r>
              <a:rPr lang="en-US" sz="1000" dirty="0">
                <a:solidFill>
                  <a:srgbClr val="D0D0D0"/>
                </a:solidFill>
                <a:latin typeface="Arial" pitchFamily="34" charset="0"/>
                <a:ea typeface="Arial" pitchFamily="34" charset="-122"/>
                <a:cs typeface="Arial" pitchFamily="34" charset="-120"/>
              </a:rPr>
              <a:t>Statistical analysis: hire a biostatistician</a:t>
            </a:r>
            <a:endParaRPr lang="en-US" sz="1000" dirty="0"/>
          </a:p>
        </p:txBody>
      </p:sp>
      <p:sp>
        <p:nvSpPr>
          <p:cNvPr id="13" name="Text 11"/>
          <p:cNvSpPr/>
          <p:nvPr/>
        </p:nvSpPr>
        <p:spPr>
          <a:xfrm>
            <a:off x="406301" y="3176290"/>
            <a:ext cx="181255" cy="142875"/>
          </a:xfrm>
          <a:prstGeom prst="rect">
            <a:avLst/>
          </a:prstGeom>
          <a:noFill/>
          <a:ln/>
        </p:spPr>
        <p:txBody>
          <a:bodyPr wrap="square" lIns="0" tIns="0" rIns="0" bIns="0" rtlCol="0" anchor="t"/>
          <a:lstStyle/>
          <a:p>
            <a:pPr algn="l" indent="0" marL="0">
              <a:spcBef>
                <a:spcPts val="1000"/>
              </a:spcBef>
              <a:spcAft>
                <a:spcPts val="1000"/>
              </a:spcAft>
              <a:buNone/>
            </a:pPr>
            <a:r>
              <a:rPr lang="en-US" sz="1000" b="1" dirty="0">
                <a:solidFill>
                  <a:srgbClr val="E74C3C"/>
                </a:solidFill>
                <a:latin typeface="Arial" pitchFamily="34" charset="0"/>
                <a:ea typeface="Arial" pitchFamily="34" charset="-122"/>
                <a:cs typeface="Arial" pitchFamily="34" charset="-120"/>
              </a:rPr>
              <a:t>✗</a:t>
            </a:r>
            <a:endParaRPr lang="en-US" sz="1000" dirty="0"/>
          </a:p>
        </p:txBody>
      </p:sp>
      <p:sp>
        <p:nvSpPr>
          <p:cNvPr id="14" name="Text 12"/>
          <p:cNvSpPr/>
          <p:nvPr/>
        </p:nvSpPr>
        <p:spPr>
          <a:xfrm>
            <a:off x="584002" y="3176290"/>
            <a:ext cx="1684577" cy="164902"/>
          </a:xfrm>
          <a:prstGeom prst="rect">
            <a:avLst/>
          </a:prstGeom>
          <a:noFill/>
          <a:ln/>
        </p:spPr>
        <p:txBody>
          <a:bodyPr wrap="square" lIns="0" tIns="0" rIns="0" bIns="0" rtlCol="0" anchor="t"/>
          <a:lstStyle/>
          <a:p>
            <a:pPr algn="l" indent="0" marL="0">
              <a:lnSpc>
                <a:spcPts val="1300"/>
              </a:lnSpc>
              <a:spcBef>
                <a:spcPts val="1000"/>
              </a:spcBef>
              <a:spcAft>
                <a:spcPts val="1000"/>
              </a:spcAft>
              <a:buNone/>
            </a:pPr>
            <a:r>
              <a:rPr lang="en-US" sz="1000" dirty="0">
                <a:solidFill>
                  <a:srgbClr val="D0D0D0"/>
                </a:solidFill>
                <a:latin typeface="Arial" pitchFamily="34" charset="0"/>
                <a:ea typeface="Arial" pitchFamily="34" charset="-122"/>
                <a:cs typeface="Arial" pitchFamily="34" charset="-120"/>
              </a:rPr>
              <a:t>Slides: 4 hrs per presentation</a:t>
            </a:r>
            <a:endParaRPr lang="en-US" sz="1000" dirty="0"/>
          </a:p>
        </p:txBody>
      </p:sp>
      <p:sp>
        <p:nvSpPr>
          <p:cNvPr id="15" name="Text 13"/>
          <p:cNvSpPr/>
          <p:nvPr/>
        </p:nvSpPr>
        <p:spPr>
          <a:xfrm>
            <a:off x="406301" y="3658493"/>
            <a:ext cx="181255" cy="142875"/>
          </a:xfrm>
          <a:prstGeom prst="rect">
            <a:avLst/>
          </a:prstGeom>
          <a:noFill/>
          <a:ln/>
        </p:spPr>
        <p:txBody>
          <a:bodyPr wrap="square" lIns="0" tIns="0" rIns="0" bIns="0" rtlCol="0" anchor="t"/>
          <a:lstStyle/>
          <a:p>
            <a:pPr algn="l" indent="0" marL="0">
              <a:spcBef>
                <a:spcPts val="1000"/>
              </a:spcBef>
              <a:spcAft>
                <a:spcPts val="1000"/>
              </a:spcAft>
              <a:buNone/>
            </a:pPr>
            <a:r>
              <a:rPr lang="en-US" sz="1000" b="1" dirty="0">
                <a:solidFill>
                  <a:srgbClr val="E74C3C"/>
                </a:solidFill>
                <a:latin typeface="Arial" pitchFamily="34" charset="0"/>
                <a:ea typeface="Arial" pitchFamily="34" charset="-122"/>
                <a:cs typeface="Arial" pitchFamily="34" charset="-120"/>
              </a:rPr>
              <a:t>✗</a:t>
            </a:r>
            <a:endParaRPr lang="en-US" sz="1000" dirty="0"/>
          </a:p>
        </p:txBody>
      </p:sp>
      <p:sp>
        <p:nvSpPr>
          <p:cNvPr id="16" name="Text 14"/>
          <p:cNvSpPr/>
          <p:nvPr/>
        </p:nvSpPr>
        <p:spPr>
          <a:xfrm>
            <a:off x="584002" y="3658493"/>
            <a:ext cx="2166860" cy="164902"/>
          </a:xfrm>
          <a:prstGeom prst="rect">
            <a:avLst/>
          </a:prstGeom>
          <a:noFill/>
          <a:ln/>
        </p:spPr>
        <p:txBody>
          <a:bodyPr wrap="square" lIns="0" tIns="0" rIns="0" bIns="0" rtlCol="0" anchor="t"/>
          <a:lstStyle/>
          <a:p>
            <a:pPr algn="l" indent="0" marL="0">
              <a:lnSpc>
                <a:spcPts val="1300"/>
              </a:lnSpc>
              <a:spcBef>
                <a:spcPts val="1000"/>
              </a:spcBef>
              <a:spcAft>
                <a:spcPts val="1000"/>
              </a:spcAft>
              <a:buNone/>
            </a:pPr>
            <a:r>
              <a:rPr lang="en-US" sz="1000" dirty="0">
                <a:solidFill>
                  <a:srgbClr val="D0D0D0"/>
                </a:solidFill>
                <a:latin typeface="Arial" pitchFamily="34" charset="0"/>
                <a:ea typeface="Arial" pitchFamily="34" charset="-122"/>
                <a:cs typeface="Arial" pitchFamily="34" charset="-120"/>
              </a:rPr>
              <a:t>Grant writing: weeks of iterating alone</a:t>
            </a:r>
            <a:endParaRPr lang="en-US" sz="1000" dirty="0"/>
          </a:p>
        </p:txBody>
      </p:sp>
      <p:sp>
        <p:nvSpPr>
          <p:cNvPr id="17" name="Text 15"/>
          <p:cNvSpPr/>
          <p:nvPr/>
        </p:nvSpPr>
        <p:spPr>
          <a:xfrm>
            <a:off x="4457700" y="2476500"/>
            <a:ext cx="233172" cy="266700"/>
          </a:xfrm>
          <a:prstGeom prst="rect">
            <a:avLst/>
          </a:prstGeom>
          <a:noFill/>
          <a:ln/>
        </p:spPr>
        <p:txBody>
          <a:bodyPr wrap="square" lIns="0" tIns="0" rIns="0" bIns="0" rtlCol="0" anchor="t"/>
          <a:lstStyle/>
          <a:p>
            <a:pPr algn="l" indent="0" marL="0">
              <a:spcBef>
                <a:spcPts val="1800"/>
              </a:spcBef>
              <a:spcAft>
                <a:spcPts val="1800"/>
              </a:spcAft>
              <a:buNone/>
            </a:pPr>
            <a:r>
              <a:rPr lang="en-US" sz="1800" b="1" dirty="0">
                <a:solidFill>
                  <a:srgbClr val="00D4FF"/>
                </a:solidFill>
                <a:latin typeface="Arial" pitchFamily="34" charset="0"/>
                <a:ea typeface="Arial" pitchFamily="34" charset="-122"/>
                <a:cs typeface="Arial" pitchFamily="34" charset="-120"/>
              </a:rPr>
              <a:t>→</a:t>
            </a:r>
            <a:endParaRPr lang="en-US" sz="1800" dirty="0"/>
          </a:p>
        </p:txBody>
      </p:sp>
      <p:sp>
        <p:nvSpPr>
          <p:cNvPr id="18" name="Text 16"/>
          <p:cNvSpPr/>
          <p:nvPr/>
        </p:nvSpPr>
        <p:spPr>
          <a:xfrm>
            <a:off x="4902101" y="1205954"/>
            <a:ext cx="3835598" cy="295275"/>
          </a:xfrm>
          <a:prstGeom prst="rect">
            <a:avLst/>
          </a:prstGeom>
          <a:solidFill>
            <a:srgbClr val="0A1E10"/>
          </a:solidFill>
          <a:ln/>
        </p:spPr>
        <p:txBody>
          <a:bodyPr wrap="square" rtlCol="0" anchor="ctr"/>
          <a:lstStyle/>
          <a:p>
            <a:pPr indent="0" marL="0">
              <a:buNone/>
            </a:pPr>
            <a:endParaRPr lang="en-US" dirty="0"/>
          </a:p>
        </p:txBody>
      </p:sp>
      <p:sp>
        <p:nvSpPr>
          <p:cNvPr id="19" name="Text 17"/>
          <p:cNvSpPr/>
          <p:nvPr/>
        </p:nvSpPr>
        <p:spPr>
          <a:xfrm>
            <a:off x="5029051" y="1282154"/>
            <a:ext cx="3653332" cy="142875"/>
          </a:xfrm>
          <a:prstGeom prst="rect">
            <a:avLst/>
          </a:prstGeom>
          <a:noFill/>
          <a:ln/>
        </p:spPr>
        <p:txBody>
          <a:bodyPr wrap="square" lIns="0" tIns="0" rIns="0" bIns="0" rtlCol="0" anchor="t"/>
          <a:lstStyle/>
          <a:p>
            <a:pPr algn="l" indent="0" marL="0">
              <a:buNone/>
            </a:pPr>
            <a:r>
              <a:rPr lang="en-US" sz="1000" b="1" dirty="0">
                <a:solidFill>
                  <a:srgbClr val="2ECC71"/>
                </a:solidFill>
                <a:latin typeface="Arial" pitchFamily="34" charset="0"/>
                <a:ea typeface="Arial" pitchFamily="34" charset="-122"/>
                <a:cs typeface="Arial" pitchFamily="34" charset="-120"/>
              </a:rPr>
              <a:t>AFTER (2025)</a:t>
            </a:r>
            <a:endParaRPr lang="en-US" sz="1000" dirty="0"/>
          </a:p>
        </p:txBody>
      </p:sp>
      <p:sp>
        <p:nvSpPr>
          <p:cNvPr id="20" name="Text 18"/>
          <p:cNvSpPr/>
          <p:nvPr/>
        </p:nvSpPr>
        <p:spPr>
          <a:xfrm>
            <a:off x="4902101" y="1729680"/>
            <a:ext cx="181255" cy="152400"/>
          </a:xfrm>
          <a:prstGeom prst="rect">
            <a:avLst/>
          </a:prstGeom>
          <a:noFill/>
          <a:ln/>
        </p:spPr>
        <p:txBody>
          <a:bodyPr wrap="square" lIns="0" tIns="0" rIns="0" bIns="0" rtlCol="0" anchor="t"/>
          <a:lstStyle/>
          <a:p>
            <a:pPr algn="l" indent="0" marL="0">
              <a:spcBef>
                <a:spcPts val="1000"/>
              </a:spcBef>
              <a:spcAft>
                <a:spcPts val="1000"/>
              </a:spcAft>
              <a:buNone/>
            </a:pPr>
            <a:r>
              <a:rPr lang="en-US" sz="1000" b="1" dirty="0">
                <a:solidFill>
                  <a:srgbClr val="2ECC71"/>
                </a:solidFill>
                <a:latin typeface="Arial" pitchFamily="34" charset="0"/>
                <a:ea typeface="Arial" pitchFamily="34" charset="-122"/>
                <a:cs typeface="Arial" pitchFamily="34" charset="-120"/>
              </a:rPr>
              <a:t>✓</a:t>
            </a:r>
            <a:endParaRPr lang="en-US" sz="1000" dirty="0"/>
          </a:p>
        </p:txBody>
      </p:sp>
      <p:sp>
        <p:nvSpPr>
          <p:cNvPr id="21" name="Text 19"/>
          <p:cNvSpPr/>
          <p:nvPr/>
        </p:nvSpPr>
        <p:spPr>
          <a:xfrm>
            <a:off x="5079802" y="1729680"/>
            <a:ext cx="2591458" cy="164902"/>
          </a:xfrm>
          <a:prstGeom prst="rect">
            <a:avLst/>
          </a:prstGeom>
          <a:noFill/>
          <a:ln/>
        </p:spPr>
        <p:txBody>
          <a:bodyPr wrap="square" lIns="0" tIns="0" rIns="0" bIns="0" rtlCol="0" anchor="t"/>
          <a:lstStyle/>
          <a:p>
            <a:pPr algn="l" indent="0" marL="0">
              <a:lnSpc>
                <a:spcPts val="1300"/>
              </a:lnSpc>
              <a:spcBef>
                <a:spcPts val="1000"/>
              </a:spcBef>
              <a:spcAft>
                <a:spcPts val="1000"/>
              </a:spcAft>
              <a:buNone/>
            </a:pPr>
            <a:r>
              <a:rPr lang="en-US" sz="1000" dirty="0">
                <a:solidFill>
                  <a:srgbClr val="D0D0D0"/>
                </a:solidFill>
                <a:latin typeface="Arial" pitchFamily="34" charset="0"/>
                <a:ea typeface="Arial" pitchFamily="34" charset="-122"/>
                <a:cs typeface="Arial" pitchFamily="34" charset="-120"/>
              </a:rPr>
              <a:t>Terminal: one command → complete pipeline</a:t>
            </a:r>
            <a:endParaRPr lang="en-US" sz="1000" dirty="0"/>
          </a:p>
        </p:txBody>
      </p:sp>
      <p:sp>
        <p:nvSpPr>
          <p:cNvPr id="22" name="Text 20"/>
          <p:cNvSpPr/>
          <p:nvPr/>
        </p:nvSpPr>
        <p:spPr>
          <a:xfrm>
            <a:off x="4902101" y="2211884"/>
            <a:ext cx="181255" cy="152400"/>
          </a:xfrm>
          <a:prstGeom prst="rect">
            <a:avLst/>
          </a:prstGeom>
          <a:noFill/>
          <a:ln/>
        </p:spPr>
        <p:txBody>
          <a:bodyPr wrap="square" lIns="0" tIns="0" rIns="0" bIns="0" rtlCol="0" anchor="t"/>
          <a:lstStyle/>
          <a:p>
            <a:pPr algn="l" indent="0" marL="0">
              <a:spcBef>
                <a:spcPts val="1000"/>
              </a:spcBef>
              <a:spcAft>
                <a:spcPts val="1000"/>
              </a:spcAft>
              <a:buNone/>
            </a:pPr>
            <a:r>
              <a:rPr lang="en-US" sz="1000" b="1" dirty="0">
                <a:solidFill>
                  <a:srgbClr val="2ECC71"/>
                </a:solidFill>
                <a:latin typeface="Arial" pitchFamily="34" charset="0"/>
                <a:ea typeface="Arial" pitchFamily="34" charset="-122"/>
                <a:cs typeface="Arial" pitchFamily="34" charset="-120"/>
              </a:rPr>
              <a:t>✓</a:t>
            </a:r>
            <a:endParaRPr lang="en-US" sz="1000" dirty="0"/>
          </a:p>
        </p:txBody>
      </p:sp>
      <p:sp>
        <p:nvSpPr>
          <p:cNvPr id="23" name="Text 21"/>
          <p:cNvSpPr/>
          <p:nvPr/>
        </p:nvSpPr>
        <p:spPr>
          <a:xfrm>
            <a:off x="5079802" y="2211884"/>
            <a:ext cx="2872448" cy="164902"/>
          </a:xfrm>
          <a:prstGeom prst="rect">
            <a:avLst/>
          </a:prstGeom>
          <a:noFill/>
          <a:ln/>
        </p:spPr>
        <p:txBody>
          <a:bodyPr wrap="square" lIns="0" tIns="0" rIns="0" bIns="0" rtlCol="0" anchor="t"/>
          <a:lstStyle/>
          <a:p>
            <a:pPr algn="l" indent="0" marL="0">
              <a:lnSpc>
                <a:spcPts val="1300"/>
              </a:lnSpc>
              <a:spcBef>
                <a:spcPts val="1000"/>
              </a:spcBef>
              <a:spcAft>
                <a:spcPts val="1000"/>
              </a:spcAft>
              <a:buNone/>
            </a:pPr>
            <a:r>
              <a:rPr lang="en-US" sz="1000" dirty="0">
                <a:solidFill>
                  <a:srgbClr val="D0D0D0"/>
                </a:solidFill>
                <a:latin typeface="Arial" pitchFamily="34" charset="0"/>
                <a:ea typeface="Arial" pitchFamily="34" charset="-122"/>
                <a:cs typeface="Arial" pitchFamily="34" charset="-120"/>
              </a:rPr>
              <a:t>Serie agent: overnight PubMed review by morning</a:t>
            </a:r>
            <a:endParaRPr lang="en-US" sz="1000" dirty="0"/>
          </a:p>
        </p:txBody>
      </p:sp>
      <p:sp>
        <p:nvSpPr>
          <p:cNvPr id="24" name="Text 22"/>
          <p:cNvSpPr/>
          <p:nvPr/>
        </p:nvSpPr>
        <p:spPr>
          <a:xfrm>
            <a:off x="4902101" y="2694087"/>
            <a:ext cx="181255" cy="152400"/>
          </a:xfrm>
          <a:prstGeom prst="rect">
            <a:avLst/>
          </a:prstGeom>
          <a:noFill/>
          <a:ln/>
        </p:spPr>
        <p:txBody>
          <a:bodyPr wrap="square" lIns="0" tIns="0" rIns="0" bIns="0" rtlCol="0" anchor="t"/>
          <a:lstStyle/>
          <a:p>
            <a:pPr algn="l" indent="0" marL="0">
              <a:spcBef>
                <a:spcPts val="1000"/>
              </a:spcBef>
              <a:spcAft>
                <a:spcPts val="1000"/>
              </a:spcAft>
              <a:buNone/>
            </a:pPr>
            <a:r>
              <a:rPr lang="en-US" sz="1000" b="1" dirty="0">
                <a:solidFill>
                  <a:srgbClr val="2ECC71"/>
                </a:solidFill>
                <a:latin typeface="Arial" pitchFamily="34" charset="0"/>
                <a:ea typeface="Arial" pitchFamily="34" charset="-122"/>
                <a:cs typeface="Arial" pitchFamily="34" charset="-120"/>
              </a:rPr>
              <a:t>✓</a:t>
            </a:r>
            <a:endParaRPr lang="en-US" sz="1000" dirty="0"/>
          </a:p>
        </p:txBody>
      </p:sp>
      <p:sp>
        <p:nvSpPr>
          <p:cNvPr id="25" name="Text 23"/>
          <p:cNvSpPr/>
          <p:nvPr/>
        </p:nvSpPr>
        <p:spPr>
          <a:xfrm>
            <a:off x="5079802" y="2694087"/>
            <a:ext cx="2609674" cy="164902"/>
          </a:xfrm>
          <a:prstGeom prst="rect">
            <a:avLst/>
          </a:prstGeom>
          <a:noFill/>
          <a:ln/>
        </p:spPr>
        <p:txBody>
          <a:bodyPr wrap="square" lIns="0" tIns="0" rIns="0" bIns="0" rtlCol="0" anchor="t"/>
          <a:lstStyle/>
          <a:p>
            <a:pPr algn="l" indent="0" marL="0">
              <a:lnSpc>
                <a:spcPts val="1300"/>
              </a:lnSpc>
              <a:spcBef>
                <a:spcPts val="1000"/>
              </a:spcBef>
              <a:spcAft>
                <a:spcPts val="1000"/>
              </a:spcAft>
              <a:buNone/>
            </a:pPr>
            <a:r>
              <a:rPr lang="en-US" sz="1000" dirty="0">
                <a:solidFill>
                  <a:srgbClr val="D0D0D0"/>
                </a:solidFill>
                <a:latin typeface="Arial" pitchFamily="34" charset="0"/>
                <a:ea typeface="Arial" pitchFamily="34" charset="-122"/>
                <a:cs typeface="Arial" pitchFamily="34" charset="-120"/>
              </a:rPr>
              <a:t>Claude Code + Python: full analysis in 30 min</a:t>
            </a:r>
            <a:endParaRPr lang="en-US" sz="1000" dirty="0"/>
          </a:p>
        </p:txBody>
      </p:sp>
      <p:sp>
        <p:nvSpPr>
          <p:cNvPr id="26" name="Text 24"/>
          <p:cNvSpPr/>
          <p:nvPr/>
        </p:nvSpPr>
        <p:spPr>
          <a:xfrm>
            <a:off x="4902101" y="3176290"/>
            <a:ext cx="181255" cy="152400"/>
          </a:xfrm>
          <a:prstGeom prst="rect">
            <a:avLst/>
          </a:prstGeom>
          <a:noFill/>
          <a:ln/>
        </p:spPr>
        <p:txBody>
          <a:bodyPr wrap="square" lIns="0" tIns="0" rIns="0" bIns="0" rtlCol="0" anchor="t"/>
          <a:lstStyle/>
          <a:p>
            <a:pPr algn="l" indent="0" marL="0">
              <a:spcBef>
                <a:spcPts val="1000"/>
              </a:spcBef>
              <a:spcAft>
                <a:spcPts val="1000"/>
              </a:spcAft>
              <a:buNone/>
            </a:pPr>
            <a:r>
              <a:rPr lang="en-US" sz="1000" b="1" dirty="0">
                <a:solidFill>
                  <a:srgbClr val="2ECC71"/>
                </a:solidFill>
                <a:latin typeface="Arial" pitchFamily="34" charset="0"/>
                <a:ea typeface="Arial" pitchFamily="34" charset="-122"/>
                <a:cs typeface="Arial" pitchFamily="34" charset="-120"/>
              </a:rPr>
              <a:t>✓</a:t>
            </a:r>
            <a:endParaRPr lang="en-US" sz="1000" dirty="0"/>
          </a:p>
        </p:txBody>
      </p:sp>
      <p:sp>
        <p:nvSpPr>
          <p:cNvPr id="27" name="Text 25"/>
          <p:cNvSpPr/>
          <p:nvPr/>
        </p:nvSpPr>
        <p:spPr>
          <a:xfrm>
            <a:off x="5079802" y="3176290"/>
            <a:ext cx="2231377" cy="164902"/>
          </a:xfrm>
          <a:prstGeom prst="rect">
            <a:avLst/>
          </a:prstGeom>
          <a:noFill/>
          <a:ln/>
        </p:spPr>
        <p:txBody>
          <a:bodyPr wrap="square" lIns="0" tIns="0" rIns="0" bIns="0" rtlCol="0" anchor="t"/>
          <a:lstStyle/>
          <a:p>
            <a:pPr algn="l" indent="0" marL="0">
              <a:lnSpc>
                <a:spcPts val="1300"/>
              </a:lnSpc>
              <a:spcBef>
                <a:spcPts val="1000"/>
              </a:spcBef>
              <a:spcAft>
                <a:spcPts val="1000"/>
              </a:spcAft>
              <a:buNone/>
            </a:pPr>
            <a:r>
              <a:rPr lang="en-US" sz="1000" dirty="0">
                <a:solidFill>
                  <a:srgbClr val="D0D0D0"/>
                </a:solidFill>
                <a:latin typeface="Arial" pitchFamily="34" charset="0"/>
                <a:ea typeface="Arial" pitchFamily="34" charset="-122"/>
                <a:cs typeface="Arial" pitchFamily="34" charset="-120"/>
              </a:rPr>
              <a:t>PPTX skill: professional deck in 15 min</a:t>
            </a:r>
            <a:endParaRPr lang="en-US" sz="1000" dirty="0"/>
          </a:p>
        </p:txBody>
      </p:sp>
      <p:sp>
        <p:nvSpPr>
          <p:cNvPr id="28" name="Text 26"/>
          <p:cNvSpPr/>
          <p:nvPr/>
        </p:nvSpPr>
        <p:spPr>
          <a:xfrm>
            <a:off x="4902101" y="3658493"/>
            <a:ext cx="181255" cy="152400"/>
          </a:xfrm>
          <a:prstGeom prst="rect">
            <a:avLst/>
          </a:prstGeom>
          <a:noFill/>
          <a:ln/>
        </p:spPr>
        <p:txBody>
          <a:bodyPr wrap="square" lIns="0" tIns="0" rIns="0" bIns="0" rtlCol="0" anchor="t"/>
          <a:lstStyle/>
          <a:p>
            <a:pPr algn="l" indent="0" marL="0">
              <a:spcBef>
                <a:spcPts val="1000"/>
              </a:spcBef>
              <a:spcAft>
                <a:spcPts val="1000"/>
              </a:spcAft>
              <a:buNone/>
            </a:pPr>
            <a:r>
              <a:rPr lang="en-US" sz="1000" b="1" dirty="0">
                <a:solidFill>
                  <a:srgbClr val="2ECC71"/>
                </a:solidFill>
                <a:latin typeface="Arial" pitchFamily="34" charset="0"/>
                <a:ea typeface="Arial" pitchFamily="34" charset="-122"/>
                <a:cs typeface="Arial" pitchFamily="34" charset="-120"/>
              </a:rPr>
              <a:t>✓</a:t>
            </a:r>
            <a:endParaRPr lang="en-US" sz="1000" dirty="0"/>
          </a:p>
        </p:txBody>
      </p:sp>
      <p:sp>
        <p:nvSpPr>
          <p:cNvPr id="29" name="Text 27"/>
          <p:cNvSpPr/>
          <p:nvPr/>
        </p:nvSpPr>
        <p:spPr>
          <a:xfrm>
            <a:off x="5079802" y="3658493"/>
            <a:ext cx="2610737" cy="164902"/>
          </a:xfrm>
          <a:prstGeom prst="rect">
            <a:avLst/>
          </a:prstGeom>
          <a:noFill/>
          <a:ln/>
        </p:spPr>
        <p:txBody>
          <a:bodyPr wrap="square" lIns="0" tIns="0" rIns="0" bIns="0" rtlCol="0" anchor="t"/>
          <a:lstStyle/>
          <a:p>
            <a:pPr algn="l" indent="0" marL="0">
              <a:lnSpc>
                <a:spcPts val="1300"/>
              </a:lnSpc>
              <a:spcBef>
                <a:spcPts val="1000"/>
              </a:spcBef>
              <a:spcAft>
                <a:spcPts val="1000"/>
              </a:spcAft>
              <a:buNone/>
            </a:pPr>
            <a:r>
              <a:rPr lang="en-US" sz="1000" dirty="0">
                <a:solidFill>
                  <a:srgbClr val="D0D0D0"/>
                </a:solidFill>
                <a:latin typeface="Arial" pitchFamily="34" charset="0"/>
                <a:ea typeface="Arial" pitchFamily="34" charset="-122"/>
                <a:cs typeface="Arial" pitchFamily="34" charset="-120"/>
              </a:rPr>
              <a:t>4-agent team: NSTC grant, 67-80% efficiency</a:t>
            </a:r>
            <a:endParaRPr lang="en-US" sz="1000" dirty="0"/>
          </a:p>
        </p:txBody>
      </p:sp>
      <p:sp>
        <p:nvSpPr>
          <p:cNvPr id="30" name="Text 28"/>
          <p:cNvSpPr/>
          <p:nvPr/>
        </p:nvSpPr>
        <p:spPr>
          <a:xfrm>
            <a:off x="406301" y="4140696"/>
            <a:ext cx="8331398" cy="568226"/>
          </a:xfrm>
          <a:prstGeom prst="rect">
            <a:avLst/>
          </a:prstGeom>
          <a:solidFill>
            <a:srgbClr val="00D4FF">
              <a:alpha val="10000"/>
            </a:srgbClr>
          </a:solidFill>
          <a:ln w="9525">
            <a:solidFill>
              <a:srgbClr val="00D4FF"/>
            </a:solidFill>
          </a:ln>
        </p:spPr>
        <p:txBody>
          <a:bodyPr wrap="square" rtlCol="0" anchor="ctr"/>
          <a:lstStyle/>
          <a:p>
            <a:pPr indent="0" marL="0">
              <a:buNone/>
            </a:pPr>
            <a:endParaRPr lang="en-US" dirty="0"/>
          </a:p>
        </p:txBody>
      </p:sp>
      <p:sp>
        <p:nvSpPr>
          <p:cNvPr id="31" name="Text 29"/>
          <p:cNvSpPr/>
          <p:nvPr/>
        </p:nvSpPr>
        <p:spPr>
          <a:xfrm>
            <a:off x="488150" y="4353371"/>
            <a:ext cx="8167699" cy="142875"/>
          </a:xfrm>
          <a:prstGeom prst="rect">
            <a:avLst/>
          </a:prstGeom>
          <a:noFill/>
          <a:ln/>
        </p:spPr>
        <p:txBody>
          <a:bodyPr wrap="square" lIns="0" tIns="0" rIns="0" bIns="0" rtlCol="0" anchor="t"/>
          <a:lstStyle/>
          <a:p>
            <a:pPr algn="ctr" indent="0" marL="0">
              <a:spcBef>
                <a:spcPts val="1000"/>
              </a:spcBef>
              <a:spcAft>
                <a:spcPts val="1000"/>
              </a:spcAft>
              <a:buNone/>
            </a:pPr>
            <a:r>
              <a:rPr lang="en-US" sz="1000" dirty="0">
                <a:solidFill>
                  <a:srgbClr val="00D4FF"/>
                </a:solidFill>
                <a:latin typeface="Arial" pitchFamily="34" charset="0"/>
                <a:ea typeface="Arial" pitchFamily="34" charset="-122"/>
                <a:cs typeface="Arial" pitchFamily="34" charset="-120"/>
              </a:rPr>
              <a:t>This is not about replacing doctors. It's about </a:t>
            </a:r>
            <a:pPr algn="ctr" indent="0" marL="0">
              <a:spcBef>
                <a:spcPts val="1000"/>
              </a:spcBef>
              <a:spcAft>
                <a:spcPts val="1000"/>
              </a:spcAft>
              <a:buNone/>
            </a:pPr>
            <a:r>
              <a:rPr lang="en-US" sz="1000" b="1" dirty="0">
                <a:solidFill>
                  <a:srgbClr val="00D4FF"/>
                </a:solidFill>
                <a:latin typeface="Arial" pitchFamily="34" charset="0"/>
                <a:ea typeface="Arial" pitchFamily="34" charset="-122"/>
                <a:cs typeface="Arial" pitchFamily="34" charset="-120"/>
              </a:rPr>
              <a:t>amplifying what only doctors can do.</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50A1E"/>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F1C40F"/>
          </a:solidFill>
          <a:ln/>
        </p:spPr>
        <p:txBody>
          <a:bodyPr wrap="square" rtlCol="0" anchor="ctr"/>
          <a:lstStyle/>
          <a:p>
            <a:pPr indent="0" marL="0">
              <a:buNone/>
            </a:pPr>
            <a:endParaRPr lang="en-US" dirty="0"/>
          </a:p>
        </p:txBody>
      </p:sp>
      <p:sp>
        <p:nvSpPr>
          <p:cNvPr id="3" name="Text 1"/>
          <p:cNvSpPr/>
          <p:nvPr/>
        </p:nvSpPr>
        <p:spPr>
          <a:xfrm>
            <a:off x="3494187" y="351086"/>
            <a:ext cx="2198587" cy="142875"/>
          </a:xfrm>
          <a:prstGeom prst="rect">
            <a:avLst/>
          </a:prstGeom>
          <a:noFill/>
          <a:ln/>
        </p:spPr>
        <p:txBody>
          <a:bodyPr wrap="square" lIns="0" tIns="0" rIns="0" bIns="0" rtlCol="0" anchor="t"/>
          <a:lstStyle/>
          <a:p>
            <a:pPr algn="l" indent="0" marL="0">
              <a:spcBef>
                <a:spcPts val="1000"/>
              </a:spcBef>
              <a:spcAft>
                <a:spcPts val="1600"/>
              </a:spcAft>
              <a:buNone/>
            </a:pPr>
            <a:r>
              <a:rPr lang="en-US" sz="1000" dirty="0">
                <a:solidFill>
                  <a:srgbClr val="F1C40F"/>
                </a:solidFill>
                <a:latin typeface="Arial" pitchFamily="34" charset="0"/>
                <a:ea typeface="Arial" pitchFamily="34" charset="-122"/>
                <a:cs typeface="Arial" pitchFamily="34" charset="-120"/>
              </a:rPr>
              <a:t>THE TRANSFORMATION</a:t>
            </a:r>
            <a:endParaRPr lang="en-US" sz="1000" dirty="0"/>
          </a:p>
        </p:txBody>
      </p:sp>
      <p:sp>
        <p:nvSpPr>
          <p:cNvPr id="4" name="Text 2"/>
          <p:cNvSpPr/>
          <p:nvPr/>
        </p:nvSpPr>
        <p:spPr>
          <a:xfrm>
            <a:off x="1617730" y="697111"/>
            <a:ext cx="5908390" cy="561975"/>
          </a:xfrm>
          <a:prstGeom prst="rect">
            <a:avLst/>
          </a:prstGeom>
          <a:noFill/>
          <a:ln/>
        </p:spPr>
        <p:txBody>
          <a:bodyPr wrap="square" lIns="0" tIns="0" rIns="0" bIns="0" rtlCol="0" anchor="t"/>
          <a:lstStyle/>
          <a:p>
            <a:pPr algn="ctr" indent="0" marL="0">
              <a:spcAft>
                <a:spcPts val="800"/>
              </a:spcAft>
              <a:buNone/>
            </a:pPr>
            <a:r>
              <a:rPr lang="en-US" sz="3800" dirty="0">
                <a:solidFill>
                  <a:srgbClr val="FFFFFF"/>
                </a:solidFill>
                <a:latin typeface="Arial" pitchFamily="34" charset="0"/>
                <a:ea typeface="Arial" pitchFamily="34" charset="-122"/>
                <a:cs typeface="Arial" pitchFamily="34" charset="-120"/>
              </a:rPr>
              <a:t>AI Gave Me </a:t>
            </a:r>
            <a:pPr algn="ctr" indent="0" marL="0">
              <a:spcAft>
                <a:spcPts val="800"/>
              </a:spcAft>
              <a:buNone/>
            </a:pPr>
            <a:r>
              <a:rPr lang="en-US" sz="3800" b="1" dirty="0">
                <a:solidFill>
                  <a:srgbClr val="F1C40F"/>
                </a:solidFill>
                <a:latin typeface="Arial" pitchFamily="34" charset="0"/>
                <a:ea typeface="Arial" pitchFamily="34" charset="-122"/>
                <a:cs typeface="Arial" pitchFamily="34" charset="-120"/>
              </a:rPr>
              <a:t>Superpowers</a:t>
            </a:r>
            <a:endParaRPr lang="en-US" sz="3800" dirty="0"/>
          </a:p>
        </p:txBody>
      </p:sp>
      <p:sp>
        <p:nvSpPr>
          <p:cNvPr id="5" name="Text 3"/>
          <p:cNvSpPr/>
          <p:nvPr/>
        </p:nvSpPr>
        <p:spPr>
          <a:xfrm>
            <a:off x="2014091" y="1538288"/>
            <a:ext cx="5115818" cy="209550"/>
          </a:xfrm>
          <a:prstGeom prst="rect">
            <a:avLst/>
          </a:prstGeom>
          <a:noFill/>
          <a:ln/>
        </p:spPr>
        <p:txBody>
          <a:bodyPr wrap="square" lIns="0" tIns="0" rIns="0" bIns="0" rtlCol="0" anchor="t"/>
          <a:lstStyle/>
          <a:p>
            <a:pPr algn="ctr" indent="0" marL="0">
              <a:spcBef>
                <a:spcPts val="1400"/>
              </a:spcBef>
              <a:spcAft>
                <a:spcPts val="2800"/>
              </a:spcAft>
              <a:buNone/>
            </a:pPr>
            <a:r>
              <a:rPr lang="en-US" sz="1400" dirty="0">
                <a:solidFill>
                  <a:srgbClr val="B0BEC5"/>
                </a:solidFill>
                <a:latin typeface="Arial" pitchFamily="34" charset="0"/>
                <a:ea typeface="Arial" pitchFamily="34" charset="-122"/>
                <a:cs typeface="Arial" pitchFamily="34" charset="-120"/>
              </a:rPr>
              <a:t>Not magic. Leverage. The same output, in a fraction of the time.</a:t>
            </a:r>
            <a:endParaRPr lang="en-US" sz="1400" dirty="0"/>
          </a:p>
        </p:txBody>
      </p:sp>
      <p:sp>
        <p:nvSpPr>
          <p:cNvPr id="6" name="Text 4"/>
          <p:cNvSpPr/>
          <p:nvPr/>
        </p:nvSpPr>
        <p:spPr>
          <a:xfrm>
            <a:off x="152846" y="2103388"/>
            <a:ext cx="2076301" cy="1870323"/>
          </a:xfrm>
          <a:prstGeom prst="rect">
            <a:avLst/>
          </a:prstGeom>
          <a:solidFill>
            <a:srgbClr val="F1C40F">
              <a:alpha val="8000"/>
            </a:srgbClr>
          </a:solidFill>
          <a:ln w="9525">
            <a:solidFill>
              <a:srgbClr val="F1C40F"/>
            </a:solidFill>
          </a:ln>
        </p:spPr>
        <p:txBody>
          <a:bodyPr wrap="square" rtlCol="0" anchor="ctr"/>
          <a:lstStyle/>
          <a:p>
            <a:pPr indent="0" marL="0">
              <a:buNone/>
            </a:pPr>
            <a:endParaRPr lang="en-US" dirty="0"/>
          </a:p>
        </p:txBody>
      </p:sp>
      <p:sp>
        <p:nvSpPr>
          <p:cNvPr id="7" name="Text 5"/>
          <p:cNvSpPr/>
          <p:nvPr/>
        </p:nvSpPr>
        <p:spPr>
          <a:xfrm>
            <a:off x="349012" y="2519214"/>
            <a:ext cx="1683969" cy="266700"/>
          </a:xfrm>
          <a:prstGeom prst="rect">
            <a:avLst/>
          </a:prstGeom>
          <a:noFill/>
          <a:ln/>
        </p:spPr>
        <p:txBody>
          <a:bodyPr wrap="square" lIns="0" tIns="0" rIns="0" bIns="0" rtlCol="0" anchor="t"/>
          <a:lstStyle/>
          <a:p>
            <a:pPr algn="ctr" indent="0" marL="0">
              <a:spcBef>
                <a:spcPts val="1800"/>
              </a:spcBef>
              <a:spcAft>
                <a:spcPts val="800"/>
              </a:spcAft>
              <a:buNone/>
            </a:pPr>
            <a:r>
              <a:rPr lang="en-US" sz="1800" b="1" dirty="0">
                <a:solidFill>
                  <a:srgbClr val="F1C40F"/>
                </a:solidFill>
                <a:latin typeface="Arial" pitchFamily="34" charset="0"/>
                <a:ea typeface="Arial" pitchFamily="34" charset="-122"/>
                <a:cs typeface="Arial" pitchFamily="34" charset="-120"/>
              </a:rPr>
              <a:t>10x</a:t>
            </a:r>
            <a:endParaRPr lang="en-US" sz="1800" dirty="0"/>
          </a:p>
        </p:txBody>
      </p:sp>
      <p:sp>
        <p:nvSpPr>
          <p:cNvPr id="8" name="Text 6"/>
          <p:cNvSpPr/>
          <p:nvPr/>
        </p:nvSpPr>
        <p:spPr>
          <a:xfrm>
            <a:off x="349012" y="2925514"/>
            <a:ext cx="1683969" cy="152400"/>
          </a:xfrm>
          <a:prstGeom prst="rect">
            <a:avLst/>
          </a:prstGeom>
          <a:noFill/>
          <a:ln/>
        </p:spPr>
        <p:txBody>
          <a:bodyPr wrap="square" lIns="0" tIns="0" rIns="0" bIns="0" rtlCol="0" anchor="t"/>
          <a:lstStyle/>
          <a:p>
            <a:pPr algn="ctr" indent="0" marL="0">
              <a:spcBef>
                <a:spcPts val="1100"/>
              </a:spcBef>
              <a:spcAft>
                <a:spcPts val="400"/>
              </a:spcAft>
              <a:buNone/>
            </a:pPr>
            <a:r>
              <a:rPr lang="en-US" sz="1100" b="1" dirty="0">
                <a:solidFill>
                  <a:srgbClr val="FFFFFF"/>
                </a:solidFill>
                <a:latin typeface="Arial" pitchFamily="34" charset="0"/>
                <a:ea typeface="Arial" pitchFamily="34" charset="-122"/>
                <a:cs typeface="Arial" pitchFamily="34" charset="-120"/>
              </a:rPr>
              <a:t>Research Speed</a:t>
            </a:r>
            <a:endParaRPr lang="en-US" sz="1100" dirty="0"/>
          </a:p>
        </p:txBody>
      </p:sp>
      <p:sp>
        <p:nvSpPr>
          <p:cNvPr id="9" name="Text 7"/>
          <p:cNvSpPr/>
          <p:nvPr/>
        </p:nvSpPr>
        <p:spPr>
          <a:xfrm>
            <a:off x="349012" y="3192214"/>
            <a:ext cx="1683969" cy="319980"/>
          </a:xfrm>
          <a:prstGeom prst="rect">
            <a:avLst/>
          </a:prstGeom>
          <a:noFill/>
          <a:ln/>
        </p:spPr>
        <p:txBody>
          <a:bodyPr wrap="square" lIns="0" tIns="0" rIns="0" bIns="0" rtlCol="0" anchor="t"/>
          <a:lstStyle/>
          <a:p>
            <a:pPr algn="ctr" indent="0" marL="0">
              <a:lnSpc>
                <a:spcPts val="1260"/>
              </a:lnSpc>
              <a:spcBef>
                <a:spcPts val="900"/>
              </a:spcBef>
              <a:spcAft>
                <a:spcPts val="900"/>
              </a:spcAft>
              <a:buNone/>
            </a:pPr>
            <a:r>
              <a:rPr lang="en-US" sz="900" dirty="0">
                <a:solidFill>
                  <a:srgbClr val="9B9B9B"/>
                </a:solidFill>
                <a:latin typeface="Arial" pitchFamily="34" charset="0"/>
                <a:ea typeface="Arial" pitchFamily="34" charset="-122"/>
                <a:cs typeface="Arial" pitchFamily="34" charset="-120"/>
              </a:rPr>
              <a:t>Serie reviews 50 papers overnight while I sleep</a:t>
            </a:r>
            <a:endParaRPr lang="en-US" sz="900" dirty="0"/>
          </a:p>
        </p:txBody>
      </p:sp>
      <p:sp>
        <p:nvSpPr>
          <p:cNvPr id="10" name="Text 8"/>
          <p:cNvSpPr/>
          <p:nvPr/>
        </p:nvSpPr>
        <p:spPr>
          <a:xfrm>
            <a:off x="2406848" y="2103388"/>
            <a:ext cx="2076301" cy="1870323"/>
          </a:xfrm>
          <a:prstGeom prst="rect">
            <a:avLst/>
          </a:prstGeom>
          <a:solidFill>
            <a:srgbClr val="F1C40F">
              <a:alpha val="8000"/>
            </a:srgbClr>
          </a:solidFill>
          <a:ln w="9525">
            <a:solidFill>
              <a:srgbClr val="F1C40F"/>
            </a:solidFill>
          </a:ln>
        </p:spPr>
        <p:txBody>
          <a:bodyPr wrap="square" rtlCol="0" anchor="ctr"/>
          <a:lstStyle/>
          <a:p>
            <a:pPr indent="0" marL="0">
              <a:buNone/>
            </a:pPr>
            <a:endParaRPr lang="en-US" dirty="0"/>
          </a:p>
        </p:txBody>
      </p:sp>
      <p:sp>
        <p:nvSpPr>
          <p:cNvPr id="11" name="Text 9"/>
          <p:cNvSpPr/>
          <p:nvPr/>
        </p:nvSpPr>
        <p:spPr>
          <a:xfrm>
            <a:off x="2603014" y="2519214"/>
            <a:ext cx="1683969" cy="266700"/>
          </a:xfrm>
          <a:prstGeom prst="rect">
            <a:avLst/>
          </a:prstGeom>
          <a:noFill/>
          <a:ln/>
        </p:spPr>
        <p:txBody>
          <a:bodyPr wrap="square" lIns="0" tIns="0" rIns="0" bIns="0" rtlCol="0" anchor="t"/>
          <a:lstStyle/>
          <a:p>
            <a:pPr algn="ctr" indent="0" marL="0">
              <a:spcBef>
                <a:spcPts val="1800"/>
              </a:spcBef>
              <a:spcAft>
                <a:spcPts val="800"/>
              </a:spcAft>
              <a:buNone/>
            </a:pPr>
            <a:r>
              <a:rPr lang="en-US" sz="1800" b="1" dirty="0">
                <a:solidFill>
                  <a:srgbClr val="F1C40F"/>
                </a:solidFill>
                <a:latin typeface="Arial" pitchFamily="34" charset="0"/>
                <a:ea typeface="Arial" pitchFamily="34" charset="-122"/>
                <a:cs typeface="Arial" pitchFamily="34" charset="-120"/>
              </a:rPr>
              <a:t>∞</a:t>
            </a:r>
            <a:endParaRPr lang="en-US" sz="1800" dirty="0"/>
          </a:p>
        </p:txBody>
      </p:sp>
      <p:sp>
        <p:nvSpPr>
          <p:cNvPr id="12" name="Text 10"/>
          <p:cNvSpPr/>
          <p:nvPr/>
        </p:nvSpPr>
        <p:spPr>
          <a:xfrm>
            <a:off x="2603014" y="2925514"/>
            <a:ext cx="1683969" cy="152400"/>
          </a:xfrm>
          <a:prstGeom prst="rect">
            <a:avLst/>
          </a:prstGeom>
          <a:noFill/>
          <a:ln/>
        </p:spPr>
        <p:txBody>
          <a:bodyPr wrap="square" lIns="0" tIns="0" rIns="0" bIns="0" rtlCol="0" anchor="t"/>
          <a:lstStyle/>
          <a:p>
            <a:pPr algn="ctr" indent="0" marL="0">
              <a:spcBef>
                <a:spcPts val="1100"/>
              </a:spcBef>
              <a:spcAft>
                <a:spcPts val="400"/>
              </a:spcAft>
              <a:buNone/>
            </a:pPr>
            <a:r>
              <a:rPr lang="en-US" sz="1100" b="1" dirty="0">
                <a:solidFill>
                  <a:srgbClr val="FFFFFF"/>
                </a:solidFill>
                <a:latin typeface="Arial" pitchFamily="34" charset="0"/>
                <a:ea typeface="Arial" pitchFamily="34" charset="-122"/>
                <a:cs typeface="Arial" pitchFamily="34" charset="-120"/>
              </a:rPr>
              <a:t>Availability</a:t>
            </a:r>
            <a:endParaRPr lang="en-US" sz="1100" dirty="0"/>
          </a:p>
        </p:txBody>
      </p:sp>
      <p:sp>
        <p:nvSpPr>
          <p:cNvPr id="13" name="Text 11"/>
          <p:cNvSpPr/>
          <p:nvPr/>
        </p:nvSpPr>
        <p:spPr>
          <a:xfrm>
            <a:off x="2603014" y="3192214"/>
            <a:ext cx="1683969" cy="319980"/>
          </a:xfrm>
          <a:prstGeom prst="rect">
            <a:avLst/>
          </a:prstGeom>
          <a:noFill/>
          <a:ln/>
        </p:spPr>
        <p:txBody>
          <a:bodyPr wrap="square" lIns="0" tIns="0" rIns="0" bIns="0" rtlCol="0" anchor="t"/>
          <a:lstStyle/>
          <a:p>
            <a:pPr algn="ctr" indent="0" marL="0">
              <a:lnSpc>
                <a:spcPts val="1260"/>
              </a:lnSpc>
              <a:spcBef>
                <a:spcPts val="900"/>
              </a:spcBef>
              <a:spcAft>
                <a:spcPts val="900"/>
              </a:spcAft>
              <a:buNone/>
            </a:pPr>
            <a:r>
              <a:rPr lang="en-US" sz="900" dirty="0">
                <a:solidFill>
                  <a:srgbClr val="9B9B9B"/>
                </a:solidFill>
                <a:latin typeface="Arial" pitchFamily="34" charset="0"/>
                <a:ea typeface="Arial" pitchFamily="34" charset="-122"/>
                <a:cs typeface="Arial" pitchFamily="34" charset="-120"/>
              </a:rPr>
              <a:t>Agents run 24/7 on Mac Mini — no vacation needed</a:t>
            </a:r>
            <a:endParaRPr lang="en-US" sz="900" dirty="0"/>
          </a:p>
        </p:txBody>
      </p:sp>
      <p:sp>
        <p:nvSpPr>
          <p:cNvPr id="14" name="Text 12"/>
          <p:cNvSpPr/>
          <p:nvPr/>
        </p:nvSpPr>
        <p:spPr>
          <a:xfrm>
            <a:off x="4660850" y="2103388"/>
            <a:ext cx="2076301" cy="1870323"/>
          </a:xfrm>
          <a:prstGeom prst="rect">
            <a:avLst/>
          </a:prstGeom>
          <a:solidFill>
            <a:srgbClr val="F1C40F">
              <a:alpha val="8000"/>
            </a:srgbClr>
          </a:solidFill>
          <a:ln w="9525">
            <a:solidFill>
              <a:srgbClr val="F1C40F"/>
            </a:solidFill>
          </a:ln>
        </p:spPr>
        <p:txBody>
          <a:bodyPr wrap="square" rtlCol="0" anchor="ctr"/>
          <a:lstStyle/>
          <a:p>
            <a:pPr indent="0" marL="0">
              <a:buNone/>
            </a:pPr>
            <a:endParaRPr lang="en-US" dirty="0"/>
          </a:p>
        </p:txBody>
      </p:sp>
      <p:sp>
        <p:nvSpPr>
          <p:cNvPr id="15" name="Text 13"/>
          <p:cNvSpPr/>
          <p:nvPr/>
        </p:nvSpPr>
        <p:spPr>
          <a:xfrm>
            <a:off x="4857016" y="2519214"/>
            <a:ext cx="1683969" cy="266700"/>
          </a:xfrm>
          <a:prstGeom prst="rect">
            <a:avLst/>
          </a:prstGeom>
          <a:noFill/>
          <a:ln/>
        </p:spPr>
        <p:txBody>
          <a:bodyPr wrap="square" lIns="0" tIns="0" rIns="0" bIns="0" rtlCol="0" anchor="t"/>
          <a:lstStyle/>
          <a:p>
            <a:pPr algn="ctr" indent="0" marL="0">
              <a:spcBef>
                <a:spcPts val="1800"/>
              </a:spcBef>
              <a:spcAft>
                <a:spcPts val="800"/>
              </a:spcAft>
              <a:buNone/>
            </a:pPr>
            <a:r>
              <a:rPr lang="en-US" sz="1800" b="1" dirty="0">
                <a:solidFill>
                  <a:srgbClr val="F1C40F"/>
                </a:solidFill>
                <a:latin typeface="Arial" pitchFamily="34" charset="0"/>
                <a:ea typeface="Arial" pitchFamily="34" charset="-122"/>
                <a:cs typeface="Arial" pitchFamily="34" charset="-120"/>
              </a:rPr>
              <a:t>6x</a:t>
            </a:r>
            <a:endParaRPr lang="en-US" sz="1800" dirty="0"/>
          </a:p>
        </p:txBody>
      </p:sp>
      <p:sp>
        <p:nvSpPr>
          <p:cNvPr id="16" name="Text 14"/>
          <p:cNvSpPr/>
          <p:nvPr/>
        </p:nvSpPr>
        <p:spPr>
          <a:xfrm>
            <a:off x="4857016" y="2925514"/>
            <a:ext cx="1683969" cy="152400"/>
          </a:xfrm>
          <a:prstGeom prst="rect">
            <a:avLst/>
          </a:prstGeom>
          <a:noFill/>
          <a:ln/>
        </p:spPr>
        <p:txBody>
          <a:bodyPr wrap="square" lIns="0" tIns="0" rIns="0" bIns="0" rtlCol="0" anchor="t"/>
          <a:lstStyle/>
          <a:p>
            <a:pPr algn="ctr" indent="0" marL="0">
              <a:spcBef>
                <a:spcPts val="1100"/>
              </a:spcBef>
              <a:spcAft>
                <a:spcPts val="400"/>
              </a:spcAft>
              <a:buNone/>
            </a:pPr>
            <a:r>
              <a:rPr lang="en-US" sz="1100" b="1" dirty="0">
                <a:solidFill>
                  <a:srgbClr val="FFFFFF"/>
                </a:solidFill>
                <a:latin typeface="Arial" pitchFamily="34" charset="0"/>
                <a:ea typeface="Arial" pitchFamily="34" charset="-122"/>
                <a:cs typeface="Arial" pitchFamily="34" charset="-120"/>
              </a:rPr>
              <a:t>Parallel Tasks</a:t>
            </a:r>
            <a:endParaRPr lang="en-US" sz="1100" dirty="0"/>
          </a:p>
        </p:txBody>
      </p:sp>
      <p:sp>
        <p:nvSpPr>
          <p:cNvPr id="17" name="Text 15"/>
          <p:cNvSpPr/>
          <p:nvPr/>
        </p:nvSpPr>
        <p:spPr>
          <a:xfrm>
            <a:off x="4857016" y="3192214"/>
            <a:ext cx="1683969" cy="479971"/>
          </a:xfrm>
          <a:prstGeom prst="rect">
            <a:avLst/>
          </a:prstGeom>
          <a:noFill/>
          <a:ln/>
        </p:spPr>
        <p:txBody>
          <a:bodyPr wrap="square" lIns="0" tIns="0" rIns="0" bIns="0" rtlCol="0" anchor="t"/>
          <a:lstStyle/>
          <a:p>
            <a:pPr algn="ctr" indent="0" marL="0">
              <a:lnSpc>
                <a:spcPts val="1260"/>
              </a:lnSpc>
              <a:spcBef>
                <a:spcPts val="900"/>
              </a:spcBef>
              <a:spcAft>
                <a:spcPts val="900"/>
              </a:spcAft>
              <a:buNone/>
            </a:pPr>
            <a:r>
              <a:rPr lang="en-US" sz="900" dirty="0">
                <a:solidFill>
                  <a:srgbClr val="9B9B9B"/>
                </a:solidFill>
                <a:latin typeface="Arial" pitchFamily="34" charset="0"/>
                <a:ea typeface="Arial" pitchFamily="34" charset="-122"/>
                <a:cs typeface="Arial" pitchFamily="34" charset="-120"/>
              </a:rPr>
              <a:t>6 agents reviewing the microbiology course simultaneously</a:t>
            </a:r>
            <a:endParaRPr lang="en-US" sz="900" dirty="0"/>
          </a:p>
        </p:txBody>
      </p:sp>
      <p:sp>
        <p:nvSpPr>
          <p:cNvPr id="18" name="Text 16"/>
          <p:cNvSpPr/>
          <p:nvPr/>
        </p:nvSpPr>
        <p:spPr>
          <a:xfrm>
            <a:off x="6914852" y="2103388"/>
            <a:ext cx="2076301" cy="1870323"/>
          </a:xfrm>
          <a:prstGeom prst="rect">
            <a:avLst/>
          </a:prstGeom>
          <a:solidFill>
            <a:srgbClr val="F1C40F">
              <a:alpha val="8000"/>
            </a:srgbClr>
          </a:solidFill>
          <a:ln w="9525">
            <a:solidFill>
              <a:srgbClr val="F1C40F"/>
            </a:solidFill>
          </a:ln>
        </p:spPr>
        <p:txBody>
          <a:bodyPr wrap="square" rtlCol="0" anchor="ctr"/>
          <a:lstStyle/>
          <a:p>
            <a:pPr indent="0" marL="0">
              <a:buNone/>
            </a:pPr>
            <a:endParaRPr lang="en-US" dirty="0"/>
          </a:p>
        </p:txBody>
      </p:sp>
      <p:sp>
        <p:nvSpPr>
          <p:cNvPr id="19" name="Text 17"/>
          <p:cNvSpPr/>
          <p:nvPr/>
        </p:nvSpPr>
        <p:spPr>
          <a:xfrm>
            <a:off x="7111018" y="2519214"/>
            <a:ext cx="1683969" cy="266700"/>
          </a:xfrm>
          <a:prstGeom prst="rect">
            <a:avLst/>
          </a:prstGeom>
          <a:noFill/>
          <a:ln/>
        </p:spPr>
        <p:txBody>
          <a:bodyPr wrap="square" lIns="0" tIns="0" rIns="0" bIns="0" rtlCol="0" anchor="t"/>
          <a:lstStyle/>
          <a:p>
            <a:pPr algn="ctr" indent="0" marL="0">
              <a:spcBef>
                <a:spcPts val="1800"/>
              </a:spcBef>
              <a:spcAft>
                <a:spcPts val="800"/>
              </a:spcAft>
              <a:buNone/>
            </a:pPr>
            <a:r>
              <a:rPr lang="en-US" sz="1800" b="1" dirty="0">
                <a:solidFill>
                  <a:srgbClr val="F1C40F"/>
                </a:solidFill>
                <a:latin typeface="Arial" pitchFamily="34" charset="0"/>
                <a:ea typeface="Arial" pitchFamily="34" charset="-122"/>
                <a:cs typeface="Arial" pitchFamily="34" charset="-120"/>
              </a:rPr>
              <a:t>80%</a:t>
            </a:r>
            <a:endParaRPr lang="en-US" sz="1800" dirty="0"/>
          </a:p>
        </p:txBody>
      </p:sp>
      <p:sp>
        <p:nvSpPr>
          <p:cNvPr id="20" name="Text 18"/>
          <p:cNvSpPr/>
          <p:nvPr/>
        </p:nvSpPr>
        <p:spPr>
          <a:xfrm>
            <a:off x="7111018" y="2925514"/>
            <a:ext cx="1683969" cy="152400"/>
          </a:xfrm>
          <a:prstGeom prst="rect">
            <a:avLst/>
          </a:prstGeom>
          <a:noFill/>
          <a:ln/>
        </p:spPr>
        <p:txBody>
          <a:bodyPr wrap="square" lIns="0" tIns="0" rIns="0" bIns="0" rtlCol="0" anchor="t"/>
          <a:lstStyle/>
          <a:p>
            <a:pPr algn="ctr" indent="0" marL="0">
              <a:spcBef>
                <a:spcPts val="1100"/>
              </a:spcBef>
              <a:spcAft>
                <a:spcPts val="400"/>
              </a:spcAft>
              <a:buNone/>
            </a:pPr>
            <a:r>
              <a:rPr lang="en-US" sz="1100" b="1" dirty="0">
                <a:solidFill>
                  <a:srgbClr val="FFFFFF"/>
                </a:solidFill>
                <a:latin typeface="Arial" pitchFamily="34" charset="0"/>
                <a:ea typeface="Arial" pitchFamily="34" charset="-122"/>
                <a:cs typeface="Arial" pitchFamily="34" charset="-120"/>
              </a:rPr>
              <a:t>Efficiency Gain</a:t>
            </a:r>
            <a:endParaRPr lang="en-US" sz="1100" dirty="0"/>
          </a:p>
        </p:txBody>
      </p:sp>
      <p:sp>
        <p:nvSpPr>
          <p:cNvPr id="21" name="Text 19"/>
          <p:cNvSpPr/>
          <p:nvPr/>
        </p:nvSpPr>
        <p:spPr>
          <a:xfrm>
            <a:off x="7111018" y="3192214"/>
            <a:ext cx="1683969" cy="319980"/>
          </a:xfrm>
          <a:prstGeom prst="rect">
            <a:avLst/>
          </a:prstGeom>
          <a:noFill/>
          <a:ln/>
        </p:spPr>
        <p:txBody>
          <a:bodyPr wrap="square" lIns="0" tIns="0" rIns="0" bIns="0" rtlCol="0" anchor="t"/>
          <a:lstStyle/>
          <a:p>
            <a:pPr algn="ctr" indent="0" marL="0">
              <a:lnSpc>
                <a:spcPts val="1260"/>
              </a:lnSpc>
              <a:spcBef>
                <a:spcPts val="900"/>
              </a:spcBef>
              <a:spcAft>
                <a:spcPts val="900"/>
              </a:spcAft>
              <a:buNone/>
            </a:pPr>
            <a:r>
              <a:rPr lang="en-US" sz="900" dirty="0">
                <a:solidFill>
                  <a:srgbClr val="9B9B9B"/>
                </a:solidFill>
                <a:latin typeface="Arial" pitchFamily="34" charset="0"/>
                <a:ea typeface="Arial" pitchFamily="34" charset="-122"/>
                <a:cs typeface="Arial" pitchFamily="34" charset="-120"/>
              </a:rPr>
              <a:t>NSTC grant: 4 agent modules, verified by committee</a:t>
            </a:r>
            <a:endParaRPr lang="en-US" sz="900" dirty="0"/>
          </a:p>
        </p:txBody>
      </p:sp>
      <p:sp>
        <p:nvSpPr>
          <p:cNvPr id="22" name="Text 20"/>
          <p:cNvSpPr/>
          <p:nvPr/>
        </p:nvSpPr>
        <p:spPr>
          <a:xfrm>
            <a:off x="2455962" y="4151412"/>
            <a:ext cx="4232077" cy="767953"/>
          </a:xfrm>
          <a:prstGeom prst="rect">
            <a:avLst/>
          </a:prstGeom>
          <a:solidFill>
            <a:srgbClr val="F1C40F">
              <a:alpha val="10000"/>
            </a:srgbClr>
          </a:solidFill>
          <a:ln/>
        </p:spPr>
        <p:txBody>
          <a:bodyPr wrap="square" rtlCol="0" anchor="ctr"/>
          <a:lstStyle/>
          <a:p>
            <a:pPr indent="0" marL="0">
              <a:buNone/>
            </a:pPr>
            <a:endParaRPr lang="en-US" dirty="0"/>
          </a:p>
        </p:txBody>
      </p:sp>
      <p:sp>
        <p:nvSpPr>
          <p:cNvPr id="23" name="Shape 21"/>
          <p:cNvSpPr/>
          <p:nvPr/>
        </p:nvSpPr>
        <p:spPr>
          <a:xfrm>
            <a:off x="2475012" y="4151412"/>
            <a:ext cx="0" cy="767953"/>
          </a:xfrm>
          <a:prstGeom prst="line">
            <a:avLst/>
          </a:prstGeom>
          <a:noFill/>
          <a:ln w="38100">
            <a:solidFill>
              <a:srgbClr val="F1C40F"/>
            </a:solidFill>
            <a:prstDash val="solid"/>
          </a:ln>
        </p:spPr>
      </p:sp>
      <p:sp>
        <p:nvSpPr>
          <p:cNvPr id="24" name="Text 22"/>
          <p:cNvSpPr/>
          <p:nvPr/>
        </p:nvSpPr>
        <p:spPr>
          <a:xfrm>
            <a:off x="2711101" y="4430613"/>
            <a:ext cx="3759899" cy="209550"/>
          </a:xfrm>
          <a:prstGeom prst="rect">
            <a:avLst/>
          </a:prstGeom>
          <a:noFill/>
          <a:ln/>
        </p:spPr>
        <p:txBody>
          <a:bodyPr wrap="square" lIns="0" tIns="0" rIns="0" bIns="0" rtlCol="0" anchor="t"/>
          <a:lstStyle/>
          <a:p>
            <a:pPr algn="ctr" indent="0" marL="0">
              <a:spcBef>
                <a:spcPts val="1400"/>
              </a:spcBef>
              <a:spcAft>
                <a:spcPts val="1400"/>
              </a:spcAft>
              <a:buNone/>
            </a:pPr>
            <a:r>
              <a:rPr lang="en-US" sz="1400" i="1" dirty="0">
                <a:solidFill>
                  <a:srgbClr val="F1C40F"/>
                </a:solidFill>
                <a:latin typeface="Arial" pitchFamily="34" charset="0"/>
                <a:ea typeface="Arial" pitchFamily="34" charset="-122"/>
                <a:cs typeface="Arial" pitchFamily="34" charset="-120"/>
              </a:rPr>
              <a:t>"The robot surgeon who built his own AI team."</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50A1E"/>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D4FF"/>
          </a:solidFill>
          <a:ln/>
        </p:spPr>
        <p:txBody>
          <a:bodyPr wrap="square" rtlCol="0" anchor="ctr"/>
          <a:lstStyle/>
          <a:p>
            <a:pPr indent="0" marL="0">
              <a:buNone/>
            </a:pPr>
            <a:endParaRPr lang="en-US" dirty="0"/>
          </a:p>
        </p:txBody>
      </p:sp>
      <p:sp>
        <p:nvSpPr>
          <p:cNvPr id="3" name="Text 1"/>
          <p:cNvSpPr/>
          <p:nvPr/>
        </p:nvSpPr>
        <p:spPr>
          <a:xfrm>
            <a:off x="381000" y="555724"/>
            <a:ext cx="3886200" cy="142875"/>
          </a:xfrm>
          <a:prstGeom prst="rect">
            <a:avLst/>
          </a:prstGeom>
          <a:noFill/>
          <a:ln/>
        </p:spPr>
        <p:txBody>
          <a:bodyPr wrap="square" lIns="0" tIns="0" rIns="0" bIns="0" rtlCol="0" anchor="t"/>
          <a:lstStyle/>
          <a:p>
            <a:pPr algn="l" indent="0" marL="0">
              <a:spcBef>
                <a:spcPts val="1000"/>
              </a:spcBef>
              <a:spcAft>
                <a:spcPts val="1200"/>
              </a:spcAft>
              <a:buNone/>
            </a:pPr>
            <a:r>
              <a:rPr lang="en-US" sz="1000" dirty="0">
                <a:solidFill>
                  <a:srgbClr val="00D4FF"/>
                </a:solidFill>
                <a:latin typeface="Arial" pitchFamily="34" charset="0"/>
                <a:ea typeface="Arial" pitchFamily="34" charset="-122"/>
                <a:cs typeface="Arial" pitchFamily="34" charset="-120"/>
              </a:rPr>
              <a:t>PART 3 — DAILY CLAUDE CODE</a:t>
            </a:r>
            <a:endParaRPr lang="en-US" sz="1000" dirty="0"/>
          </a:p>
        </p:txBody>
      </p:sp>
      <p:sp>
        <p:nvSpPr>
          <p:cNvPr id="4" name="Text 2"/>
          <p:cNvSpPr/>
          <p:nvPr/>
        </p:nvSpPr>
        <p:spPr>
          <a:xfrm>
            <a:off x="381000" y="850999"/>
            <a:ext cx="3886200" cy="396180"/>
          </a:xfrm>
          <a:prstGeom prst="rect">
            <a:avLst/>
          </a:prstGeom>
          <a:noFill/>
          <a:ln/>
        </p:spPr>
        <p:txBody>
          <a:bodyPr wrap="square" lIns="0" tIns="0" rIns="0" bIns="0" rtlCol="0" anchor="t"/>
          <a:lstStyle/>
          <a:p>
            <a:pPr algn="l" indent="0" marL="0">
              <a:lnSpc>
                <a:spcPts val="3120"/>
              </a:lnSpc>
              <a:spcAft>
                <a:spcPts val="1400"/>
              </a:spcAft>
              <a:buNone/>
            </a:pPr>
            <a:r>
              <a:rPr lang="en-US" sz="2600" dirty="0">
                <a:solidFill>
                  <a:srgbClr val="FFFFFF"/>
                </a:solidFill>
                <a:latin typeface="Arial" pitchFamily="34" charset="0"/>
                <a:ea typeface="Arial" pitchFamily="34" charset="-122"/>
                <a:cs typeface="Arial" pitchFamily="34" charset="-120"/>
              </a:rPr>
              <a:t>What is </a:t>
            </a:r>
            <a:pPr algn="l" indent="0" marL="0">
              <a:lnSpc>
                <a:spcPts val="3120"/>
              </a:lnSpc>
              <a:spcAft>
                <a:spcPts val="1400"/>
              </a:spcAft>
              <a:buNone/>
            </a:pPr>
            <a:r>
              <a:rPr lang="en-US" sz="2600" b="1" dirty="0">
                <a:solidFill>
                  <a:srgbClr val="00D4FF"/>
                </a:solidFill>
                <a:latin typeface="Arial" pitchFamily="34" charset="0"/>
                <a:ea typeface="Arial" pitchFamily="34" charset="-122"/>
                <a:cs typeface="Arial" pitchFamily="34" charset="-120"/>
              </a:rPr>
              <a:t>Claude Code</a:t>
            </a:r>
            <a:pPr algn="l" indent="0" marL="0">
              <a:lnSpc>
                <a:spcPts val="3120"/>
              </a:lnSpc>
              <a:spcAft>
                <a:spcPts val="1400"/>
              </a:spcAft>
              <a:buNone/>
            </a:pPr>
            <a:r>
              <a:rPr lang="en-US" sz="2600" dirty="0">
                <a:solidFill>
                  <a:srgbClr val="FFFFFF"/>
                </a:solidFill>
                <a:latin typeface="Arial" pitchFamily="34" charset="0"/>
                <a:ea typeface="Arial" pitchFamily="34" charset="-122"/>
                <a:cs typeface="Arial" pitchFamily="34" charset="-120"/>
              </a:rPr>
              <a:t>?</a:t>
            </a:r>
            <a:endParaRPr lang="en-US" sz="2600" dirty="0"/>
          </a:p>
        </p:txBody>
      </p:sp>
      <p:sp>
        <p:nvSpPr>
          <p:cNvPr id="5" name="Text 3"/>
          <p:cNvSpPr/>
          <p:nvPr/>
        </p:nvSpPr>
        <p:spPr>
          <a:xfrm>
            <a:off x="381000" y="1577280"/>
            <a:ext cx="3886200" cy="776883"/>
          </a:xfrm>
          <a:prstGeom prst="rect">
            <a:avLst/>
          </a:prstGeom>
          <a:noFill/>
          <a:ln/>
        </p:spPr>
        <p:txBody>
          <a:bodyPr wrap="square" lIns="0" tIns="0" rIns="0" bIns="0" rtlCol="0" anchor="t"/>
          <a:lstStyle/>
          <a:p>
            <a:pPr algn="l" indent="0" marL="0">
              <a:lnSpc>
                <a:spcPts val="2040"/>
              </a:lnSpc>
              <a:spcBef>
                <a:spcPts val="1200"/>
              </a:spcBef>
              <a:spcAft>
                <a:spcPts val="1200"/>
              </a:spcAft>
              <a:buNone/>
            </a:pPr>
            <a:r>
              <a:rPr lang="en-US" sz="1200" dirty="0">
                <a:solidFill>
                  <a:srgbClr val="B0BEC5"/>
                </a:solidFill>
                <a:latin typeface="Arial" pitchFamily="34" charset="0"/>
                <a:ea typeface="Arial" pitchFamily="34" charset="-122"/>
                <a:cs typeface="Arial" pitchFamily="34" charset="-120"/>
              </a:rPr>
              <a:t>An AI coding agent that lives in your terminal. It reads your files, writes code, runs commands, browses the web — and completes entire tasks autonomously.</a:t>
            </a:r>
            <a:endParaRPr lang="en-US" sz="1200" dirty="0"/>
          </a:p>
        </p:txBody>
      </p:sp>
      <p:sp>
        <p:nvSpPr>
          <p:cNvPr id="6" name="Text 4"/>
          <p:cNvSpPr/>
          <p:nvPr/>
        </p:nvSpPr>
        <p:spPr>
          <a:xfrm>
            <a:off x="381000" y="2506563"/>
            <a:ext cx="3810000" cy="634603"/>
          </a:xfrm>
          <a:prstGeom prst="rect">
            <a:avLst/>
          </a:prstGeom>
          <a:solidFill>
            <a:srgbClr val="00D4FF">
              <a:alpha val="10000"/>
            </a:srgbClr>
          </a:solidFill>
          <a:ln/>
        </p:spPr>
        <p:txBody>
          <a:bodyPr wrap="square" rtlCol="0" anchor="ctr"/>
          <a:lstStyle/>
          <a:p>
            <a:pPr indent="0" marL="0">
              <a:buNone/>
            </a:pPr>
            <a:endParaRPr lang="en-US" dirty="0"/>
          </a:p>
        </p:txBody>
      </p:sp>
      <p:sp>
        <p:nvSpPr>
          <p:cNvPr id="7" name="Shape 5"/>
          <p:cNvSpPr/>
          <p:nvPr/>
        </p:nvSpPr>
        <p:spPr>
          <a:xfrm>
            <a:off x="395288" y="2506563"/>
            <a:ext cx="0" cy="634603"/>
          </a:xfrm>
          <a:prstGeom prst="line">
            <a:avLst/>
          </a:prstGeom>
          <a:noFill/>
          <a:ln w="28575">
            <a:solidFill>
              <a:srgbClr val="00D4FF"/>
            </a:solidFill>
            <a:prstDash val="solid"/>
          </a:ln>
        </p:spPr>
      </p:sp>
      <p:sp>
        <p:nvSpPr>
          <p:cNvPr id="8" name="Text 6"/>
          <p:cNvSpPr/>
          <p:nvPr/>
        </p:nvSpPr>
        <p:spPr>
          <a:xfrm>
            <a:off x="561975" y="2747665"/>
            <a:ext cx="3546158" cy="152400"/>
          </a:xfrm>
          <a:prstGeom prst="rect">
            <a:avLst/>
          </a:prstGeom>
          <a:noFill/>
          <a:ln/>
        </p:spPr>
        <p:txBody>
          <a:bodyPr wrap="square" lIns="0" tIns="0" rIns="0" bIns="0" rtlCol="0" anchor="t"/>
          <a:lstStyle/>
          <a:p>
            <a:pPr algn="l" indent="0" marL="0">
              <a:spcBef>
                <a:spcPts val="1100"/>
              </a:spcBef>
              <a:spcAft>
                <a:spcPts val="1100"/>
              </a:spcAft>
              <a:buNone/>
            </a:pPr>
            <a:r>
              <a:rPr lang="en-US" sz="1100" b="1" dirty="0">
                <a:solidFill>
                  <a:srgbClr val="E0E0E0"/>
                </a:solidFill>
                <a:latin typeface="Arial" pitchFamily="34" charset="0"/>
                <a:ea typeface="Arial" pitchFamily="34" charset="-122"/>
                <a:cs typeface="Arial" pitchFamily="34" charset="-120"/>
              </a:rPr>
              <a:t>Not a chatbot.</a:t>
            </a:r>
            <a:pPr algn="l" indent="0" marL="0">
              <a:spcBef>
                <a:spcPts val="1100"/>
              </a:spcBef>
              <a:spcAft>
                <a:spcPts val="1100"/>
              </a:spcAft>
              <a:buNone/>
            </a:pPr>
            <a:r>
              <a:rPr lang="en-US" sz="1100" dirty="0">
                <a:solidFill>
                  <a:srgbClr val="E0E0E0"/>
                </a:solidFill>
                <a:latin typeface="Arial" pitchFamily="34" charset="0"/>
                <a:ea typeface="Arial" pitchFamily="34" charset="-122"/>
                <a:cs typeface="Arial" pitchFamily="34" charset="-120"/>
              </a:rPr>
              <a:t> It takes actions.</a:t>
            </a:r>
            <a:endParaRPr lang="en-US" sz="1100" dirty="0"/>
          </a:p>
        </p:txBody>
      </p:sp>
      <p:sp>
        <p:nvSpPr>
          <p:cNvPr id="9" name="Text 7"/>
          <p:cNvSpPr/>
          <p:nvPr/>
        </p:nvSpPr>
        <p:spPr>
          <a:xfrm>
            <a:off x="381000" y="3242667"/>
            <a:ext cx="3810000" cy="634603"/>
          </a:xfrm>
          <a:prstGeom prst="rect">
            <a:avLst/>
          </a:prstGeom>
          <a:solidFill>
            <a:srgbClr val="00D4FF">
              <a:alpha val="10000"/>
            </a:srgbClr>
          </a:solidFill>
          <a:ln/>
        </p:spPr>
        <p:txBody>
          <a:bodyPr wrap="square" rtlCol="0" anchor="ctr"/>
          <a:lstStyle/>
          <a:p>
            <a:pPr indent="0" marL="0">
              <a:buNone/>
            </a:pPr>
            <a:endParaRPr lang="en-US" dirty="0"/>
          </a:p>
        </p:txBody>
      </p:sp>
      <p:sp>
        <p:nvSpPr>
          <p:cNvPr id="10" name="Shape 8"/>
          <p:cNvSpPr/>
          <p:nvPr/>
        </p:nvSpPr>
        <p:spPr>
          <a:xfrm>
            <a:off x="395288" y="3242667"/>
            <a:ext cx="0" cy="634603"/>
          </a:xfrm>
          <a:prstGeom prst="line">
            <a:avLst/>
          </a:prstGeom>
          <a:noFill/>
          <a:ln w="28575">
            <a:solidFill>
              <a:srgbClr val="00D4FF"/>
            </a:solidFill>
            <a:prstDash val="solid"/>
          </a:ln>
        </p:spPr>
      </p:sp>
      <p:sp>
        <p:nvSpPr>
          <p:cNvPr id="11" name="Text 9"/>
          <p:cNvSpPr/>
          <p:nvPr/>
        </p:nvSpPr>
        <p:spPr>
          <a:xfrm>
            <a:off x="561975" y="3483769"/>
            <a:ext cx="3546158" cy="152400"/>
          </a:xfrm>
          <a:prstGeom prst="rect">
            <a:avLst/>
          </a:prstGeom>
          <a:noFill/>
          <a:ln/>
        </p:spPr>
        <p:txBody>
          <a:bodyPr wrap="square" lIns="0" tIns="0" rIns="0" bIns="0" rtlCol="0" anchor="t"/>
          <a:lstStyle/>
          <a:p>
            <a:pPr algn="l" indent="0" marL="0">
              <a:spcBef>
                <a:spcPts val="1100"/>
              </a:spcBef>
              <a:spcAft>
                <a:spcPts val="1100"/>
              </a:spcAft>
              <a:buNone/>
            </a:pPr>
            <a:r>
              <a:rPr lang="en-US" sz="1100" b="1" dirty="0">
                <a:solidFill>
                  <a:srgbClr val="E0E0E0"/>
                </a:solidFill>
                <a:latin typeface="Arial" pitchFamily="34" charset="0"/>
                <a:ea typeface="Arial" pitchFamily="34" charset="-122"/>
                <a:cs typeface="Arial" pitchFamily="34" charset="-120"/>
              </a:rPr>
              <a:t>Not just code.</a:t>
            </a:r>
            <a:pPr algn="l" indent="0" marL="0">
              <a:spcBef>
                <a:spcPts val="1100"/>
              </a:spcBef>
              <a:spcAft>
                <a:spcPts val="1100"/>
              </a:spcAft>
              <a:buNone/>
            </a:pPr>
            <a:r>
              <a:rPr lang="en-US" sz="1100" dirty="0">
                <a:solidFill>
                  <a:srgbClr val="E0E0E0"/>
                </a:solidFill>
                <a:latin typeface="Arial" pitchFamily="34" charset="0"/>
                <a:ea typeface="Arial" pitchFamily="34" charset="-122"/>
                <a:cs typeface="Arial" pitchFamily="34" charset="-120"/>
              </a:rPr>
              <a:t> Research, writing, analysis.</a:t>
            </a:r>
            <a:endParaRPr lang="en-US" sz="1100" dirty="0"/>
          </a:p>
        </p:txBody>
      </p:sp>
      <p:sp>
        <p:nvSpPr>
          <p:cNvPr id="12" name="Text 10"/>
          <p:cNvSpPr/>
          <p:nvPr/>
        </p:nvSpPr>
        <p:spPr>
          <a:xfrm>
            <a:off x="381000" y="3978771"/>
            <a:ext cx="3810000" cy="634603"/>
          </a:xfrm>
          <a:prstGeom prst="rect">
            <a:avLst/>
          </a:prstGeom>
          <a:solidFill>
            <a:srgbClr val="00D4FF">
              <a:alpha val="10000"/>
            </a:srgbClr>
          </a:solidFill>
          <a:ln/>
        </p:spPr>
        <p:txBody>
          <a:bodyPr wrap="square" rtlCol="0" anchor="ctr"/>
          <a:lstStyle/>
          <a:p>
            <a:pPr indent="0" marL="0">
              <a:buNone/>
            </a:pPr>
            <a:endParaRPr lang="en-US" dirty="0"/>
          </a:p>
        </p:txBody>
      </p:sp>
      <p:sp>
        <p:nvSpPr>
          <p:cNvPr id="13" name="Shape 11"/>
          <p:cNvSpPr/>
          <p:nvPr/>
        </p:nvSpPr>
        <p:spPr>
          <a:xfrm>
            <a:off x="395288" y="3978771"/>
            <a:ext cx="0" cy="634603"/>
          </a:xfrm>
          <a:prstGeom prst="line">
            <a:avLst/>
          </a:prstGeom>
          <a:noFill/>
          <a:ln w="28575">
            <a:solidFill>
              <a:srgbClr val="00D4FF"/>
            </a:solidFill>
            <a:prstDash val="solid"/>
          </a:ln>
        </p:spPr>
      </p:sp>
      <p:sp>
        <p:nvSpPr>
          <p:cNvPr id="14" name="Text 12"/>
          <p:cNvSpPr/>
          <p:nvPr/>
        </p:nvSpPr>
        <p:spPr>
          <a:xfrm>
            <a:off x="561975" y="4219873"/>
            <a:ext cx="3546158" cy="152400"/>
          </a:xfrm>
          <a:prstGeom prst="rect">
            <a:avLst/>
          </a:prstGeom>
          <a:noFill/>
          <a:ln/>
        </p:spPr>
        <p:txBody>
          <a:bodyPr wrap="square" lIns="0" tIns="0" rIns="0" bIns="0" rtlCol="0" anchor="t"/>
          <a:lstStyle/>
          <a:p>
            <a:pPr algn="l" indent="0" marL="0">
              <a:spcBef>
                <a:spcPts val="1100"/>
              </a:spcBef>
              <a:spcAft>
                <a:spcPts val="1100"/>
              </a:spcAft>
              <a:buNone/>
            </a:pPr>
            <a:r>
              <a:rPr lang="en-US" sz="1100" b="1" dirty="0">
                <a:solidFill>
                  <a:srgbClr val="E0E0E0"/>
                </a:solidFill>
                <a:latin typeface="Arial" pitchFamily="34" charset="0"/>
                <a:ea typeface="Arial" pitchFamily="34" charset="-122"/>
                <a:cs typeface="Arial" pitchFamily="34" charset="-120"/>
              </a:rPr>
              <a:t>Not just local.</a:t>
            </a:r>
            <a:pPr algn="l" indent="0" marL="0">
              <a:spcBef>
                <a:spcPts val="1100"/>
              </a:spcBef>
              <a:spcAft>
                <a:spcPts val="1100"/>
              </a:spcAft>
              <a:buNone/>
            </a:pPr>
            <a:r>
              <a:rPr lang="en-US" sz="1100" dirty="0">
                <a:solidFill>
                  <a:srgbClr val="E0E0E0"/>
                </a:solidFill>
                <a:latin typeface="Arial" pitchFamily="34" charset="0"/>
                <a:ea typeface="Arial" pitchFamily="34" charset="-122"/>
                <a:cs typeface="Arial" pitchFamily="34" charset="-120"/>
              </a:rPr>
              <a:t> Web, APIs, databases.</a:t>
            </a:r>
            <a:endParaRPr lang="en-US" sz="1100" dirty="0"/>
          </a:p>
        </p:txBody>
      </p:sp>
      <p:sp>
        <p:nvSpPr>
          <p:cNvPr id="15" name="Text 13"/>
          <p:cNvSpPr/>
          <p:nvPr/>
        </p:nvSpPr>
        <p:spPr>
          <a:xfrm>
            <a:off x="4572000" y="0"/>
            <a:ext cx="4572000" cy="5143500"/>
          </a:xfrm>
          <a:prstGeom prst="rect">
            <a:avLst/>
          </a:prstGeom>
          <a:solidFill>
            <a:srgbClr val="000000">
              <a:alpha val="40000"/>
            </a:srgbClr>
          </a:solidFill>
          <a:ln/>
        </p:spPr>
        <p:txBody>
          <a:bodyPr wrap="square" rtlCol="0" anchor="ctr"/>
          <a:lstStyle/>
          <a:p>
            <a:pPr indent="0" marL="0">
              <a:buNone/>
            </a:pPr>
            <a:endParaRPr lang="en-US" dirty="0"/>
          </a:p>
        </p:txBody>
      </p:sp>
      <p:sp>
        <p:nvSpPr>
          <p:cNvPr id="16" name="Shape 14"/>
          <p:cNvSpPr/>
          <p:nvPr/>
        </p:nvSpPr>
        <p:spPr>
          <a:xfrm>
            <a:off x="4581525" y="0"/>
            <a:ext cx="0" cy="5143500"/>
          </a:xfrm>
          <a:prstGeom prst="line">
            <a:avLst/>
          </a:prstGeom>
          <a:noFill/>
          <a:ln w="19050">
            <a:solidFill>
              <a:srgbClr val="00D4FF"/>
            </a:solidFill>
            <a:prstDash val="solid"/>
          </a:ln>
        </p:spPr>
      </p:sp>
      <p:sp>
        <p:nvSpPr>
          <p:cNvPr id="17" name="Text 15"/>
          <p:cNvSpPr/>
          <p:nvPr/>
        </p:nvSpPr>
        <p:spPr>
          <a:xfrm>
            <a:off x="4908500" y="1116062"/>
            <a:ext cx="3996410" cy="142875"/>
          </a:xfrm>
          <a:prstGeom prst="rect">
            <a:avLst/>
          </a:prstGeom>
          <a:noFill/>
          <a:ln/>
        </p:spPr>
        <p:txBody>
          <a:bodyPr wrap="square" lIns="0" tIns="0" rIns="0" bIns="0" rtlCol="0" anchor="t"/>
          <a:lstStyle/>
          <a:p>
            <a:pPr algn="l" indent="0" marL="0">
              <a:spcBef>
                <a:spcPts val="1000"/>
              </a:spcBef>
              <a:spcAft>
                <a:spcPts val="1200"/>
              </a:spcAft>
              <a:buNone/>
            </a:pPr>
            <a:r>
              <a:rPr lang="en-US" sz="1000" dirty="0">
                <a:solidFill>
                  <a:srgbClr val="7EE787"/>
                </a:solidFill>
                <a:latin typeface="Arial" pitchFamily="34" charset="0"/>
                <a:ea typeface="Arial" pitchFamily="34" charset="-122"/>
                <a:cs typeface="Arial" pitchFamily="34" charset="-120"/>
              </a:rPr>
              <a:t>TERMINAL SESSION</a:t>
            </a:r>
            <a:endParaRPr lang="en-US" sz="1000" dirty="0"/>
          </a:p>
        </p:txBody>
      </p:sp>
      <p:sp>
        <p:nvSpPr>
          <p:cNvPr id="18" name="Text 16"/>
          <p:cNvSpPr/>
          <p:nvPr/>
        </p:nvSpPr>
        <p:spPr>
          <a:xfrm>
            <a:off x="4908500" y="1411337"/>
            <a:ext cx="3918049" cy="2742902"/>
          </a:xfrm>
          <a:prstGeom prst="rect">
            <a:avLst/>
          </a:prstGeom>
          <a:solidFill>
            <a:srgbClr val="0D1117"/>
          </a:solidFill>
          <a:ln w="9525">
            <a:solidFill>
              <a:srgbClr val="30363D"/>
            </a:solidFill>
          </a:ln>
        </p:spPr>
        <p:txBody>
          <a:bodyPr wrap="square" rtlCol="0" anchor="ctr"/>
          <a:lstStyle/>
          <a:p>
            <a:pPr indent="0" marL="0">
              <a:buNone/>
            </a:pPr>
            <a:endParaRPr lang="en-US" dirty="0"/>
          </a:p>
        </p:txBody>
      </p:sp>
      <p:sp>
        <p:nvSpPr>
          <p:cNvPr id="19" name="Text 17"/>
          <p:cNvSpPr/>
          <p:nvPr/>
        </p:nvSpPr>
        <p:spPr>
          <a:xfrm>
            <a:off x="5070425" y="1573262"/>
            <a:ext cx="126950" cy="126950"/>
          </a:xfrm>
          <a:prstGeom prst="roundRect">
            <a:avLst>
              <a:gd name="adj" fmla="val 720284"/>
            </a:avLst>
          </a:prstGeom>
          <a:solidFill>
            <a:srgbClr val="FF5F57"/>
          </a:solidFill>
          <a:ln/>
        </p:spPr>
        <p:txBody>
          <a:bodyPr wrap="square" rtlCol="0" anchor="ctr"/>
          <a:lstStyle/>
          <a:p>
            <a:pPr indent="0" marL="0">
              <a:buNone/>
            </a:pPr>
            <a:endParaRPr lang="en-US" dirty="0"/>
          </a:p>
        </p:txBody>
      </p:sp>
      <p:sp>
        <p:nvSpPr>
          <p:cNvPr id="20" name="Text 18"/>
          <p:cNvSpPr/>
          <p:nvPr/>
        </p:nvSpPr>
        <p:spPr>
          <a:xfrm>
            <a:off x="5273576" y="1573262"/>
            <a:ext cx="126950" cy="126950"/>
          </a:xfrm>
          <a:prstGeom prst="roundRect">
            <a:avLst>
              <a:gd name="adj" fmla="val 720284"/>
            </a:avLst>
          </a:prstGeom>
          <a:solidFill>
            <a:srgbClr val="FFBD2E"/>
          </a:solidFill>
          <a:ln/>
        </p:spPr>
        <p:txBody>
          <a:bodyPr wrap="square" rtlCol="0" anchor="ctr"/>
          <a:lstStyle/>
          <a:p>
            <a:pPr indent="0" marL="0">
              <a:buNone/>
            </a:pPr>
            <a:endParaRPr lang="en-US" dirty="0"/>
          </a:p>
        </p:txBody>
      </p:sp>
      <p:sp>
        <p:nvSpPr>
          <p:cNvPr id="21" name="Text 19"/>
          <p:cNvSpPr/>
          <p:nvPr/>
        </p:nvSpPr>
        <p:spPr>
          <a:xfrm>
            <a:off x="5476726" y="1573262"/>
            <a:ext cx="126950" cy="126950"/>
          </a:xfrm>
          <a:prstGeom prst="roundRect">
            <a:avLst>
              <a:gd name="adj" fmla="val 720284"/>
            </a:avLst>
          </a:prstGeom>
          <a:solidFill>
            <a:srgbClr val="28CA41"/>
          </a:solidFill>
          <a:ln/>
        </p:spPr>
        <p:txBody>
          <a:bodyPr wrap="square" rtlCol="0" anchor="ctr"/>
          <a:lstStyle/>
          <a:p>
            <a:pPr indent="0" marL="0">
              <a:buNone/>
            </a:pPr>
            <a:endParaRPr lang="en-US" dirty="0"/>
          </a:p>
        </p:txBody>
      </p:sp>
      <p:sp>
        <p:nvSpPr>
          <p:cNvPr id="22" name="Text 20"/>
          <p:cNvSpPr/>
          <p:nvPr/>
        </p:nvSpPr>
        <p:spPr>
          <a:xfrm>
            <a:off x="5070425" y="1827163"/>
            <a:ext cx="3666083" cy="285750"/>
          </a:xfrm>
          <a:prstGeom prst="rect">
            <a:avLst/>
          </a:prstGeom>
          <a:noFill/>
          <a:ln/>
        </p:spPr>
        <p:txBody>
          <a:bodyPr wrap="square" lIns="0" tIns="0" rIns="0" bIns="0" rtlCol="0" anchor="t"/>
          <a:lstStyle/>
          <a:p>
            <a:pPr algn="l" indent="0" marL="0">
              <a:spcBef>
                <a:spcPts val="1000"/>
              </a:spcBef>
              <a:spcAft>
                <a:spcPts val="400"/>
              </a:spcAft>
              <a:buNone/>
            </a:pPr>
            <a:r>
              <a:rPr lang="en-US" sz="1000" dirty="0">
                <a:solidFill>
                  <a:srgbClr val="7EE787"/>
                </a:solidFill>
                <a:latin typeface="Courier New" pitchFamily="34" charset="0"/>
                <a:ea typeface="Courier New" pitchFamily="34" charset="-122"/>
                <a:cs typeface="Courier New" pitchFamily="34" charset="-120"/>
              </a:rPr>
              <a:t>$ claude "analyze patient_data.csv and find outliers"</a:t>
            </a:r>
            <a:endParaRPr lang="en-US" sz="1000" dirty="0"/>
          </a:p>
        </p:txBody>
      </p:sp>
      <p:sp>
        <p:nvSpPr>
          <p:cNvPr id="23" name="Text 21"/>
          <p:cNvSpPr/>
          <p:nvPr/>
        </p:nvSpPr>
        <p:spPr>
          <a:xfrm>
            <a:off x="5070425" y="2227213"/>
            <a:ext cx="3666083" cy="142875"/>
          </a:xfrm>
          <a:prstGeom prst="rect">
            <a:avLst/>
          </a:prstGeom>
          <a:noFill/>
          <a:ln/>
        </p:spPr>
        <p:txBody>
          <a:bodyPr wrap="square" lIns="0" tIns="0" rIns="0" bIns="0" rtlCol="0" anchor="t"/>
          <a:lstStyle/>
          <a:p>
            <a:pPr algn="l" indent="0" marL="0">
              <a:spcBef>
                <a:spcPts val="900"/>
              </a:spcBef>
              <a:spcAft>
                <a:spcPts val="900"/>
              </a:spcAft>
              <a:buNone/>
            </a:pPr>
            <a:r>
              <a:rPr lang="en-US" sz="900" dirty="0">
                <a:solidFill>
                  <a:srgbClr val="8B949E"/>
                </a:solidFill>
                <a:latin typeface="Courier New" pitchFamily="34" charset="0"/>
                <a:ea typeface="Courier New" pitchFamily="34" charset="-122"/>
                <a:cs typeface="Courier New" pitchFamily="34" charset="-120"/>
              </a:rPr>
              <a:t>✦ Reading patient_data.csv (2,847 rows)</a:t>
            </a:r>
            <a:endParaRPr lang="en-US" sz="900" dirty="0"/>
          </a:p>
        </p:txBody>
      </p:sp>
      <p:sp>
        <p:nvSpPr>
          <p:cNvPr id="24" name="Text 22"/>
          <p:cNvSpPr/>
          <p:nvPr/>
        </p:nvSpPr>
        <p:spPr>
          <a:xfrm>
            <a:off x="5070425" y="2484388"/>
            <a:ext cx="3666083" cy="142875"/>
          </a:xfrm>
          <a:prstGeom prst="rect">
            <a:avLst/>
          </a:prstGeom>
          <a:noFill/>
          <a:ln/>
        </p:spPr>
        <p:txBody>
          <a:bodyPr wrap="square" lIns="0" tIns="0" rIns="0" bIns="0" rtlCol="0" anchor="t"/>
          <a:lstStyle/>
          <a:p>
            <a:pPr algn="l" indent="0" marL="0">
              <a:spcBef>
                <a:spcPts val="900"/>
              </a:spcBef>
              <a:spcAft>
                <a:spcPts val="900"/>
              </a:spcAft>
              <a:buNone/>
            </a:pPr>
            <a:r>
              <a:rPr lang="en-US" sz="900" dirty="0">
                <a:solidFill>
                  <a:srgbClr val="8B949E"/>
                </a:solidFill>
                <a:latin typeface="Courier New" pitchFamily="34" charset="0"/>
                <a:ea typeface="Courier New" pitchFamily="34" charset="-122"/>
                <a:cs typeface="Courier New" pitchFamily="34" charset="-120"/>
              </a:rPr>
              <a:t>✦ Running statistical analysis...</a:t>
            </a:r>
            <a:endParaRPr lang="en-US" sz="900" dirty="0"/>
          </a:p>
        </p:txBody>
      </p:sp>
      <p:sp>
        <p:nvSpPr>
          <p:cNvPr id="25" name="Text 23"/>
          <p:cNvSpPr/>
          <p:nvPr/>
        </p:nvSpPr>
        <p:spPr>
          <a:xfrm>
            <a:off x="5070425" y="2741563"/>
            <a:ext cx="3666083" cy="142875"/>
          </a:xfrm>
          <a:prstGeom prst="rect">
            <a:avLst/>
          </a:prstGeom>
          <a:noFill/>
          <a:ln/>
        </p:spPr>
        <p:txBody>
          <a:bodyPr wrap="square" lIns="0" tIns="0" rIns="0" bIns="0" rtlCol="0" anchor="t"/>
          <a:lstStyle/>
          <a:p>
            <a:pPr algn="l" indent="0" marL="0">
              <a:spcBef>
                <a:spcPts val="900"/>
              </a:spcBef>
              <a:spcAft>
                <a:spcPts val="900"/>
              </a:spcAft>
              <a:buNone/>
            </a:pPr>
            <a:r>
              <a:rPr lang="en-US" sz="900" dirty="0">
                <a:solidFill>
                  <a:srgbClr val="8B949E"/>
                </a:solidFill>
                <a:latin typeface="Courier New" pitchFamily="34" charset="0"/>
                <a:ea typeface="Courier New" pitchFamily="34" charset="-122"/>
                <a:cs typeface="Courier New" pitchFamily="34" charset="-120"/>
              </a:rPr>
              <a:t>✦ Generating visualization...</a:t>
            </a:r>
            <a:endParaRPr lang="en-US" sz="900" dirty="0"/>
          </a:p>
        </p:txBody>
      </p:sp>
      <p:sp>
        <p:nvSpPr>
          <p:cNvPr id="26" name="Text 24"/>
          <p:cNvSpPr/>
          <p:nvPr/>
        </p:nvSpPr>
        <p:spPr>
          <a:xfrm>
            <a:off x="5070425" y="3011388"/>
            <a:ext cx="3666083" cy="142875"/>
          </a:xfrm>
          <a:prstGeom prst="rect">
            <a:avLst/>
          </a:prstGeom>
          <a:noFill/>
          <a:ln/>
        </p:spPr>
        <p:txBody>
          <a:bodyPr wrap="square" lIns="0" tIns="0" rIns="0" bIns="0" rtlCol="0" anchor="t"/>
          <a:lstStyle/>
          <a:p>
            <a:pPr algn="l" indent="0" marL="0">
              <a:spcBef>
                <a:spcPts val="1000"/>
              </a:spcBef>
              <a:spcAft>
                <a:spcPts val="400"/>
              </a:spcAft>
              <a:buNone/>
            </a:pPr>
            <a:r>
              <a:rPr lang="en-US" sz="1000" dirty="0">
                <a:solidFill>
                  <a:srgbClr val="79C0FF"/>
                </a:solidFill>
                <a:latin typeface="Courier New" pitchFamily="34" charset="0"/>
                <a:ea typeface="Courier New" pitchFamily="34" charset="-122"/>
                <a:cs typeface="Courier New" pitchFamily="34" charset="-120"/>
              </a:rPr>
              <a:t>Found 12 outliers in PSA column (&gt;3 SD)</a:t>
            </a:r>
            <a:endParaRPr lang="en-US" sz="1000" dirty="0"/>
          </a:p>
        </p:txBody>
      </p:sp>
      <p:sp>
        <p:nvSpPr>
          <p:cNvPr id="27" name="Text 25"/>
          <p:cNvSpPr/>
          <p:nvPr/>
        </p:nvSpPr>
        <p:spPr>
          <a:xfrm>
            <a:off x="5070425" y="3281214"/>
            <a:ext cx="3666083" cy="142875"/>
          </a:xfrm>
          <a:prstGeom prst="rect">
            <a:avLst/>
          </a:prstGeom>
          <a:noFill/>
          <a:ln/>
        </p:spPr>
        <p:txBody>
          <a:bodyPr wrap="square" lIns="0" tIns="0" rIns="0" bIns="0" rtlCol="0" anchor="t"/>
          <a:lstStyle/>
          <a:p>
            <a:pPr algn="l" indent="0" marL="0">
              <a:spcBef>
                <a:spcPts val="1000"/>
              </a:spcBef>
              <a:spcAft>
                <a:spcPts val="400"/>
              </a:spcAft>
              <a:buNone/>
            </a:pPr>
            <a:r>
              <a:rPr lang="en-US" sz="1000" dirty="0">
                <a:solidFill>
                  <a:srgbClr val="79C0FF"/>
                </a:solidFill>
                <a:latin typeface="Courier New" pitchFamily="34" charset="0"/>
                <a:ea typeface="Courier New" pitchFamily="34" charset="-122"/>
                <a:cs typeface="Courier New" pitchFamily="34" charset="-120"/>
              </a:rPr>
              <a:t>Saved: outlier_report.pdf</a:t>
            </a:r>
            <a:endParaRPr lang="en-US" sz="1000" dirty="0"/>
          </a:p>
        </p:txBody>
      </p:sp>
      <p:sp>
        <p:nvSpPr>
          <p:cNvPr id="28" name="Text 26"/>
          <p:cNvSpPr/>
          <p:nvPr/>
        </p:nvSpPr>
        <p:spPr>
          <a:xfrm>
            <a:off x="5070425" y="3551039"/>
            <a:ext cx="3666083" cy="142875"/>
          </a:xfrm>
          <a:prstGeom prst="rect">
            <a:avLst/>
          </a:prstGeom>
          <a:noFill/>
          <a:ln/>
        </p:spPr>
        <p:txBody>
          <a:bodyPr wrap="square" lIns="0" tIns="0" rIns="0" bIns="0" rtlCol="0" anchor="t"/>
          <a:lstStyle/>
          <a:p>
            <a:pPr algn="l" indent="0" marL="0">
              <a:spcBef>
                <a:spcPts val="1000"/>
              </a:spcBef>
              <a:spcAft>
                <a:spcPts val="400"/>
              </a:spcAft>
              <a:buNone/>
            </a:pPr>
            <a:r>
              <a:rPr lang="en-US" sz="1000" dirty="0">
                <a:solidFill>
                  <a:srgbClr val="79C0FF"/>
                </a:solidFill>
                <a:latin typeface="Courier New" pitchFamily="34" charset="0"/>
                <a:ea typeface="Courier New" pitchFamily="34" charset="-122"/>
                <a:cs typeface="Courier New" pitchFamily="34" charset="-120"/>
              </a:rPr>
              <a:t>Saved: outlier_plot.png</a:t>
            </a:r>
            <a:endParaRPr lang="en-US" sz="1000" dirty="0"/>
          </a:p>
        </p:txBody>
      </p:sp>
      <p:sp>
        <p:nvSpPr>
          <p:cNvPr id="29" name="Text 27"/>
          <p:cNvSpPr/>
          <p:nvPr/>
        </p:nvSpPr>
        <p:spPr>
          <a:xfrm>
            <a:off x="5070425" y="3808214"/>
            <a:ext cx="3666083" cy="133350"/>
          </a:xfrm>
          <a:prstGeom prst="rect">
            <a:avLst/>
          </a:prstGeom>
          <a:noFill/>
          <a:ln/>
        </p:spPr>
        <p:txBody>
          <a:bodyPr wrap="square" lIns="0" tIns="0" rIns="0" bIns="0" rtlCol="0" anchor="t"/>
          <a:lstStyle/>
          <a:p>
            <a:pPr algn="l" indent="0" marL="0">
              <a:spcBef>
                <a:spcPts val="900"/>
              </a:spcBef>
              <a:spcAft>
                <a:spcPts val="400"/>
              </a:spcAft>
              <a:buNone/>
            </a:pPr>
            <a:r>
              <a:rPr lang="en-US" sz="900" dirty="0">
                <a:solidFill>
                  <a:srgbClr val="E6EDF3"/>
                </a:solidFill>
                <a:latin typeface="Courier New" pitchFamily="34" charset="0"/>
                <a:ea typeface="Courier New" pitchFamily="34" charset="-122"/>
                <a:cs typeface="Courier New" pitchFamily="34" charset="-120"/>
              </a:rPr>
              <a:t>Summary: Patient IDs 102, 347, 891... require review</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50A1E"/>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D4FF"/>
          </a:solidFill>
          <a:ln/>
        </p:spPr>
        <p:txBody>
          <a:bodyPr wrap="square" rtlCol="0" anchor="ctr"/>
          <a:lstStyle/>
          <a:p>
            <a:pPr indent="0" marL="0">
              <a:buNone/>
            </a:pPr>
            <a:endParaRPr lang="en-US" dirty="0"/>
          </a:p>
        </p:txBody>
      </p:sp>
      <p:sp>
        <p:nvSpPr>
          <p:cNvPr id="3" name="Text 1"/>
          <p:cNvSpPr/>
          <p:nvPr/>
        </p:nvSpPr>
        <p:spPr>
          <a:xfrm>
            <a:off x="3760738" y="960537"/>
            <a:ext cx="1654975" cy="142875"/>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00D4FF"/>
                </a:solidFill>
                <a:latin typeface="Arial" pitchFamily="34" charset="0"/>
                <a:ea typeface="Arial" pitchFamily="34" charset="-122"/>
                <a:cs typeface="Arial" pitchFamily="34" charset="-120"/>
              </a:rPr>
              <a:t>REAL USE CASES</a:t>
            </a:r>
            <a:endParaRPr lang="en-US" sz="1000" dirty="0"/>
          </a:p>
        </p:txBody>
      </p:sp>
      <p:sp>
        <p:nvSpPr>
          <p:cNvPr id="4" name="Text 2"/>
          <p:cNvSpPr/>
          <p:nvPr/>
        </p:nvSpPr>
        <p:spPr>
          <a:xfrm>
            <a:off x="1624864" y="1230362"/>
            <a:ext cx="5894272" cy="371475"/>
          </a:xfrm>
          <a:prstGeom prst="rect">
            <a:avLst/>
          </a:prstGeom>
          <a:noFill/>
          <a:ln/>
        </p:spPr>
        <p:txBody>
          <a:bodyPr wrap="square" lIns="0" tIns="0" rIns="0" bIns="0" rtlCol="0" anchor="t"/>
          <a:lstStyle/>
          <a:p>
            <a:pPr algn="ctr" indent="0" marL="0">
              <a:spcAft>
                <a:spcPts val="600"/>
              </a:spcAft>
              <a:buNone/>
            </a:pPr>
            <a:r>
              <a:rPr lang="en-US" sz="2600" dirty="0">
                <a:solidFill>
                  <a:srgbClr val="FFFFFF"/>
                </a:solidFill>
                <a:latin typeface="Arial" pitchFamily="34" charset="0"/>
                <a:ea typeface="Arial" pitchFamily="34" charset="-122"/>
                <a:cs typeface="Arial" pitchFamily="34" charset="-120"/>
              </a:rPr>
              <a:t>Claude Code in My </a:t>
            </a:r>
            <a:pPr algn="ctr" indent="0" marL="0">
              <a:spcAft>
                <a:spcPts val="600"/>
              </a:spcAft>
              <a:buNone/>
            </a:pPr>
            <a:r>
              <a:rPr lang="en-US" sz="2600" b="1" dirty="0">
                <a:solidFill>
                  <a:srgbClr val="00D4FF"/>
                </a:solidFill>
                <a:latin typeface="Arial" pitchFamily="34" charset="0"/>
                <a:ea typeface="Arial" pitchFamily="34" charset="-122"/>
                <a:cs typeface="Arial" pitchFamily="34" charset="-120"/>
              </a:rPr>
              <a:t>Daily Clinical Life</a:t>
            </a:r>
            <a:endParaRPr lang="en-US" sz="2600" dirty="0"/>
          </a:p>
        </p:txBody>
      </p:sp>
      <p:sp>
        <p:nvSpPr>
          <p:cNvPr id="5" name="Text 3"/>
          <p:cNvSpPr/>
          <p:nvPr/>
        </p:nvSpPr>
        <p:spPr>
          <a:xfrm>
            <a:off x="2349731" y="1830437"/>
            <a:ext cx="4444538" cy="171450"/>
          </a:xfrm>
          <a:prstGeom prst="rect">
            <a:avLst/>
          </a:prstGeom>
          <a:noFill/>
          <a:ln/>
        </p:spPr>
        <p:txBody>
          <a:bodyPr wrap="square" lIns="0" tIns="0" rIns="0" bIns="0" rtlCol="0" anchor="t"/>
          <a:lstStyle/>
          <a:p>
            <a:pPr algn="ctr" indent="0" marL="0">
              <a:spcBef>
                <a:spcPts val="1200"/>
              </a:spcBef>
              <a:spcAft>
                <a:spcPts val="2200"/>
              </a:spcAft>
              <a:buNone/>
            </a:pPr>
            <a:r>
              <a:rPr lang="en-US" sz="1200" dirty="0">
                <a:solidFill>
                  <a:srgbClr val="B0BEC5"/>
                </a:solidFill>
                <a:latin typeface="Arial" pitchFamily="34" charset="0"/>
                <a:ea typeface="Arial" pitchFamily="34" charset="-122"/>
                <a:cs typeface="Arial" pitchFamily="34" charset="-120"/>
              </a:rPr>
              <a:t>From morning rounds to midnight research — it's always running</a:t>
            </a:r>
            <a:endParaRPr lang="en-US" sz="1200" dirty="0"/>
          </a:p>
        </p:txBody>
      </p:sp>
      <p:sp>
        <p:nvSpPr>
          <p:cNvPr id="6" name="Text 4"/>
          <p:cNvSpPr/>
          <p:nvPr/>
        </p:nvSpPr>
        <p:spPr>
          <a:xfrm>
            <a:off x="177998" y="2281238"/>
            <a:ext cx="2101751" cy="2028527"/>
          </a:xfrm>
          <a:prstGeom prst="rect">
            <a:avLst/>
          </a:prstGeom>
          <a:solidFill>
            <a:srgbClr val="00D4FF">
              <a:alpha val="7000"/>
            </a:srgbClr>
          </a:solidFill>
          <a:ln w="9525">
            <a:solidFill>
              <a:srgbClr val="00D4FF"/>
            </a:solidFill>
          </a:ln>
        </p:spPr>
        <p:txBody>
          <a:bodyPr wrap="square" rtlCol="0" anchor="ctr"/>
          <a:lstStyle/>
          <a:p>
            <a:pPr indent="0" marL="0">
              <a:buNone/>
            </a:pPr>
            <a:endParaRPr lang="en-US" dirty="0"/>
          </a:p>
        </p:txBody>
      </p:sp>
      <p:sp>
        <p:nvSpPr>
          <p:cNvPr id="7" name="Text 5"/>
          <p:cNvSpPr/>
          <p:nvPr/>
        </p:nvSpPr>
        <p:spPr>
          <a:xfrm>
            <a:off x="339923" y="2722364"/>
            <a:ext cx="1813459" cy="333375"/>
          </a:xfrm>
          <a:prstGeom prst="rect">
            <a:avLst/>
          </a:prstGeom>
          <a:noFill/>
          <a:ln/>
        </p:spPr>
        <p:txBody>
          <a:bodyPr wrap="square" lIns="0" tIns="0" rIns="0" bIns="0" rtlCol="0" anchor="t"/>
          <a:lstStyle/>
          <a:p>
            <a:pPr algn="l" indent="0" marL="0">
              <a:spcBef>
                <a:spcPts val="2000"/>
              </a:spcBef>
              <a:spcAft>
                <a:spcPts val="800"/>
              </a:spcAft>
              <a:buNone/>
            </a:pPr>
            <a:r>
              <a:rPr lang="en-US" sz="2000" b="1" dirty="0">
                <a:solidFill>
                  <a:srgbClr val="00D4FF"/>
                </a:solidFill>
                <a:latin typeface="Arial" pitchFamily="34" charset="0"/>
                <a:ea typeface="Arial" pitchFamily="34" charset="-122"/>
                <a:cs typeface="Arial" pitchFamily="34" charset="-120"/>
              </a:rPr>
              <a:t>📊</a:t>
            </a:r>
            <a:endParaRPr lang="en-US" sz="2000" dirty="0"/>
          </a:p>
        </p:txBody>
      </p:sp>
      <p:sp>
        <p:nvSpPr>
          <p:cNvPr id="8" name="Text 6"/>
          <p:cNvSpPr/>
          <p:nvPr/>
        </p:nvSpPr>
        <p:spPr>
          <a:xfrm>
            <a:off x="339923" y="3208139"/>
            <a:ext cx="1813459" cy="171450"/>
          </a:xfrm>
          <a:prstGeom prst="rect">
            <a:avLst/>
          </a:prstGeom>
          <a:noFill/>
          <a:ln/>
        </p:spPr>
        <p:txBody>
          <a:bodyPr wrap="square" lIns="0" tIns="0" rIns="0" bIns="0" rtlCol="0" anchor="t"/>
          <a:lstStyle/>
          <a:p>
            <a:pPr algn="l" indent="0" marL="0">
              <a:spcBef>
                <a:spcPts val="1200"/>
              </a:spcBef>
              <a:spcAft>
                <a:spcPts val="600"/>
              </a:spcAft>
              <a:buNone/>
            </a:pPr>
            <a:r>
              <a:rPr lang="en-US" sz="1200" b="1" dirty="0">
                <a:solidFill>
                  <a:srgbClr val="FFFFFF"/>
                </a:solidFill>
                <a:latin typeface="Arial" pitchFamily="34" charset="0"/>
                <a:ea typeface="Arial" pitchFamily="34" charset="-122"/>
                <a:cs typeface="Arial" pitchFamily="34" charset="-120"/>
              </a:rPr>
              <a:t>Research</a:t>
            </a:r>
            <a:endParaRPr lang="en-US" sz="1200" dirty="0"/>
          </a:p>
        </p:txBody>
      </p:sp>
      <p:sp>
        <p:nvSpPr>
          <p:cNvPr id="9" name="Text 7"/>
          <p:cNvSpPr/>
          <p:nvPr/>
        </p:nvSpPr>
        <p:spPr>
          <a:xfrm>
            <a:off x="339923" y="3493889"/>
            <a:ext cx="1813459" cy="514350"/>
          </a:xfrm>
          <a:prstGeom prst="rect">
            <a:avLst/>
          </a:prstGeom>
          <a:noFill/>
          <a:ln/>
        </p:spPr>
        <p:txBody>
          <a:bodyPr wrap="square" lIns="0" tIns="0" rIns="0" bIns="0" rtlCol="0" anchor="t"/>
          <a:lstStyle/>
          <a:p>
            <a:pPr algn="l" indent="0" marL="0">
              <a:lnSpc>
                <a:spcPts val="1350"/>
              </a:lnSpc>
              <a:spcBef>
                <a:spcPts val="900"/>
              </a:spcBef>
              <a:spcAft>
                <a:spcPts val="900"/>
              </a:spcAft>
              <a:buNone/>
            </a:pPr>
            <a:r>
              <a:rPr lang="en-US" sz="900" dirty="0">
                <a:solidFill>
                  <a:srgbClr val="9B9B9B"/>
                </a:solidFill>
                <a:latin typeface="Arial" pitchFamily="34" charset="0"/>
                <a:ea typeface="Arial" pitchFamily="34" charset="-122"/>
                <a:cs typeface="Arial" pitchFamily="34" charset="-120"/>
              </a:rPr>
              <a:t>PubMed queries · survival analysis · figure generation · manuscript drafts</a:t>
            </a:r>
            <a:endParaRPr lang="en-US" sz="900" dirty="0"/>
          </a:p>
        </p:txBody>
      </p:sp>
      <p:sp>
        <p:nvSpPr>
          <p:cNvPr id="10" name="Text 8"/>
          <p:cNvSpPr/>
          <p:nvPr/>
        </p:nvSpPr>
        <p:spPr>
          <a:xfrm>
            <a:off x="2406700" y="2281238"/>
            <a:ext cx="2101751" cy="2028527"/>
          </a:xfrm>
          <a:prstGeom prst="rect">
            <a:avLst/>
          </a:prstGeom>
          <a:solidFill>
            <a:srgbClr val="00D4FF">
              <a:alpha val="7000"/>
            </a:srgbClr>
          </a:solidFill>
          <a:ln w="9525">
            <a:solidFill>
              <a:srgbClr val="00D4FF"/>
            </a:solidFill>
          </a:ln>
        </p:spPr>
        <p:txBody>
          <a:bodyPr wrap="square" rtlCol="0" anchor="ctr"/>
          <a:lstStyle/>
          <a:p>
            <a:pPr indent="0" marL="0">
              <a:buNone/>
            </a:pPr>
            <a:endParaRPr lang="en-US" dirty="0"/>
          </a:p>
        </p:txBody>
      </p:sp>
      <p:sp>
        <p:nvSpPr>
          <p:cNvPr id="11" name="Text 9"/>
          <p:cNvSpPr/>
          <p:nvPr/>
        </p:nvSpPr>
        <p:spPr>
          <a:xfrm>
            <a:off x="2568625" y="2722364"/>
            <a:ext cx="1813459" cy="333375"/>
          </a:xfrm>
          <a:prstGeom prst="rect">
            <a:avLst/>
          </a:prstGeom>
          <a:noFill/>
          <a:ln/>
        </p:spPr>
        <p:txBody>
          <a:bodyPr wrap="square" lIns="0" tIns="0" rIns="0" bIns="0" rtlCol="0" anchor="t"/>
          <a:lstStyle/>
          <a:p>
            <a:pPr algn="l" indent="0" marL="0">
              <a:spcBef>
                <a:spcPts val="2000"/>
              </a:spcBef>
              <a:spcAft>
                <a:spcPts val="800"/>
              </a:spcAft>
              <a:buNone/>
            </a:pPr>
            <a:r>
              <a:rPr lang="en-US" sz="2000" b="1" dirty="0">
                <a:solidFill>
                  <a:srgbClr val="00D4FF"/>
                </a:solidFill>
                <a:latin typeface="Arial" pitchFamily="34" charset="0"/>
                <a:ea typeface="Arial" pitchFamily="34" charset="-122"/>
                <a:cs typeface="Arial" pitchFamily="34" charset="-120"/>
              </a:rPr>
              <a:t>🏥</a:t>
            </a:r>
            <a:endParaRPr lang="en-US" sz="2000" dirty="0"/>
          </a:p>
        </p:txBody>
      </p:sp>
      <p:sp>
        <p:nvSpPr>
          <p:cNvPr id="12" name="Text 10"/>
          <p:cNvSpPr/>
          <p:nvPr/>
        </p:nvSpPr>
        <p:spPr>
          <a:xfrm>
            <a:off x="2568625" y="3208139"/>
            <a:ext cx="1813459" cy="171450"/>
          </a:xfrm>
          <a:prstGeom prst="rect">
            <a:avLst/>
          </a:prstGeom>
          <a:noFill/>
          <a:ln/>
        </p:spPr>
        <p:txBody>
          <a:bodyPr wrap="square" lIns="0" tIns="0" rIns="0" bIns="0" rtlCol="0" anchor="t"/>
          <a:lstStyle/>
          <a:p>
            <a:pPr algn="l" indent="0" marL="0">
              <a:spcBef>
                <a:spcPts val="1200"/>
              </a:spcBef>
              <a:spcAft>
                <a:spcPts val="600"/>
              </a:spcAft>
              <a:buNone/>
            </a:pPr>
            <a:r>
              <a:rPr lang="en-US" sz="1200" b="1" dirty="0">
                <a:solidFill>
                  <a:srgbClr val="FFFFFF"/>
                </a:solidFill>
                <a:latin typeface="Arial" pitchFamily="34" charset="0"/>
                <a:ea typeface="Arial" pitchFamily="34" charset="-122"/>
                <a:cs typeface="Arial" pitchFamily="34" charset="-120"/>
              </a:rPr>
              <a:t>Clinical</a:t>
            </a:r>
            <a:endParaRPr lang="en-US" sz="1200" dirty="0"/>
          </a:p>
        </p:txBody>
      </p:sp>
      <p:sp>
        <p:nvSpPr>
          <p:cNvPr id="13" name="Text 11"/>
          <p:cNvSpPr/>
          <p:nvPr/>
        </p:nvSpPr>
        <p:spPr>
          <a:xfrm>
            <a:off x="2568625" y="3493889"/>
            <a:ext cx="1813459" cy="342900"/>
          </a:xfrm>
          <a:prstGeom prst="rect">
            <a:avLst/>
          </a:prstGeom>
          <a:noFill/>
          <a:ln/>
        </p:spPr>
        <p:txBody>
          <a:bodyPr wrap="square" lIns="0" tIns="0" rIns="0" bIns="0" rtlCol="0" anchor="t"/>
          <a:lstStyle/>
          <a:p>
            <a:pPr algn="l" indent="0" marL="0">
              <a:lnSpc>
                <a:spcPts val="1350"/>
              </a:lnSpc>
              <a:spcBef>
                <a:spcPts val="900"/>
              </a:spcBef>
              <a:spcAft>
                <a:spcPts val="900"/>
              </a:spcAft>
              <a:buNone/>
            </a:pPr>
            <a:r>
              <a:rPr lang="en-US" sz="900" dirty="0">
                <a:solidFill>
                  <a:srgbClr val="9B9B9B"/>
                </a:solidFill>
                <a:latin typeface="Arial" pitchFamily="34" charset="0"/>
                <a:ea typeface="Arial" pitchFamily="34" charset="-122"/>
                <a:cs typeface="Arial" pitchFamily="34" charset="-120"/>
              </a:rPr>
              <a:t>OPD note OCR · tumor board prep · patient data dashboards</a:t>
            </a:r>
            <a:endParaRPr lang="en-US" sz="900" dirty="0"/>
          </a:p>
        </p:txBody>
      </p:sp>
      <p:sp>
        <p:nvSpPr>
          <p:cNvPr id="14" name="Text 12"/>
          <p:cNvSpPr/>
          <p:nvPr/>
        </p:nvSpPr>
        <p:spPr>
          <a:xfrm>
            <a:off x="4635401" y="2281238"/>
            <a:ext cx="2101751" cy="2028527"/>
          </a:xfrm>
          <a:prstGeom prst="rect">
            <a:avLst/>
          </a:prstGeom>
          <a:solidFill>
            <a:srgbClr val="00D4FF">
              <a:alpha val="7000"/>
            </a:srgbClr>
          </a:solidFill>
          <a:ln w="9525">
            <a:solidFill>
              <a:srgbClr val="00D4FF"/>
            </a:solidFill>
          </a:ln>
        </p:spPr>
        <p:txBody>
          <a:bodyPr wrap="square" rtlCol="0" anchor="ctr"/>
          <a:lstStyle/>
          <a:p>
            <a:pPr indent="0" marL="0">
              <a:buNone/>
            </a:pPr>
            <a:endParaRPr lang="en-US" dirty="0"/>
          </a:p>
        </p:txBody>
      </p:sp>
      <p:sp>
        <p:nvSpPr>
          <p:cNvPr id="15" name="Text 13"/>
          <p:cNvSpPr/>
          <p:nvPr/>
        </p:nvSpPr>
        <p:spPr>
          <a:xfrm>
            <a:off x="4797326" y="2722364"/>
            <a:ext cx="1813459" cy="333375"/>
          </a:xfrm>
          <a:prstGeom prst="rect">
            <a:avLst/>
          </a:prstGeom>
          <a:noFill/>
          <a:ln/>
        </p:spPr>
        <p:txBody>
          <a:bodyPr wrap="square" lIns="0" tIns="0" rIns="0" bIns="0" rtlCol="0" anchor="t"/>
          <a:lstStyle/>
          <a:p>
            <a:pPr algn="l" indent="0" marL="0">
              <a:spcBef>
                <a:spcPts val="2000"/>
              </a:spcBef>
              <a:spcAft>
                <a:spcPts val="800"/>
              </a:spcAft>
              <a:buNone/>
            </a:pPr>
            <a:r>
              <a:rPr lang="en-US" sz="2000" b="1" dirty="0">
                <a:solidFill>
                  <a:srgbClr val="00D4FF"/>
                </a:solidFill>
                <a:latin typeface="Arial" pitchFamily="34" charset="0"/>
                <a:ea typeface="Arial" pitchFamily="34" charset="-122"/>
                <a:cs typeface="Arial" pitchFamily="34" charset="-120"/>
              </a:rPr>
              <a:t>📚</a:t>
            </a:r>
            <a:endParaRPr lang="en-US" sz="2000" dirty="0"/>
          </a:p>
        </p:txBody>
      </p:sp>
      <p:sp>
        <p:nvSpPr>
          <p:cNvPr id="16" name="Text 14"/>
          <p:cNvSpPr/>
          <p:nvPr/>
        </p:nvSpPr>
        <p:spPr>
          <a:xfrm>
            <a:off x="4797326" y="3208139"/>
            <a:ext cx="1813459" cy="171450"/>
          </a:xfrm>
          <a:prstGeom prst="rect">
            <a:avLst/>
          </a:prstGeom>
          <a:noFill/>
          <a:ln/>
        </p:spPr>
        <p:txBody>
          <a:bodyPr wrap="square" lIns="0" tIns="0" rIns="0" bIns="0" rtlCol="0" anchor="t"/>
          <a:lstStyle/>
          <a:p>
            <a:pPr algn="l" indent="0" marL="0">
              <a:spcBef>
                <a:spcPts val="1200"/>
              </a:spcBef>
              <a:spcAft>
                <a:spcPts val="600"/>
              </a:spcAft>
              <a:buNone/>
            </a:pPr>
            <a:r>
              <a:rPr lang="en-US" sz="1200" b="1" dirty="0">
                <a:solidFill>
                  <a:srgbClr val="FFFFFF"/>
                </a:solidFill>
                <a:latin typeface="Arial" pitchFamily="34" charset="0"/>
                <a:ea typeface="Arial" pitchFamily="34" charset="-122"/>
                <a:cs typeface="Arial" pitchFamily="34" charset="-120"/>
              </a:rPr>
              <a:t>Teaching</a:t>
            </a:r>
            <a:endParaRPr lang="en-US" sz="1200" dirty="0"/>
          </a:p>
        </p:txBody>
      </p:sp>
      <p:sp>
        <p:nvSpPr>
          <p:cNvPr id="17" name="Text 15"/>
          <p:cNvSpPr/>
          <p:nvPr/>
        </p:nvSpPr>
        <p:spPr>
          <a:xfrm>
            <a:off x="4797326" y="3493889"/>
            <a:ext cx="1813459" cy="342900"/>
          </a:xfrm>
          <a:prstGeom prst="rect">
            <a:avLst/>
          </a:prstGeom>
          <a:noFill/>
          <a:ln/>
        </p:spPr>
        <p:txBody>
          <a:bodyPr wrap="square" lIns="0" tIns="0" rIns="0" bIns="0" rtlCol="0" anchor="t"/>
          <a:lstStyle/>
          <a:p>
            <a:pPr algn="l" indent="0" marL="0">
              <a:lnSpc>
                <a:spcPts val="1350"/>
              </a:lnSpc>
              <a:spcBef>
                <a:spcPts val="900"/>
              </a:spcBef>
              <a:spcAft>
                <a:spcPts val="900"/>
              </a:spcAft>
              <a:buNone/>
            </a:pPr>
            <a:r>
              <a:rPr lang="en-US" sz="900" dirty="0">
                <a:solidFill>
                  <a:srgbClr val="9B9B9B"/>
                </a:solidFill>
                <a:latin typeface="Arial" pitchFamily="34" charset="0"/>
                <a:ea typeface="Arial" pitchFamily="34" charset="-122"/>
                <a:cs typeface="Arial" pitchFamily="34" charset="-120"/>
              </a:rPr>
              <a:t>Microbiology cases · quiz apps · lecture slides · course websites</a:t>
            </a:r>
            <a:endParaRPr lang="en-US" sz="900" dirty="0"/>
          </a:p>
        </p:txBody>
      </p:sp>
      <p:sp>
        <p:nvSpPr>
          <p:cNvPr id="18" name="Text 16"/>
          <p:cNvSpPr/>
          <p:nvPr/>
        </p:nvSpPr>
        <p:spPr>
          <a:xfrm>
            <a:off x="6864102" y="2281238"/>
            <a:ext cx="2101751" cy="2028527"/>
          </a:xfrm>
          <a:prstGeom prst="rect">
            <a:avLst/>
          </a:prstGeom>
          <a:solidFill>
            <a:srgbClr val="00D4FF">
              <a:alpha val="7000"/>
            </a:srgbClr>
          </a:solidFill>
          <a:ln w="9525">
            <a:solidFill>
              <a:srgbClr val="00D4FF"/>
            </a:solidFill>
          </a:ln>
        </p:spPr>
        <p:txBody>
          <a:bodyPr wrap="square" rtlCol="0" anchor="ctr"/>
          <a:lstStyle/>
          <a:p>
            <a:pPr indent="0" marL="0">
              <a:buNone/>
            </a:pPr>
            <a:endParaRPr lang="en-US" dirty="0"/>
          </a:p>
        </p:txBody>
      </p:sp>
      <p:sp>
        <p:nvSpPr>
          <p:cNvPr id="19" name="Text 17"/>
          <p:cNvSpPr/>
          <p:nvPr/>
        </p:nvSpPr>
        <p:spPr>
          <a:xfrm>
            <a:off x="7026027" y="2722364"/>
            <a:ext cx="1813459" cy="333375"/>
          </a:xfrm>
          <a:prstGeom prst="rect">
            <a:avLst/>
          </a:prstGeom>
          <a:noFill/>
          <a:ln/>
        </p:spPr>
        <p:txBody>
          <a:bodyPr wrap="square" lIns="0" tIns="0" rIns="0" bIns="0" rtlCol="0" anchor="t"/>
          <a:lstStyle/>
          <a:p>
            <a:pPr algn="l" indent="0" marL="0">
              <a:spcBef>
                <a:spcPts val="2000"/>
              </a:spcBef>
              <a:spcAft>
                <a:spcPts val="800"/>
              </a:spcAft>
              <a:buNone/>
            </a:pPr>
            <a:r>
              <a:rPr lang="en-US" sz="2000" b="1" dirty="0">
                <a:solidFill>
                  <a:srgbClr val="00D4FF"/>
                </a:solidFill>
                <a:latin typeface="Arial" pitchFamily="34" charset="0"/>
                <a:ea typeface="Arial" pitchFamily="34" charset="-122"/>
                <a:cs typeface="Arial" pitchFamily="34" charset="-120"/>
              </a:rPr>
              <a:t>🏛️</a:t>
            </a:r>
            <a:endParaRPr lang="en-US" sz="2000" dirty="0"/>
          </a:p>
        </p:txBody>
      </p:sp>
      <p:sp>
        <p:nvSpPr>
          <p:cNvPr id="20" name="Text 18"/>
          <p:cNvSpPr/>
          <p:nvPr/>
        </p:nvSpPr>
        <p:spPr>
          <a:xfrm>
            <a:off x="7026027" y="3208139"/>
            <a:ext cx="1813459" cy="171450"/>
          </a:xfrm>
          <a:prstGeom prst="rect">
            <a:avLst/>
          </a:prstGeom>
          <a:noFill/>
          <a:ln/>
        </p:spPr>
        <p:txBody>
          <a:bodyPr wrap="square" lIns="0" tIns="0" rIns="0" bIns="0" rtlCol="0" anchor="t"/>
          <a:lstStyle/>
          <a:p>
            <a:pPr algn="l" indent="0" marL="0">
              <a:spcBef>
                <a:spcPts val="1200"/>
              </a:spcBef>
              <a:spcAft>
                <a:spcPts val="600"/>
              </a:spcAft>
              <a:buNone/>
            </a:pPr>
            <a:r>
              <a:rPr lang="en-US" sz="1200" b="1" dirty="0">
                <a:solidFill>
                  <a:srgbClr val="FFFFFF"/>
                </a:solidFill>
                <a:latin typeface="Arial" pitchFamily="34" charset="0"/>
                <a:ea typeface="Arial" pitchFamily="34" charset="-122"/>
                <a:cs typeface="Arial" pitchFamily="34" charset="-120"/>
              </a:rPr>
              <a:t>Admin</a:t>
            </a:r>
            <a:endParaRPr lang="en-US" sz="1200" dirty="0"/>
          </a:p>
        </p:txBody>
      </p:sp>
      <p:sp>
        <p:nvSpPr>
          <p:cNvPr id="21" name="Text 19"/>
          <p:cNvSpPr/>
          <p:nvPr/>
        </p:nvSpPr>
        <p:spPr>
          <a:xfrm>
            <a:off x="7026027" y="3493889"/>
            <a:ext cx="1813459" cy="514350"/>
          </a:xfrm>
          <a:prstGeom prst="rect">
            <a:avLst/>
          </a:prstGeom>
          <a:noFill/>
          <a:ln/>
        </p:spPr>
        <p:txBody>
          <a:bodyPr wrap="square" lIns="0" tIns="0" rIns="0" bIns="0" rtlCol="0" anchor="t"/>
          <a:lstStyle/>
          <a:p>
            <a:pPr algn="l" indent="0" marL="0">
              <a:lnSpc>
                <a:spcPts val="1350"/>
              </a:lnSpc>
              <a:spcBef>
                <a:spcPts val="900"/>
              </a:spcBef>
              <a:spcAft>
                <a:spcPts val="900"/>
              </a:spcAft>
              <a:buNone/>
            </a:pPr>
            <a:r>
              <a:rPr lang="en-US" sz="900" dirty="0">
                <a:solidFill>
                  <a:srgbClr val="9B9B9B"/>
                </a:solidFill>
                <a:latin typeface="Arial" pitchFamily="34" charset="0"/>
                <a:ea typeface="Arial" pitchFamily="34" charset="-122"/>
                <a:cs typeface="Arial" pitchFamily="34" charset="-120"/>
              </a:rPr>
              <a:t>NSTC grants · IRB submissions · accreditation docs · email automation</a:t>
            </a:r>
            <a:endParaRPr lang="en-US" sz="900" dirty="0"/>
          </a:p>
        </p:txBody>
      </p:sp>
      <p:sp>
        <p:nvSpPr>
          <p:cNvPr id="22" name="Text 20"/>
          <p:cNvSpPr/>
          <p:nvPr/>
        </p:nvSpPr>
        <p:spPr>
          <a:xfrm>
            <a:off x="2842766" y="4645075"/>
            <a:ext cx="3527637" cy="142875"/>
          </a:xfrm>
          <a:prstGeom prst="rect">
            <a:avLst/>
          </a:prstGeom>
          <a:noFill/>
          <a:ln/>
        </p:spPr>
        <p:txBody>
          <a:bodyPr wrap="square" lIns="0" tIns="0" rIns="0" bIns="0" rtlCol="0" anchor="t"/>
          <a:lstStyle/>
          <a:p>
            <a:pPr algn="l" indent="0" marL="0">
              <a:spcBef>
                <a:spcPts val="1000"/>
              </a:spcBef>
              <a:spcAft>
                <a:spcPts val="1000"/>
              </a:spcAft>
              <a:buNone/>
            </a:pPr>
            <a:r>
              <a:rPr lang="en-US" sz="1000" i="1" dirty="0">
                <a:solidFill>
                  <a:srgbClr val="9B59B6"/>
                </a:solidFill>
                <a:latin typeface="Arial" pitchFamily="34" charset="0"/>
                <a:ea typeface="Arial" pitchFamily="34" charset="-122"/>
                <a:cs typeface="Arial" pitchFamily="34" charset="-120"/>
              </a:rPr>
              <a:t>github.com/lunhsiangyuan — all real projects, all open source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50A1E"/>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F1C40F"/>
          </a:solidFill>
          <a:ln/>
        </p:spPr>
        <p:txBody>
          <a:bodyPr wrap="square" rtlCol="0" anchor="ctr"/>
          <a:lstStyle/>
          <a:p>
            <a:pPr indent="0" marL="0">
              <a:buNone/>
            </a:pPr>
            <a:endParaRPr lang="en-US" dirty="0"/>
          </a:p>
        </p:txBody>
      </p:sp>
      <p:sp>
        <p:nvSpPr>
          <p:cNvPr id="3" name="Text 1"/>
          <p:cNvSpPr/>
          <p:nvPr/>
        </p:nvSpPr>
        <p:spPr>
          <a:xfrm>
            <a:off x="3366046" y="616595"/>
            <a:ext cx="2411909" cy="304800"/>
          </a:xfrm>
          <a:prstGeom prst="rect">
            <a:avLst/>
          </a:prstGeom>
          <a:solidFill>
            <a:srgbClr val="F1C40F"/>
          </a:solidFill>
          <a:ln/>
        </p:spPr>
        <p:txBody>
          <a:bodyPr wrap="square" rtlCol="0" anchor="ctr"/>
          <a:lstStyle/>
          <a:p>
            <a:pPr indent="0" marL="0">
              <a:buNone/>
            </a:pPr>
            <a:endParaRPr lang="en-US" dirty="0"/>
          </a:p>
        </p:txBody>
      </p:sp>
      <p:sp>
        <p:nvSpPr>
          <p:cNvPr id="4" name="Text 2"/>
          <p:cNvSpPr/>
          <p:nvPr/>
        </p:nvSpPr>
        <p:spPr>
          <a:xfrm>
            <a:off x="3594646" y="692795"/>
            <a:ext cx="1993803" cy="152400"/>
          </a:xfrm>
          <a:prstGeom prst="rect">
            <a:avLst/>
          </a:prstGeom>
          <a:noFill/>
          <a:ln/>
        </p:spPr>
        <p:txBody>
          <a:bodyPr wrap="square" lIns="0" tIns="0" rIns="0" bIns="0" rtlCol="0" anchor="t"/>
          <a:lstStyle/>
          <a:p>
            <a:pPr algn="l" indent="0" marL="0">
              <a:buNone/>
            </a:pPr>
            <a:r>
              <a:rPr lang="en-US" sz="1100" b="1" dirty="0">
                <a:solidFill>
                  <a:srgbClr val="050A1E"/>
                </a:solidFill>
                <a:latin typeface="Arial" pitchFamily="34" charset="0"/>
                <a:ea typeface="Arial" pitchFamily="34" charset="-122"/>
                <a:cs typeface="Arial" pitchFamily="34" charset="-120"/>
              </a:rPr>
              <a:t>DEMO 1 — 3 MINUTES</a:t>
            </a:r>
            <a:endParaRPr lang="en-US" sz="1100" dirty="0"/>
          </a:p>
        </p:txBody>
      </p:sp>
      <p:sp>
        <p:nvSpPr>
          <p:cNvPr id="5" name="Text 3"/>
          <p:cNvSpPr/>
          <p:nvPr/>
        </p:nvSpPr>
        <p:spPr>
          <a:xfrm>
            <a:off x="2552846" y="1149995"/>
            <a:ext cx="4038308" cy="409575"/>
          </a:xfrm>
          <a:prstGeom prst="rect">
            <a:avLst/>
          </a:prstGeom>
          <a:noFill/>
          <a:ln/>
        </p:spPr>
        <p:txBody>
          <a:bodyPr wrap="square" lIns="0" tIns="0" rIns="0" bIns="0" rtlCol="0" anchor="t"/>
          <a:lstStyle/>
          <a:p>
            <a:pPr algn="ctr" indent="0" marL="0">
              <a:spcAft>
                <a:spcPts val="800"/>
              </a:spcAft>
              <a:buNone/>
            </a:pPr>
            <a:r>
              <a:rPr lang="en-US" sz="2800" dirty="0">
                <a:solidFill>
                  <a:srgbClr val="FFFFFF"/>
                </a:solidFill>
                <a:latin typeface="Arial" pitchFamily="34" charset="0"/>
                <a:ea typeface="Arial" pitchFamily="34" charset="-122"/>
                <a:cs typeface="Arial" pitchFamily="34" charset="-120"/>
              </a:rPr>
              <a:t>CSV Data Analysis </a:t>
            </a:r>
            <a:pPr algn="ctr" indent="0" marL="0">
              <a:spcAft>
                <a:spcPts val="800"/>
              </a:spcAft>
              <a:buNone/>
            </a:pPr>
            <a:r>
              <a:rPr lang="en-US" sz="2800" b="1" dirty="0">
                <a:solidFill>
                  <a:srgbClr val="F1C40F"/>
                </a:solidFill>
                <a:latin typeface="Arial" pitchFamily="34" charset="0"/>
                <a:ea typeface="Arial" pitchFamily="34" charset="-122"/>
                <a:cs typeface="Arial" pitchFamily="34" charset="-120"/>
              </a:rPr>
              <a:t>Live</a:t>
            </a:r>
            <a:endParaRPr lang="en-US" sz="2800" dirty="0"/>
          </a:p>
        </p:txBody>
      </p:sp>
      <p:sp>
        <p:nvSpPr>
          <p:cNvPr id="6" name="Text 4"/>
          <p:cNvSpPr/>
          <p:nvPr/>
        </p:nvSpPr>
        <p:spPr>
          <a:xfrm>
            <a:off x="1322622" y="1826121"/>
            <a:ext cx="6498607" cy="200025"/>
          </a:xfrm>
          <a:prstGeom prst="rect">
            <a:avLst/>
          </a:prstGeom>
          <a:noFill/>
          <a:ln/>
        </p:spPr>
        <p:txBody>
          <a:bodyPr wrap="square" lIns="0" tIns="0" rIns="0" bIns="0" rtlCol="0" anchor="t"/>
          <a:lstStyle/>
          <a:p>
            <a:pPr algn="ctr" indent="0" marL="0">
              <a:spcBef>
                <a:spcPts val="1300"/>
              </a:spcBef>
              <a:spcAft>
                <a:spcPts val="2200"/>
              </a:spcAft>
              <a:buNone/>
            </a:pPr>
            <a:r>
              <a:rPr lang="en-US" sz="1300" dirty="0">
                <a:solidFill>
                  <a:srgbClr val="B0BEC5"/>
                </a:solidFill>
                <a:latin typeface="Arial" pitchFamily="34" charset="0"/>
                <a:ea typeface="Arial" pitchFamily="34" charset="-122"/>
                <a:cs typeface="Arial" pitchFamily="34" charset="-120"/>
              </a:rPr>
              <a:t>Watch Claude Code turn raw clinical data into insights — no Python knowledge needed</a:t>
            </a:r>
            <a:endParaRPr lang="en-US" sz="1300" dirty="0"/>
          </a:p>
        </p:txBody>
      </p:sp>
      <p:sp>
        <p:nvSpPr>
          <p:cNvPr id="7" name="Text 5"/>
          <p:cNvSpPr/>
          <p:nvPr/>
        </p:nvSpPr>
        <p:spPr>
          <a:xfrm>
            <a:off x="743099" y="2305496"/>
            <a:ext cx="7657802" cy="2221409"/>
          </a:xfrm>
          <a:prstGeom prst="rect">
            <a:avLst/>
          </a:prstGeom>
          <a:solidFill>
            <a:srgbClr val="0D1117"/>
          </a:solidFill>
          <a:ln w="19050">
            <a:solidFill>
              <a:srgbClr val="F1C40F"/>
            </a:solidFill>
          </a:ln>
        </p:spPr>
        <p:txBody>
          <a:bodyPr wrap="square" rtlCol="0" anchor="ctr"/>
          <a:lstStyle/>
          <a:p>
            <a:pPr indent="0" marL="0">
              <a:buNone/>
            </a:pPr>
            <a:endParaRPr lang="en-US" dirty="0"/>
          </a:p>
        </p:txBody>
      </p:sp>
      <p:sp>
        <p:nvSpPr>
          <p:cNvPr id="8" name="Text 6"/>
          <p:cNvSpPr/>
          <p:nvPr/>
        </p:nvSpPr>
        <p:spPr>
          <a:xfrm>
            <a:off x="965299" y="2172146"/>
            <a:ext cx="1216968" cy="183952"/>
          </a:xfrm>
          <a:prstGeom prst="rect">
            <a:avLst/>
          </a:prstGeom>
          <a:solidFill>
            <a:srgbClr val="F1C40F"/>
          </a:solidFill>
          <a:ln/>
        </p:spPr>
        <p:txBody>
          <a:bodyPr wrap="square" rtlCol="0" anchor="ctr"/>
          <a:lstStyle/>
          <a:p>
            <a:pPr indent="0" marL="0">
              <a:buNone/>
            </a:pPr>
            <a:endParaRPr lang="en-US" dirty="0"/>
          </a:p>
        </p:txBody>
      </p:sp>
      <p:sp>
        <p:nvSpPr>
          <p:cNvPr id="9" name="Text 7"/>
          <p:cNvSpPr/>
          <p:nvPr/>
        </p:nvSpPr>
        <p:spPr>
          <a:xfrm>
            <a:off x="1092250" y="2197447"/>
            <a:ext cx="982328" cy="133350"/>
          </a:xfrm>
          <a:prstGeom prst="rect">
            <a:avLst/>
          </a:prstGeom>
          <a:noFill/>
          <a:ln/>
        </p:spPr>
        <p:txBody>
          <a:bodyPr wrap="square" lIns="0" tIns="0" rIns="0" bIns="0" rtlCol="0" anchor="t"/>
          <a:lstStyle/>
          <a:p>
            <a:pPr algn="l" indent="0" marL="0">
              <a:buNone/>
            </a:pPr>
            <a:r>
              <a:rPr lang="en-US" sz="900" b="1" dirty="0">
                <a:solidFill>
                  <a:srgbClr val="050A1E"/>
                </a:solidFill>
                <a:latin typeface="Arial" pitchFamily="34" charset="0"/>
                <a:ea typeface="Arial" pitchFamily="34" charset="-122"/>
                <a:cs typeface="Arial" pitchFamily="34" charset="-120"/>
              </a:rPr>
              <a:t>TERMINAL DEMO</a:t>
            </a:r>
            <a:endParaRPr lang="en-US" sz="900" dirty="0"/>
          </a:p>
        </p:txBody>
      </p:sp>
      <p:sp>
        <p:nvSpPr>
          <p:cNvPr id="10" name="Text 8"/>
          <p:cNvSpPr/>
          <p:nvPr/>
        </p:nvSpPr>
        <p:spPr>
          <a:xfrm>
            <a:off x="1016050" y="2578447"/>
            <a:ext cx="2252067" cy="1675507"/>
          </a:xfrm>
          <a:prstGeom prst="rect">
            <a:avLst/>
          </a:prstGeom>
          <a:solidFill>
            <a:srgbClr val="F1C40F">
              <a:alpha val="6000"/>
            </a:srgbClr>
          </a:solidFill>
          <a:ln w="9525">
            <a:solidFill>
              <a:srgbClr val="F1C40F"/>
            </a:solidFill>
          </a:ln>
        </p:spPr>
        <p:txBody>
          <a:bodyPr wrap="square" rtlCol="0" anchor="ctr"/>
          <a:lstStyle/>
          <a:p>
            <a:pPr indent="0" marL="0">
              <a:buNone/>
            </a:pPr>
            <a:endParaRPr lang="en-US" dirty="0"/>
          </a:p>
        </p:txBody>
      </p:sp>
      <p:sp>
        <p:nvSpPr>
          <p:cNvPr id="11" name="Text 9"/>
          <p:cNvSpPr/>
          <p:nvPr/>
        </p:nvSpPr>
        <p:spPr>
          <a:xfrm>
            <a:off x="1177975" y="2918073"/>
            <a:ext cx="1966782" cy="238125"/>
          </a:xfrm>
          <a:prstGeom prst="rect">
            <a:avLst/>
          </a:prstGeom>
          <a:noFill/>
          <a:ln/>
        </p:spPr>
        <p:txBody>
          <a:bodyPr wrap="square" lIns="0" tIns="0" rIns="0" bIns="0" rtlCol="0" anchor="t"/>
          <a:lstStyle/>
          <a:p>
            <a:pPr algn="l" indent="0" marL="0">
              <a:spcBef>
                <a:spcPts val="1600"/>
              </a:spcBef>
              <a:spcAft>
                <a:spcPts val="600"/>
              </a:spcAft>
              <a:buNone/>
            </a:pPr>
            <a:r>
              <a:rPr lang="en-US" sz="1600" b="1" dirty="0">
                <a:solidFill>
                  <a:srgbClr val="F1C40F"/>
                </a:solidFill>
                <a:latin typeface="Arial" pitchFamily="34" charset="0"/>
                <a:ea typeface="Arial" pitchFamily="34" charset="-122"/>
                <a:cs typeface="Arial" pitchFamily="34" charset="-120"/>
              </a:rPr>
              <a:t>1</a:t>
            </a:r>
            <a:endParaRPr lang="en-US" sz="1600" dirty="0"/>
          </a:p>
        </p:txBody>
      </p:sp>
      <p:sp>
        <p:nvSpPr>
          <p:cNvPr id="12" name="Text 10"/>
          <p:cNvSpPr/>
          <p:nvPr/>
        </p:nvSpPr>
        <p:spPr>
          <a:xfrm>
            <a:off x="1177975" y="3283148"/>
            <a:ext cx="1966782" cy="285750"/>
          </a:xfrm>
          <a:prstGeom prst="rect">
            <a:avLst/>
          </a:prstGeom>
          <a:noFill/>
          <a:ln/>
        </p:spPr>
        <p:txBody>
          <a:bodyPr wrap="square" lIns="0" tIns="0" rIns="0" bIns="0" rtlCol="0" anchor="t"/>
          <a:lstStyle/>
          <a:p>
            <a:pPr algn="l" indent="0" marL="0">
              <a:spcBef>
                <a:spcPts val="1000"/>
              </a:spcBef>
              <a:spcAft>
                <a:spcPts val="400"/>
              </a:spcAft>
              <a:buNone/>
            </a:pPr>
            <a:r>
              <a:rPr lang="en-US" sz="1000" dirty="0">
                <a:solidFill>
                  <a:srgbClr val="79C0FF"/>
                </a:solidFill>
                <a:latin typeface="Courier New" pitchFamily="34" charset="0"/>
                <a:ea typeface="Courier New" pitchFamily="34" charset="-122"/>
                <a:cs typeface="Courier New" pitchFamily="34" charset="-120"/>
              </a:rPr>
              <a:t>$ claude "open patient_data.csv"</a:t>
            </a:r>
            <a:endParaRPr lang="en-US" sz="1000" dirty="0"/>
          </a:p>
        </p:txBody>
      </p:sp>
      <p:sp>
        <p:nvSpPr>
          <p:cNvPr id="13" name="Text 11"/>
          <p:cNvSpPr/>
          <p:nvPr/>
        </p:nvSpPr>
        <p:spPr>
          <a:xfrm>
            <a:off x="1177975" y="3683198"/>
            <a:ext cx="1966782" cy="319980"/>
          </a:xfrm>
          <a:prstGeom prst="rect">
            <a:avLst/>
          </a:prstGeom>
          <a:noFill/>
          <a:ln/>
        </p:spPr>
        <p:txBody>
          <a:bodyPr wrap="square" lIns="0" tIns="0" rIns="0" bIns="0" rtlCol="0" anchor="t"/>
          <a:lstStyle/>
          <a:p>
            <a:pPr algn="l" indent="0" marL="0">
              <a:lnSpc>
                <a:spcPts val="1260"/>
              </a:lnSpc>
              <a:spcBef>
                <a:spcPts val="900"/>
              </a:spcBef>
              <a:spcAft>
                <a:spcPts val="900"/>
              </a:spcAft>
              <a:buNone/>
            </a:pPr>
            <a:r>
              <a:rPr lang="en-US" sz="900" dirty="0">
                <a:solidFill>
                  <a:srgbClr val="B0BEC5"/>
                </a:solidFill>
                <a:latin typeface="Arial" pitchFamily="34" charset="0"/>
                <a:ea typeface="Arial" pitchFamily="34" charset="-122"/>
                <a:cs typeface="Arial" pitchFamily="34" charset="-120"/>
              </a:rPr>
              <a:t>AI reads the file, detects columns, data types, missing values</a:t>
            </a:r>
            <a:endParaRPr lang="en-US" sz="900" dirty="0"/>
          </a:p>
        </p:txBody>
      </p:sp>
      <p:sp>
        <p:nvSpPr>
          <p:cNvPr id="14" name="Text 12"/>
          <p:cNvSpPr/>
          <p:nvPr/>
        </p:nvSpPr>
        <p:spPr>
          <a:xfrm>
            <a:off x="3445818" y="2578447"/>
            <a:ext cx="2252216" cy="1675507"/>
          </a:xfrm>
          <a:prstGeom prst="rect">
            <a:avLst/>
          </a:prstGeom>
          <a:solidFill>
            <a:srgbClr val="F1C40F">
              <a:alpha val="6000"/>
            </a:srgbClr>
          </a:solidFill>
          <a:ln w="9525">
            <a:solidFill>
              <a:srgbClr val="F1C40F"/>
            </a:solidFill>
          </a:ln>
        </p:spPr>
        <p:txBody>
          <a:bodyPr wrap="square" rtlCol="0" anchor="ctr"/>
          <a:lstStyle/>
          <a:p>
            <a:pPr indent="0" marL="0">
              <a:buNone/>
            </a:pPr>
            <a:endParaRPr lang="en-US" dirty="0"/>
          </a:p>
        </p:txBody>
      </p:sp>
      <p:sp>
        <p:nvSpPr>
          <p:cNvPr id="15" name="Text 13"/>
          <p:cNvSpPr/>
          <p:nvPr/>
        </p:nvSpPr>
        <p:spPr>
          <a:xfrm>
            <a:off x="3607743" y="2918073"/>
            <a:ext cx="1966933" cy="238125"/>
          </a:xfrm>
          <a:prstGeom prst="rect">
            <a:avLst/>
          </a:prstGeom>
          <a:noFill/>
          <a:ln/>
        </p:spPr>
        <p:txBody>
          <a:bodyPr wrap="square" lIns="0" tIns="0" rIns="0" bIns="0" rtlCol="0" anchor="t"/>
          <a:lstStyle/>
          <a:p>
            <a:pPr algn="l" indent="0" marL="0">
              <a:spcBef>
                <a:spcPts val="1600"/>
              </a:spcBef>
              <a:spcAft>
                <a:spcPts val="600"/>
              </a:spcAft>
              <a:buNone/>
            </a:pPr>
            <a:r>
              <a:rPr lang="en-US" sz="1600" b="1" dirty="0">
                <a:solidFill>
                  <a:srgbClr val="F1C40F"/>
                </a:solidFill>
                <a:latin typeface="Arial" pitchFamily="34" charset="0"/>
                <a:ea typeface="Arial" pitchFamily="34" charset="-122"/>
                <a:cs typeface="Arial" pitchFamily="34" charset="-120"/>
              </a:rPr>
              <a:t>2</a:t>
            </a:r>
            <a:endParaRPr lang="en-US" sz="1600" dirty="0"/>
          </a:p>
        </p:txBody>
      </p:sp>
      <p:sp>
        <p:nvSpPr>
          <p:cNvPr id="16" name="Text 14"/>
          <p:cNvSpPr/>
          <p:nvPr/>
        </p:nvSpPr>
        <p:spPr>
          <a:xfrm>
            <a:off x="3607743" y="3283148"/>
            <a:ext cx="1966933" cy="285750"/>
          </a:xfrm>
          <a:prstGeom prst="rect">
            <a:avLst/>
          </a:prstGeom>
          <a:noFill/>
          <a:ln/>
        </p:spPr>
        <p:txBody>
          <a:bodyPr wrap="square" lIns="0" tIns="0" rIns="0" bIns="0" rtlCol="0" anchor="t"/>
          <a:lstStyle/>
          <a:p>
            <a:pPr algn="l" indent="0" marL="0">
              <a:spcBef>
                <a:spcPts val="1000"/>
              </a:spcBef>
              <a:spcAft>
                <a:spcPts val="400"/>
              </a:spcAft>
              <a:buNone/>
            </a:pPr>
            <a:r>
              <a:rPr lang="en-US" sz="1000" dirty="0">
                <a:solidFill>
                  <a:srgbClr val="79C0FF"/>
                </a:solidFill>
                <a:latin typeface="Courier New" pitchFamily="34" charset="0"/>
                <a:ea typeface="Courier New" pitchFamily="34" charset="-122"/>
                <a:cs typeface="Courier New" pitchFamily="34" charset="-120"/>
              </a:rPr>
              <a:t>"find PSA outliers and plot"</a:t>
            </a:r>
            <a:endParaRPr lang="en-US" sz="1000" dirty="0"/>
          </a:p>
        </p:txBody>
      </p:sp>
      <p:sp>
        <p:nvSpPr>
          <p:cNvPr id="17" name="Text 15"/>
          <p:cNvSpPr/>
          <p:nvPr/>
        </p:nvSpPr>
        <p:spPr>
          <a:xfrm>
            <a:off x="3607743" y="3683198"/>
            <a:ext cx="1966933" cy="319980"/>
          </a:xfrm>
          <a:prstGeom prst="rect">
            <a:avLst/>
          </a:prstGeom>
          <a:noFill/>
          <a:ln/>
        </p:spPr>
        <p:txBody>
          <a:bodyPr wrap="square" lIns="0" tIns="0" rIns="0" bIns="0" rtlCol="0" anchor="t"/>
          <a:lstStyle/>
          <a:p>
            <a:pPr algn="l" indent="0" marL="0">
              <a:lnSpc>
                <a:spcPts val="1260"/>
              </a:lnSpc>
              <a:spcBef>
                <a:spcPts val="900"/>
              </a:spcBef>
              <a:spcAft>
                <a:spcPts val="900"/>
              </a:spcAft>
              <a:buNone/>
            </a:pPr>
            <a:r>
              <a:rPr lang="en-US" sz="900" dirty="0">
                <a:solidFill>
                  <a:srgbClr val="B0BEC5"/>
                </a:solidFill>
                <a:latin typeface="Arial" pitchFamily="34" charset="0"/>
                <a:ea typeface="Arial" pitchFamily="34" charset="-122"/>
                <a:cs typeface="Arial" pitchFamily="34" charset="-120"/>
              </a:rPr>
              <a:t>Runs statistical analysis, generates chart automatically</a:t>
            </a:r>
            <a:endParaRPr lang="en-US" sz="900" dirty="0"/>
          </a:p>
        </p:txBody>
      </p:sp>
      <p:sp>
        <p:nvSpPr>
          <p:cNvPr id="18" name="Text 16"/>
          <p:cNvSpPr/>
          <p:nvPr/>
        </p:nvSpPr>
        <p:spPr>
          <a:xfrm>
            <a:off x="5875734" y="2578447"/>
            <a:ext cx="2252216" cy="1675507"/>
          </a:xfrm>
          <a:prstGeom prst="rect">
            <a:avLst/>
          </a:prstGeom>
          <a:solidFill>
            <a:srgbClr val="F1C40F">
              <a:alpha val="6000"/>
            </a:srgbClr>
          </a:solidFill>
          <a:ln w="9525">
            <a:solidFill>
              <a:srgbClr val="F1C40F"/>
            </a:solidFill>
          </a:ln>
        </p:spPr>
        <p:txBody>
          <a:bodyPr wrap="square" rtlCol="0" anchor="ctr"/>
          <a:lstStyle/>
          <a:p>
            <a:pPr indent="0" marL="0">
              <a:buNone/>
            </a:pPr>
            <a:endParaRPr lang="en-US" dirty="0"/>
          </a:p>
        </p:txBody>
      </p:sp>
      <p:sp>
        <p:nvSpPr>
          <p:cNvPr id="19" name="Text 17"/>
          <p:cNvSpPr/>
          <p:nvPr/>
        </p:nvSpPr>
        <p:spPr>
          <a:xfrm>
            <a:off x="6037659" y="2918073"/>
            <a:ext cx="1966933" cy="238125"/>
          </a:xfrm>
          <a:prstGeom prst="rect">
            <a:avLst/>
          </a:prstGeom>
          <a:noFill/>
          <a:ln/>
        </p:spPr>
        <p:txBody>
          <a:bodyPr wrap="square" lIns="0" tIns="0" rIns="0" bIns="0" rtlCol="0" anchor="t"/>
          <a:lstStyle/>
          <a:p>
            <a:pPr algn="l" indent="0" marL="0">
              <a:spcBef>
                <a:spcPts val="1600"/>
              </a:spcBef>
              <a:spcAft>
                <a:spcPts val="600"/>
              </a:spcAft>
              <a:buNone/>
            </a:pPr>
            <a:r>
              <a:rPr lang="en-US" sz="1600" b="1" dirty="0">
                <a:solidFill>
                  <a:srgbClr val="F1C40F"/>
                </a:solidFill>
                <a:latin typeface="Arial" pitchFamily="34" charset="0"/>
                <a:ea typeface="Arial" pitchFamily="34" charset="-122"/>
                <a:cs typeface="Arial" pitchFamily="34" charset="-120"/>
              </a:rPr>
              <a:t>3</a:t>
            </a:r>
            <a:endParaRPr lang="en-US" sz="1600" dirty="0"/>
          </a:p>
        </p:txBody>
      </p:sp>
      <p:sp>
        <p:nvSpPr>
          <p:cNvPr id="20" name="Text 18"/>
          <p:cNvSpPr/>
          <p:nvPr/>
        </p:nvSpPr>
        <p:spPr>
          <a:xfrm>
            <a:off x="6037659" y="3283148"/>
            <a:ext cx="1966933" cy="142875"/>
          </a:xfrm>
          <a:prstGeom prst="rect">
            <a:avLst/>
          </a:prstGeom>
          <a:noFill/>
          <a:ln/>
        </p:spPr>
        <p:txBody>
          <a:bodyPr wrap="square" lIns="0" tIns="0" rIns="0" bIns="0" rtlCol="0" anchor="t"/>
          <a:lstStyle/>
          <a:p>
            <a:pPr algn="l" indent="0" marL="0">
              <a:spcBef>
                <a:spcPts val="1000"/>
              </a:spcBef>
              <a:spcAft>
                <a:spcPts val="400"/>
              </a:spcAft>
              <a:buNone/>
            </a:pPr>
            <a:r>
              <a:rPr lang="en-US" sz="1000" dirty="0">
                <a:solidFill>
                  <a:srgbClr val="79C0FF"/>
                </a:solidFill>
                <a:latin typeface="Courier New" pitchFamily="34" charset="0"/>
                <a:ea typeface="Courier New" pitchFamily="34" charset="-122"/>
                <a:cs typeface="Courier New" pitchFamily="34" charset="-120"/>
              </a:rPr>
              <a:t>"write a summary report"</a:t>
            </a:r>
            <a:endParaRPr lang="en-US" sz="1000" dirty="0"/>
          </a:p>
        </p:txBody>
      </p:sp>
      <p:sp>
        <p:nvSpPr>
          <p:cNvPr id="21" name="Text 19"/>
          <p:cNvSpPr/>
          <p:nvPr/>
        </p:nvSpPr>
        <p:spPr>
          <a:xfrm>
            <a:off x="6037659" y="3540323"/>
            <a:ext cx="1966933" cy="319980"/>
          </a:xfrm>
          <a:prstGeom prst="rect">
            <a:avLst/>
          </a:prstGeom>
          <a:noFill/>
          <a:ln/>
        </p:spPr>
        <p:txBody>
          <a:bodyPr wrap="square" lIns="0" tIns="0" rIns="0" bIns="0" rtlCol="0" anchor="t"/>
          <a:lstStyle/>
          <a:p>
            <a:pPr algn="l" indent="0" marL="0">
              <a:lnSpc>
                <a:spcPts val="1260"/>
              </a:lnSpc>
              <a:spcBef>
                <a:spcPts val="900"/>
              </a:spcBef>
              <a:spcAft>
                <a:spcPts val="900"/>
              </a:spcAft>
              <a:buNone/>
            </a:pPr>
            <a:r>
              <a:rPr lang="en-US" sz="900" dirty="0">
                <a:solidFill>
                  <a:srgbClr val="B0BEC5"/>
                </a:solidFill>
                <a:latin typeface="Arial" pitchFamily="34" charset="0"/>
                <a:ea typeface="Arial" pitchFamily="34" charset="-122"/>
                <a:cs typeface="Arial" pitchFamily="34" charset="-120"/>
              </a:rPr>
              <a:t>Produces structured PDF report with findings and recommendations</a:t>
            </a:r>
            <a:endParaRPr lang="en-US" sz="900" dirty="0"/>
          </a:p>
        </p:txBody>
      </p:sp>
      <p:sp>
        <p:nvSpPr>
          <p:cNvPr id="22" name="Text 20"/>
          <p:cNvSpPr/>
          <p:nvPr/>
        </p:nvSpPr>
        <p:spPr>
          <a:xfrm>
            <a:off x="7885509" y="4603849"/>
            <a:ext cx="895040" cy="171450"/>
          </a:xfrm>
          <a:prstGeom prst="rect">
            <a:avLst/>
          </a:prstGeom>
          <a:noFill/>
          <a:ln/>
        </p:spPr>
        <p:txBody>
          <a:bodyPr wrap="square" lIns="0" tIns="0" rIns="0" bIns="0" rtlCol="0" anchor="t"/>
          <a:lstStyle/>
          <a:p>
            <a:pPr algn="l" indent="0" marL="0">
              <a:spcBef>
                <a:spcPts val="1100"/>
              </a:spcBef>
              <a:spcAft>
                <a:spcPts val="1100"/>
              </a:spcAft>
              <a:buNone/>
            </a:pPr>
            <a:r>
              <a:rPr lang="en-US" sz="1100" dirty="0">
                <a:solidFill>
                  <a:srgbClr val="F1C40F"/>
                </a:solidFill>
                <a:latin typeface="Arial" pitchFamily="34" charset="0"/>
                <a:ea typeface="Arial" pitchFamily="34" charset="-122"/>
                <a:cs typeface="Arial" pitchFamily="34" charset="-120"/>
              </a:rPr>
              <a:t>⏱ 3 min demo</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50A1E"/>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9B59B6"/>
          </a:solidFill>
          <a:ln/>
        </p:spPr>
        <p:txBody>
          <a:bodyPr wrap="square" rtlCol="0" anchor="ctr"/>
          <a:lstStyle/>
          <a:p>
            <a:pPr indent="0" marL="0">
              <a:buNone/>
            </a:pPr>
            <a:endParaRPr lang="en-US" dirty="0"/>
          </a:p>
        </p:txBody>
      </p:sp>
      <p:sp>
        <p:nvSpPr>
          <p:cNvPr id="3" name="Text 1"/>
          <p:cNvSpPr/>
          <p:nvPr/>
        </p:nvSpPr>
        <p:spPr>
          <a:xfrm>
            <a:off x="3459361" y="405854"/>
            <a:ext cx="2225129" cy="269677"/>
          </a:xfrm>
          <a:prstGeom prst="rect">
            <a:avLst/>
          </a:prstGeom>
          <a:solidFill>
            <a:srgbClr val="9B59B6"/>
          </a:solidFill>
          <a:ln/>
        </p:spPr>
        <p:txBody>
          <a:bodyPr wrap="square" rtlCol="0" anchor="ctr"/>
          <a:lstStyle/>
          <a:p>
            <a:pPr indent="0" marL="0">
              <a:buNone/>
            </a:pPr>
            <a:endParaRPr lang="en-US" dirty="0"/>
          </a:p>
        </p:txBody>
      </p:sp>
      <p:sp>
        <p:nvSpPr>
          <p:cNvPr id="4" name="Text 2"/>
          <p:cNvSpPr/>
          <p:nvPr/>
        </p:nvSpPr>
        <p:spPr>
          <a:xfrm>
            <a:off x="3662511" y="469255"/>
            <a:ext cx="1855205" cy="142875"/>
          </a:xfrm>
          <a:prstGeom prst="rect">
            <a:avLst/>
          </a:prstGeom>
          <a:noFill/>
          <a:ln/>
        </p:spPr>
        <p:txBody>
          <a:bodyPr wrap="square" lIns="0" tIns="0" rIns="0" bIns="0" rtlCol="0" anchor="t"/>
          <a:lstStyle/>
          <a:p>
            <a:pPr algn="l" indent="0" marL="0">
              <a:buNone/>
            </a:pPr>
            <a:r>
              <a:rPr lang="en-US" sz="1000" b="1" dirty="0">
                <a:solidFill>
                  <a:srgbClr val="FFFFFF"/>
                </a:solidFill>
                <a:latin typeface="Arial" pitchFamily="34" charset="0"/>
                <a:ea typeface="Arial" pitchFamily="34" charset="-122"/>
                <a:cs typeface="Arial" pitchFamily="34" charset="-120"/>
              </a:rPr>
              <a:t>DEMO 2 — 3 MINUTES</a:t>
            </a:r>
            <a:endParaRPr lang="en-US" sz="1000" dirty="0"/>
          </a:p>
        </p:txBody>
      </p:sp>
      <p:sp>
        <p:nvSpPr>
          <p:cNvPr id="5" name="Text 3"/>
          <p:cNvSpPr/>
          <p:nvPr/>
        </p:nvSpPr>
        <p:spPr>
          <a:xfrm>
            <a:off x="1838301" y="827931"/>
            <a:ext cx="5467398" cy="323850"/>
          </a:xfrm>
          <a:prstGeom prst="rect">
            <a:avLst/>
          </a:prstGeom>
          <a:noFill/>
          <a:ln/>
        </p:spPr>
        <p:txBody>
          <a:bodyPr wrap="square" lIns="0" tIns="0" rIns="0" bIns="0" rtlCol="0" anchor="t"/>
          <a:lstStyle/>
          <a:p>
            <a:pPr algn="ctr" indent="0" marL="0">
              <a:spcAft>
                <a:spcPts val="600"/>
              </a:spcAft>
              <a:buNone/>
            </a:pPr>
            <a:r>
              <a:rPr lang="en-US" sz="2200" dirty="0">
                <a:solidFill>
                  <a:srgbClr val="FFFFFF"/>
                </a:solidFill>
                <a:latin typeface="Arial" pitchFamily="34" charset="0"/>
                <a:ea typeface="Arial" pitchFamily="34" charset="-122"/>
                <a:cs typeface="Arial" pitchFamily="34" charset="-120"/>
              </a:rPr>
              <a:t>Build a </a:t>
            </a:r>
            <a:pPr algn="ctr" indent="0" marL="0">
              <a:spcAft>
                <a:spcPts val="600"/>
              </a:spcAft>
              <a:buNone/>
            </a:pPr>
            <a:r>
              <a:rPr lang="en-US" sz="2200" b="1" dirty="0">
                <a:solidFill>
                  <a:srgbClr val="9B59B6"/>
                </a:solidFill>
                <a:latin typeface="Arial" pitchFamily="34" charset="0"/>
                <a:ea typeface="Arial" pitchFamily="34" charset="-122"/>
                <a:cs typeface="Arial" pitchFamily="34" charset="-120"/>
              </a:rPr>
              <a:t>Quiz App</a:t>
            </a:r>
            <a:pPr algn="ctr" indent="0" marL="0">
              <a:spcAft>
                <a:spcPts val="600"/>
              </a:spcAft>
              <a:buNone/>
            </a:pPr>
            <a:r>
              <a:rPr lang="en-US" sz="2200" dirty="0">
                <a:solidFill>
                  <a:srgbClr val="FFFFFF"/>
                </a:solidFill>
                <a:latin typeface="Arial" pitchFamily="34" charset="0"/>
                <a:ea typeface="Arial" pitchFamily="34" charset="-122"/>
                <a:cs typeface="Arial" pitchFamily="34" charset="-120"/>
              </a:rPr>
              <a:t> from Natural Language</a:t>
            </a:r>
            <a:endParaRPr lang="en-US" sz="2200" dirty="0"/>
          </a:p>
        </p:txBody>
      </p:sp>
      <p:sp>
        <p:nvSpPr>
          <p:cNvPr id="6" name="Text 4"/>
          <p:cNvSpPr/>
          <p:nvPr/>
        </p:nvSpPr>
        <p:spPr>
          <a:xfrm>
            <a:off x="2765526" y="1367582"/>
            <a:ext cx="3612800" cy="152400"/>
          </a:xfrm>
          <a:prstGeom prst="rect">
            <a:avLst/>
          </a:prstGeom>
          <a:noFill/>
          <a:ln/>
        </p:spPr>
        <p:txBody>
          <a:bodyPr wrap="square" lIns="0" tIns="0" rIns="0" bIns="0" rtlCol="0" anchor="t"/>
          <a:lstStyle/>
          <a:p>
            <a:pPr algn="ctr" indent="0" marL="0">
              <a:spcBef>
                <a:spcPts val="1100"/>
              </a:spcBef>
              <a:spcAft>
                <a:spcPts val="1400"/>
              </a:spcAft>
              <a:buNone/>
            </a:pPr>
            <a:r>
              <a:rPr lang="en-US" sz="1100" dirty="0">
                <a:solidFill>
                  <a:srgbClr val="B0BEC5"/>
                </a:solidFill>
                <a:latin typeface="Arial" pitchFamily="34" charset="0"/>
                <a:ea typeface="Arial" pitchFamily="34" charset="-122"/>
                <a:cs typeface="Arial" pitchFamily="34" charset="-120"/>
              </a:rPr>
              <a:t>No coding. Just describe what you want. Watch it appear.</a:t>
            </a:r>
            <a:endParaRPr lang="en-US" sz="1100" dirty="0"/>
          </a:p>
        </p:txBody>
      </p:sp>
      <p:sp>
        <p:nvSpPr>
          <p:cNvPr id="7" name="Text 5"/>
          <p:cNvSpPr/>
          <p:nvPr/>
        </p:nvSpPr>
        <p:spPr>
          <a:xfrm>
            <a:off x="507950" y="1799183"/>
            <a:ext cx="4041648" cy="114300"/>
          </a:xfrm>
          <a:prstGeom prst="rect">
            <a:avLst/>
          </a:prstGeom>
          <a:noFill/>
          <a:ln/>
        </p:spPr>
        <p:txBody>
          <a:bodyPr wrap="square" lIns="0" tIns="0" rIns="0" bIns="0" rtlCol="0" anchor="t"/>
          <a:lstStyle/>
          <a:p>
            <a:pPr algn="l" indent="0" marL="0">
              <a:spcBef>
                <a:spcPts val="800"/>
              </a:spcBef>
              <a:spcAft>
                <a:spcPts val="600"/>
              </a:spcAft>
              <a:buNone/>
            </a:pPr>
            <a:r>
              <a:rPr lang="en-US" sz="800" dirty="0">
                <a:solidFill>
                  <a:srgbClr val="9B59B6"/>
                </a:solidFill>
                <a:latin typeface="Arial" pitchFamily="34" charset="0"/>
                <a:ea typeface="Arial" pitchFamily="34" charset="-122"/>
                <a:cs typeface="Arial" pitchFamily="34" charset="-120"/>
              </a:rPr>
              <a:t>YOUR PROMPT</a:t>
            </a:r>
            <a:endParaRPr lang="en-US" sz="800" dirty="0"/>
          </a:p>
        </p:txBody>
      </p:sp>
      <p:sp>
        <p:nvSpPr>
          <p:cNvPr id="8" name="Text 6"/>
          <p:cNvSpPr/>
          <p:nvPr/>
        </p:nvSpPr>
        <p:spPr>
          <a:xfrm>
            <a:off x="507950" y="1989683"/>
            <a:ext cx="3962400" cy="1288256"/>
          </a:xfrm>
          <a:prstGeom prst="rect">
            <a:avLst/>
          </a:prstGeom>
          <a:solidFill>
            <a:srgbClr val="161B22"/>
          </a:solidFill>
          <a:ln w="9525">
            <a:solidFill>
              <a:srgbClr val="9B59B6"/>
            </a:solidFill>
          </a:ln>
        </p:spPr>
        <p:txBody>
          <a:bodyPr wrap="square" rtlCol="0" anchor="ctr"/>
          <a:lstStyle/>
          <a:p>
            <a:pPr indent="0" marL="0">
              <a:buNone/>
            </a:pPr>
            <a:endParaRPr lang="en-US" dirty="0"/>
          </a:p>
        </p:txBody>
      </p:sp>
      <p:sp>
        <p:nvSpPr>
          <p:cNvPr id="9" name="Text 7"/>
          <p:cNvSpPr/>
          <p:nvPr/>
        </p:nvSpPr>
        <p:spPr>
          <a:xfrm>
            <a:off x="644426" y="2253109"/>
            <a:ext cx="3763238" cy="761405"/>
          </a:xfrm>
          <a:prstGeom prst="rect">
            <a:avLst/>
          </a:prstGeom>
          <a:noFill/>
          <a:ln/>
        </p:spPr>
        <p:txBody>
          <a:bodyPr wrap="square" lIns="0" tIns="0" rIns="0" bIns="0" rtlCol="0" anchor="t"/>
          <a:lstStyle/>
          <a:p>
            <a:pPr algn="l" indent="0" marL="0">
              <a:lnSpc>
                <a:spcPts val="1500"/>
              </a:lnSpc>
              <a:spcBef>
                <a:spcPts val="1000"/>
              </a:spcBef>
              <a:spcAft>
                <a:spcPts val="1000"/>
              </a:spcAft>
              <a:buNone/>
            </a:pPr>
            <a:r>
              <a:rPr lang="en-US" sz="1000" dirty="0">
                <a:solidFill>
                  <a:srgbClr val="E6EDF3"/>
                </a:solidFill>
                <a:latin typeface="Courier New" pitchFamily="34" charset="0"/>
                <a:ea typeface="Courier New" pitchFamily="34" charset="-122"/>
                <a:cs typeface="Courier New" pitchFamily="34" charset="-120"/>
              </a:rPr>
              <a:t>"Build me a flashcard quiz app for medical students about gram-positive bacteria. Include 10 questions, show score at the end, make it mobile-friendly, single HTML file."</a:t>
            </a:r>
            <a:endParaRPr lang="en-US" sz="1000" dirty="0"/>
          </a:p>
        </p:txBody>
      </p:sp>
      <p:sp>
        <p:nvSpPr>
          <p:cNvPr id="10" name="Text 8"/>
          <p:cNvSpPr/>
          <p:nvPr/>
        </p:nvSpPr>
        <p:spPr>
          <a:xfrm>
            <a:off x="4673501" y="1799183"/>
            <a:ext cx="4041648" cy="114300"/>
          </a:xfrm>
          <a:prstGeom prst="rect">
            <a:avLst/>
          </a:prstGeom>
          <a:noFill/>
          <a:ln/>
        </p:spPr>
        <p:txBody>
          <a:bodyPr wrap="square" lIns="0" tIns="0" rIns="0" bIns="0" rtlCol="0" anchor="t"/>
          <a:lstStyle/>
          <a:p>
            <a:pPr algn="l" indent="0" marL="0">
              <a:spcBef>
                <a:spcPts val="800"/>
              </a:spcBef>
              <a:spcAft>
                <a:spcPts val="600"/>
              </a:spcAft>
              <a:buNone/>
            </a:pPr>
            <a:r>
              <a:rPr lang="en-US" sz="800" dirty="0">
                <a:solidFill>
                  <a:srgbClr val="9B59B6"/>
                </a:solidFill>
                <a:latin typeface="Arial" pitchFamily="34" charset="0"/>
                <a:ea typeface="Arial" pitchFamily="34" charset="-122"/>
                <a:cs typeface="Arial" pitchFamily="34" charset="-120"/>
              </a:rPr>
              <a:t>WHAT CLAUDE DOES</a:t>
            </a:r>
            <a:endParaRPr lang="en-US" sz="800" dirty="0"/>
          </a:p>
        </p:txBody>
      </p:sp>
      <p:sp>
        <p:nvSpPr>
          <p:cNvPr id="11" name="Text 9"/>
          <p:cNvSpPr/>
          <p:nvPr/>
        </p:nvSpPr>
        <p:spPr>
          <a:xfrm>
            <a:off x="4673501" y="1989683"/>
            <a:ext cx="3962400" cy="2747963"/>
          </a:xfrm>
          <a:prstGeom prst="rect">
            <a:avLst/>
          </a:prstGeom>
          <a:solidFill>
            <a:srgbClr val="0D1117"/>
          </a:solidFill>
          <a:ln w="9525">
            <a:solidFill>
              <a:srgbClr val="30363D"/>
            </a:solidFill>
          </a:ln>
        </p:spPr>
        <p:txBody>
          <a:bodyPr wrap="square" rtlCol="0" anchor="ctr"/>
          <a:lstStyle/>
          <a:p>
            <a:pPr indent="0" marL="0">
              <a:buNone/>
            </a:pPr>
            <a:endParaRPr lang="en-US" dirty="0"/>
          </a:p>
        </p:txBody>
      </p:sp>
      <p:sp>
        <p:nvSpPr>
          <p:cNvPr id="12" name="Text 10"/>
          <p:cNvSpPr/>
          <p:nvPr/>
        </p:nvSpPr>
        <p:spPr>
          <a:xfrm>
            <a:off x="4809976" y="2253109"/>
            <a:ext cx="181255" cy="152400"/>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2ECC71"/>
                </a:solidFill>
                <a:latin typeface="Arial" pitchFamily="34" charset="0"/>
                <a:ea typeface="Arial" pitchFamily="34" charset="-122"/>
                <a:cs typeface="Arial" pitchFamily="34" charset="-120"/>
              </a:rPr>
              <a:t>✓</a:t>
            </a:r>
            <a:endParaRPr lang="en-US" sz="1000" dirty="0"/>
          </a:p>
        </p:txBody>
      </p:sp>
      <p:sp>
        <p:nvSpPr>
          <p:cNvPr id="13" name="Text 11"/>
          <p:cNvSpPr/>
          <p:nvPr/>
        </p:nvSpPr>
        <p:spPr>
          <a:xfrm>
            <a:off x="4987677" y="2253109"/>
            <a:ext cx="2123748" cy="164902"/>
          </a:xfrm>
          <a:prstGeom prst="rect">
            <a:avLst/>
          </a:prstGeom>
          <a:noFill/>
          <a:ln/>
        </p:spPr>
        <p:txBody>
          <a:bodyPr wrap="square" lIns="0" tIns="0" rIns="0" bIns="0" rtlCol="0" anchor="t"/>
          <a:lstStyle/>
          <a:p>
            <a:pPr algn="l" indent="0" marL="0">
              <a:lnSpc>
                <a:spcPts val="1300"/>
              </a:lnSpc>
              <a:spcBef>
                <a:spcPts val="1000"/>
              </a:spcBef>
              <a:spcAft>
                <a:spcPts val="1000"/>
              </a:spcAft>
              <a:buNone/>
            </a:pPr>
            <a:r>
              <a:rPr lang="en-US" sz="1000" dirty="0">
                <a:solidFill>
                  <a:srgbClr val="E0E0E0"/>
                </a:solidFill>
                <a:latin typeface="Arial" pitchFamily="34" charset="0"/>
                <a:ea typeface="Arial" pitchFamily="34" charset="-122"/>
                <a:cs typeface="Arial" pitchFamily="34" charset="-120"/>
              </a:rPr>
              <a:t>Designs quiz structure and questions</a:t>
            </a:r>
            <a:endParaRPr lang="en-US" sz="1000" dirty="0"/>
          </a:p>
        </p:txBody>
      </p:sp>
      <p:sp>
        <p:nvSpPr>
          <p:cNvPr id="14" name="Text 12"/>
          <p:cNvSpPr/>
          <p:nvPr/>
        </p:nvSpPr>
        <p:spPr>
          <a:xfrm>
            <a:off x="4809976" y="2748111"/>
            <a:ext cx="181255" cy="152400"/>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2ECC71"/>
                </a:solidFill>
                <a:latin typeface="Arial" pitchFamily="34" charset="0"/>
                <a:ea typeface="Arial" pitchFamily="34" charset="-122"/>
                <a:cs typeface="Arial" pitchFamily="34" charset="-120"/>
              </a:rPr>
              <a:t>✓</a:t>
            </a:r>
            <a:endParaRPr lang="en-US" sz="1000" dirty="0"/>
          </a:p>
        </p:txBody>
      </p:sp>
      <p:sp>
        <p:nvSpPr>
          <p:cNvPr id="15" name="Text 13"/>
          <p:cNvSpPr/>
          <p:nvPr/>
        </p:nvSpPr>
        <p:spPr>
          <a:xfrm>
            <a:off x="4987677" y="2748111"/>
            <a:ext cx="1914409" cy="164902"/>
          </a:xfrm>
          <a:prstGeom prst="rect">
            <a:avLst/>
          </a:prstGeom>
          <a:noFill/>
          <a:ln/>
        </p:spPr>
        <p:txBody>
          <a:bodyPr wrap="square" lIns="0" tIns="0" rIns="0" bIns="0" rtlCol="0" anchor="t"/>
          <a:lstStyle/>
          <a:p>
            <a:pPr algn="l" indent="0" marL="0">
              <a:lnSpc>
                <a:spcPts val="1300"/>
              </a:lnSpc>
              <a:spcBef>
                <a:spcPts val="1000"/>
              </a:spcBef>
              <a:spcAft>
                <a:spcPts val="1000"/>
              </a:spcAft>
              <a:buNone/>
            </a:pPr>
            <a:r>
              <a:rPr lang="en-US" sz="1000" dirty="0">
                <a:solidFill>
                  <a:srgbClr val="E0E0E0"/>
                </a:solidFill>
                <a:latin typeface="Arial" pitchFamily="34" charset="0"/>
                <a:ea typeface="Arial" pitchFamily="34" charset="-122"/>
                <a:cs typeface="Arial" pitchFamily="34" charset="-120"/>
              </a:rPr>
              <a:t>Writes HTML + CSS + JavaScript</a:t>
            </a:r>
            <a:endParaRPr lang="en-US" sz="1000" dirty="0"/>
          </a:p>
        </p:txBody>
      </p:sp>
      <p:sp>
        <p:nvSpPr>
          <p:cNvPr id="16" name="Text 14"/>
          <p:cNvSpPr/>
          <p:nvPr/>
        </p:nvSpPr>
        <p:spPr>
          <a:xfrm>
            <a:off x="4809976" y="3243114"/>
            <a:ext cx="181255" cy="152400"/>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2ECC71"/>
                </a:solidFill>
                <a:latin typeface="Arial" pitchFamily="34" charset="0"/>
                <a:ea typeface="Arial" pitchFamily="34" charset="-122"/>
                <a:cs typeface="Arial" pitchFamily="34" charset="-120"/>
              </a:rPr>
              <a:t>✓</a:t>
            </a:r>
            <a:endParaRPr lang="en-US" sz="1000" dirty="0"/>
          </a:p>
        </p:txBody>
      </p:sp>
      <p:sp>
        <p:nvSpPr>
          <p:cNvPr id="17" name="Text 15"/>
          <p:cNvSpPr/>
          <p:nvPr/>
        </p:nvSpPr>
        <p:spPr>
          <a:xfrm>
            <a:off x="4987677" y="3243114"/>
            <a:ext cx="1921999" cy="164902"/>
          </a:xfrm>
          <a:prstGeom prst="rect">
            <a:avLst/>
          </a:prstGeom>
          <a:noFill/>
          <a:ln/>
        </p:spPr>
        <p:txBody>
          <a:bodyPr wrap="square" lIns="0" tIns="0" rIns="0" bIns="0" rtlCol="0" anchor="t"/>
          <a:lstStyle/>
          <a:p>
            <a:pPr algn="l" indent="0" marL="0">
              <a:lnSpc>
                <a:spcPts val="1300"/>
              </a:lnSpc>
              <a:spcBef>
                <a:spcPts val="1000"/>
              </a:spcBef>
              <a:spcAft>
                <a:spcPts val="1000"/>
              </a:spcAft>
              <a:buNone/>
            </a:pPr>
            <a:r>
              <a:rPr lang="en-US" sz="1000" dirty="0">
                <a:solidFill>
                  <a:srgbClr val="E0E0E0"/>
                </a:solidFill>
                <a:latin typeface="Arial" pitchFamily="34" charset="0"/>
                <a:ea typeface="Arial" pitchFamily="34" charset="-122"/>
                <a:cs typeface="Arial" pitchFamily="34" charset="-120"/>
              </a:rPr>
              <a:t>Creates mobile-responsive layout</a:t>
            </a:r>
            <a:endParaRPr lang="en-US" sz="1000" dirty="0"/>
          </a:p>
        </p:txBody>
      </p:sp>
      <p:sp>
        <p:nvSpPr>
          <p:cNvPr id="18" name="Text 16"/>
          <p:cNvSpPr/>
          <p:nvPr/>
        </p:nvSpPr>
        <p:spPr>
          <a:xfrm>
            <a:off x="4809976" y="3738116"/>
            <a:ext cx="181255" cy="152400"/>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2ECC71"/>
                </a:solidFill>
                <a:latin typeface="Arial" pitchFamily="34" charset="0"/>
                <a:ea typeface="Arial" pitchFamily="34" charset="-122"/>
                <a:cs typeface="Arial" pitchFamily="34" charset="-120"/>
              </a:rPr>
              <a:t>✓</a:t>
            </a:r>
            <a:endParaRPr lang="en-US" sz="1000" dirty="0"/>
          </a:p>
        </p:txBody>
      </p:sp>
      <p:sp>
        <p:nvSpPr>
          <p:cNvPr id="19" name="Text 17"/>
          <p:cNvSpPr/>
          <p:nvPr/>
        </p:nvSpPr>
        <p:spPr>
          <a:xfrm>
            <a:off x="4987677" y="3738116"/>
            <a:ext cx="2159573" cy="164902"/>
          </a:xfrm>
          <a:prstGeom prst="rect">
            <a:avLst/>
          </a:prstGeom>
          <a:noFill/>
          <a:ln/>
        </p:spPr>
        <p:txBody>
          <a:bodyPr wrap="square" lIns="0" tIns="0" rIns="0" bIns="0" rtlCol="0" anchor="t"/>
          <a:lstStyle/>
          <a:p>
            <a:pPr algn="l" indent="0" marL="0">
              <a:lnSpc>
                <a:spcPts val="1300"/>
              </a:lnSpc>
              <a:spcBef>
                <a:spcPts val="1000"/>
              </a:spcBef>
              <a:spcAft>
                <a:spcPts val="1000"/>
              </a:spcAft>
              <a:buNone/>
            </a:pPr>
            <a:r>
              <a:rPr lang="en-US" sz="1000" dirty="0">
                <a:solidFill>
                  <a:srgbClr val="E0E0E0"/>
                </a:solidFill>
                <a:latin typeface="Arial" pitchFamily="34" charset="0"/>
                <a:ea typeface="Arial" pitchFamily="34" charset="-122"/>
                <a:cs typeface="Arial" pitchFamily="34" charset="-120"/>
              </a:rPr>
              <a:t>Adds score tracking and review mode</a:t>
            </a:r>
            <a:endParaRPr lang="en-US" sz="1000" dirty="0"/>
          </a:p>
        </p:txBody>
      </p:sp>
      <p:sp>
        <p:nvSpPr>
          <p:cNvPr id="20" name="Text 18"/>
          <p:cNvSpPr/>
          <p:nvPr/>
        </p:nvSpPr>
        <p:spPr>
          <a:xfrm>
            <a:off x="4809976" y="4233118"/>
            <a:ext cx="181255" cy="152400"/>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2ECC71"/>
                </a:solidFill>
                <a:latin typeface="Arial" pitchFamily="34" charset="0"/>
                <a:ea typeface="Arial" pitchFamily="34" charset="-122"/>
                <a:cs typeface="Arial" pitchFamily="34" charset="-120"/>
              </a:rPr>
              <a:t>✓</a:t>
            </a:r>
            <a:endParaRPr lang="en-US" sz="1000" dirty="0"/>
          </a:p>
        </p:txBody>
      </p:sp>
      <p:sp>
        <p:nvSpPr>
          <p:cNvPr id="21" name="Text 19"/>
          <p:cNvSpPr/>
          <p:nvPr/>
        </p:nvSpPr>
        <p:spPr>
          <a:xfrm>
            <a:off x="4987677" y="4233118"/>
            <a:ext cx="2289063" cy="164902"/>
          </a:xfrm>
          <a:prstGeom prst="rect">
            <a:avLst/>
          </a:prstGeom>
          <a:noFill/>
          <a:ln/>
        </p:spPr>
        <p:txBody>
          <a:bodyPr wrap="square" lIns="0" tIns="0" rIns="0" bIns="0" rtlCol="0" anchor="t"/>
          <a:lstStyle/>
          <a:p>
            <a:pPr algn="l" indent="0" marL="0">
              <a:lnSpc>
                <a:spcPts val="1300"/>
              </a:lnSpc>
              <a:spcBef>
                <a:spcPts val="1000"/>
              </a:spcBef>
              <a:spcAft>
                <a:spcPts val="1000"/>
              </a:spcAft>
              <a:buNone/>
            </a:pPr>
            <a:r>
              <a:rPr lang="en-US" sz="1000" dirty="0">
                <a:solidFill>
                  <a:srgbClr val="E0E0E0"/>
                </a:solidFill>
                <a:latin typeface="Arial" pitchFamily="34" charset="0"/>
                <a:ea typeface="Arial" pitchFamily="34" charset="-122"/>
                <a:cs typeface="Arial" pitchFamily="34" charset="-120"/>
              </a:rPr>
              <a:t>Opens preview in browser automatically</a:t>
            </a:r>
            <a:endParaRPr lang="en-US" sz="1000" dirty="0"/>
          </a:p>
        </p:txBody>
      </p:sp>
      <p:sp>
        <p:nvSpPr>
          <p:cNvPr id="22" name="Text 20"/>
          <p:cNvSpPr/>
          <p:nvPr/>
        </p:nvSpPr>
        <p:spPr>
          <a:xfrm>
            <a:off x="7990582" y="4651474"/>
            <a:ext cx="813825" cy="161925"/>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9B59B6"/>
                </a:solidFill>
                <a:latin typeface="Arial" pitchFamily="34" charset="0"/>
                <a:ea typeface="Arial" pitchFamily="34" charset="-122"/>
                <a:cs typeface="Arial" pitchFamily="34" charset="-120"/>
              </a:rPr>
              <a:t>⏱ 3 min demo</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50A1E"/>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D4FF"/>
          </a:solidFill>
          <a:ln/>
        </p:spPr>
        <p:txBody>
          <a:bodyPr wrap="square" rtlCol="0" anchor="ctr"/>
          <a:lstStyle/>
          <a:p>
            <a:pPr indent="0" marL="0">
              <a:buNone/>
            </a:pPr>
            <a:endParaRPr lang="en-US" dirty="0"/>
          </a:p>
        </p:txBody>
      </p:sp>
      <p:sp>
        <p:nvSpPr>
          <p:cNvPr id="3" name="Text 1"/>
          <p:cNvSpPr/>
          <p:nvPr/>
        </p:nvSpPr>
        <p:spPr>
          <a:xfrm>
            <a:off x="381000" y="831205"/>
            <a:ext cx="8549640" cy="133350"/>
          </a:xfrm>
          <a:prstGeom prst="rect">
            <a:avLst/>
          </a:prstGeom>
          <a:noFill/>
          <a:ln/>
        </p:spPr>
        <p:txBody>
          <a:bodyPr wrap="square" lIns="0" tIns="0" rIns="0" bIns="0" rtlCol="0" anchor="t"/>
          <a:lstStyle/>
          <a:p>
            <a:pPr algn="l" indent="0" marL="0">
              <a:spcBef>
                <a:spcPts val="900"/>
              </a:spcBef>
              <a:spcAft>
                <a:spcPts val="600"/>
              </a:spcAft>
              <a:buNone/>
            </a:pPr>
            <a:r>
              <a:rPr lang="en-US" sz="900" dirty="0">
                <a:solidFill>
                  <a:srgbClr val="00D4FF"/>
                </a:solidFill>
                <a:latin typeface="Arial" pitchFamily="34" charset="0"/>
                <a:ea typeface="Arial" pitchFamily="34" charset="-122"/>
                <a:cs typeface="Arial" pitchFamily="34" charset="-120"/>
              </a:rPr>
              <a:t>TIPS &amp; TRICKS</a:t>
            </a:r>
            <a:endParaRPr lang="en-US" sz="900" dirty="0"/>
          </a:p>
        </p:txBody>
      </p:sp>
      <p:sp>
        <p:nvSpPr>
          <p:cNvPr id="4" name="Text 2"/>
          <p:cNvSpPr/>
          <p:nvPr/>
        </p:nvSpPr>
        <p:spPr>
          <a:xfrm>
            <a:off x="381000" y="1040755"/>
            <a:ext cx="8549640" cy="295275"/>
          </a:xfrm>
          <a:prstGeom prst="rect">
            <a:avLst/>
          </a:prstGeom>
          <a:noFill/>
          <a:ln/>
        </p:spPr>
        <p:txBody>
          <a:bodyPr wrap="square" lIns="0" tIns="0" rIns="0" bIns="0" rtlCol="0" anchor="t"/>
          <a:lstStyle/>
          <a:p>
            <a:pPr algn="l" indent="0" marL="0">
              <a:spcAft>
                <a:spcPts val="1200"/>
              </a:spcAft>
              <a:buNone/>
            </a:pPr>
            <a:r>
              <a:rPr lang="en-US" sz="2000" dirty="0">
                <a:solidFill>
                  <a:srgbClr val="FFFFFF"/>
                </a:solidFill>
                <a:latin typeface="Arial" pitchFamily="34" charset="0"/>
                <a:ea typeface="Arial" pitchFamily="34" charset="-122"/>
                <a:cs typeface="Arial" pitchFamily="34" charset="-120"/>
              </a:rPr>
              <a:t>Claude Code </a:t>
            </a:r>
            <a:pPr algn="l" indent="0" marL="0">
              <a:spcAft>
                <a:spcPts val="1200"/>
              </a:spcAft>
              <a:buNone/>
            </a:pPr>
            <a:r>
              <a:rPr lang="en-US" sz="2000" b="1" dirty="0">
                <a:solidFill>
                  <a:srgbClr val="00D4FF"/>
                </a:solidFill>
                <a:latin typeface="Arial" pitchFamily="34" charset="0"/>
                <a:ea typeface="Arial" pitchFamily="34" charset="-122"/>
                <a:cs typeface="Arial" pitchFamily="34" charset="-120"/>
              </a:rPr>
              <a:t>Pro Tips</a:t>
            </a:r>
            <a:pPr algn="l" indent="0" marL="0">
              <a:spcAft>
                <a:spcPts val="1200"/>
              </a:spcAft>
              <a:buNone/>
            </a:pPr>
            <a:r>
              <a:rPr lang="en-US" sz="2000" dirty="0">
                <a:solidFill>
                  <a:srgbClr val="FFFFFF"/>
                </a:solidFill>
                <a:latin typeface="Arial" pitchFamily="34" charset="0"/>
                <a:ea typeface="Arial" pitchFamily="34" charset="-122"/>
                <a:cs typeface="Arial" pitchFamily="34" charset="-120"/>
              </a:rPr>
              <a:t> That Changed My Workflow</a:t>
            </a:r>
            <a:endParaRPr lang="en-US" sz="2000" dirty="0"/>
          </a:p>
        </p:txBody>
      </p:sp>
      <p:sp>
        <p:nvSpPr>
          <p:cNvPr id="5" name="Text 3"/>
          <p:cNvSpPr/>
          <p:nvPr/>
        </p:nvSpPr>
        <p:spPr>
          <a:xfrm>
            <a:off x="381000" y="1488430"/>
            <a:ext cx="2709267" cy="1255514"/>
          </a:xfrm>
          <a:prstGeom prst="rect">
            <a:avLst/>
          </a:prstGeom>
          <a:solidFill>
            <a:srgbClr val="00D4FF">
              <a:alpha val="7000"/>
            </a:srgbClr>
          </a:solidFill>
          <a:ln w="9525">
            <a:solidFill>
              <a:srgbClr val="00D4FF"/>
            </a:solidFill>
          </a:ln>
        </p:spPr>
        <p:txBody>
          <a:bodyPr wrap="square" rtlCol="0" anchor="ctr"/>
          <a:lstStyle/>
          <a:p>
            <a:pPr indent="0" marL="0">
              <a:buNone/>
            </a:pPr>
            <a:endParaRPr lang="en-US" dirty="0"/>
          </a:p>
        </p:txBody>
      </p:sp>
      <p:sp>
        <p:nvSpPr>
          <p:cNvPr id="6" name="Text 4"/>
          <p:cNvSpPr/>
          <p:nvPr/>
        </p:nvSpPr>
        <p:spPr>
          <a:xfrm>
            <a:off x="517475" y="1700957"/>
            <a:ext cx="2485043" cy="114300"/>
          </a:xfrm>
          <a:prstGeom prst="rect">
            <a:avLst/>
          </a:prstGeom>
          <a:noFill/>
          <a:ln/>
        </p:spPr>
        <p:txBody>
          <a:bodyPr wrap="square" lIns="0" tIns="0" rIns="0" bIns="0" rtlCol="0" anchor="t"/>
          <a:lstStyle/>
          <a:p>
            <a:pPr algn="l" indent="0" marL="0">
              <a:spcBef>
                <a:spcPts val="800"/>
              </a:spcBef>
              <a:spcAft>
                <a:spcPts val="300"/>
              </a:spcAft>
              <a:buNone/>
            </a:pPr>
            <a:r>
              <a:rPr lang="en-US" sz="800" b="1" dirty="0">
                <a:solidFill>
                  <a:srgbClr val="00D4FF"/>
                </a:solidFill>
                <a:latin typeface="Arial" pitchFamily="34" charset="0"/>
                <a:ea typeface="Arial" pitchFamily="34" charset="-122"/>
                <a:cs typeface="Arial" pitchFamily="34" charset="-120"/>
              </a:rPr>
              <a:t>TIP 01</a:t>
            </a:r>
            <a:endParaRPr lang="en-US" sz="800" dirty="0"/>
          </a:p>
        </p:txBody>
      </p:sp>
      <p:sp>
        <p:nvSpPr>
          <p:cNvPr id="7" name="Text 5"/>
          <p:cNvSpPr/>
          <p:nvPr/>
        </p:nvSpPr>
        <p:spPr>
          <a:xfrm>
            <a:off x="517475" y="1954857"/>
            <a:ext cx="2485043" cy="152400"/>
          </a:xfrm>
          <a:prstGeom prst="rect">
            <a:avLst/>
          </a:prstGeom>
          <a:noFill/>
          <a:ln/>
        </p:spPr>
        <p:txBody>
          <a:bodyPr wrap="square" lIns="0" tIns="0" rIns="0" bIns="0" rtlCol="0" anchor="t"/>
          <a:lstStyle/>
          <a:p>
            <a:pPr algn="l" indent="0" marL="0">
              <a:spcBef>
                <a:spcPts val="1100"/>
              </a:spcBef>
              <a:spcAft>
                <a:spcPts val="300"/>
              </a:spcAft>
              <a:buNone/>
            </a:pPr>
            <a:r>
              <a:rPr lang="en-US" sz="1100" b="1" dirty="0">
                <a:solidFill>
                  <a:srgbClr val="FFFFFF"/>
                </a:solidFill>
                <a:latin typeface="Arial" pitchFamily="34" charset="0"/>
                <a:ea typeface="Arial" pitchFamily="34" charset="-122"/>
                <a:cs typeface="Arial" pitchFamily="34" charset="-120"/>
              </a:rPr>
              <a:t>Think Out Loud First</a:t>
            </a:r>
            <a:endParaRPr lang="en-US" sz="1100" dirty="0"/>
          </a:p>
        </p:txBody>
      </p:sp>
      <p:sp>
        <p:nvSpPr>
          <p:cNvPr id="8" name="Text 6"/>
          <p:cNvSpPr/>
          <p:nvPr/>
        </p:nvSpPr>
        <p:spPr>
          <a:xfrm>
            <a:off x="517475" y="2221557"/>
            <a:ext cx="2485043" cy="297061"/>
          </a:xfrm>
          <a:prstGeom prst="rect">
            <a:avLst/>
          </a:prstGeom>
          <a:noFill/>
          <a:ln/>
        </p:spPr>
        <p:txBody>
          <a:bodyPr wrap="square" lIns="0" tIns="0" rIns="0" bIns="0" rtlCol="0" anchor="t"/>
          <a:lstStyle/>
          <a:p>
            <a:pPr algn="l" indent="0" marL="0">
              <a:lnSpc>
                <a:spcPts val="1170"/>
              </a:lnSpc>
              <a:spcBef>
                <a:spcPts val="900"/>
              </a:spcBef>
              <a:spcAft>
                <a:spcPts val="900"/>
              </a:spcAft>
              <a:buNone/>
            </a:pPr>
            <a:r>
              <a:rPr lang="en-US" sz="900" dirty="0">
                <a:solidFill>
                  <a:srgbClr val="B0BEC5"/>
                </a:solidFill>
                <a:latin typeface="Arial" pitchFamily="34" charset="0"/>
                <a:ea typeface="Arial" pitchFamily="34" charset="-122"/>
                <a:cs typeface="Arial" pitchFamily="34" charset="-120"/>
              </a:rPr>
              <a:t>Start with "Think step by step before writing code." More thoughtful outputs, fewer rewrites.</a:t>
            </a:r>
            <a:endParaRPr lang="en-US" sz="900" dirty="0"/>
          </a:p>
        </p:txBody>
      </p:sp>
      <p:sp>
        <p:nvSpPr>
          <p:cNvPr id="9" name="Text 7"/>
          <p:cNvSpPr/>
          <p:nvPr/>
        </p:nvSpPr>
        <p:spPr>
          <a:xfrm>
            <a:off x="381000" y="2845445"/>
            <a:ext cx="2709267" cy="1499890"/>
          </a:xfrm>
          <a:prstGeom prst="rect">
            <a:avLst/>
          </a:prstGeom>
          <a:solidFill>
            <a:srgbClr val="F1C40F">
              <a:alpha val="7000"/>
            </a:srgbClr>
          </a:solidFill>
          <a:ln w="9525">
            <a:solidFill>
              <a:srgbClr val="F1C40F"/>
            </a:solidFill>
          </a:ln>
        </p:spPr>
        <p:txBody>
          <a:bodyPr wrap="square" rtlCol="0" anchor="ctr"/>
          <a:lstStyle/>
          <a:p>
            <a:pPr indent="0" marL="0">
              <a:buNone/>
            </a:pPr>
            <a:endParaRPr lang="en-US" dirty="0"/>
          </a:p>
        </p:txBody>
      </p:sp>
      <p:sp>
        <p:nvSpPr>
          <p:cNvPr id="10" name="Text 8"/>
          <p:cNvSpPr/>
          <p:nvPr/>
        </p:nvSpPr>
        <p:spPr>
          <a:xfrm>
            <a:off x="517475" y="3057971"/>
            <a:ext cx="2485043" cy="142875"/>
          </a:xfrm>
          <a:prstGeom prst="rect">
            <a:avLst/>
          </a:prstGeom>
          <a:noFill/>
          <a:ln/>
        </p:spPr>
        <p:txBody>
          <a:bodyPr wrap="square" lIns="0" tIns="0" rIns="0" bIns="0" rtlCol="0" anchor="t"/>
          <a:lstStyle/>
          <a:p>
            <a:pPr algn="l" indent="0" marL="0">
              <a:spcBef>
                <a:spcPts val="800"/>
              </a:spcBef>
              <a:spcAft>
                <a:spcPts val="300"/>
              </a:spcAft>
              <a:buNone/>
            </a:pPr>
            <a:r>
              <a:rPr lang="en-US" sz="800" b="1" dirty="0">
                <a:solidFill>
                  <a:srgbClr val="F1C40F"/>
                </a:solidFill>
                <a:latin typeface="Arial" pitchFamily="34" charset="0"/>
                <a:ea typeface="Arial" pitchFamily="34" charset="-122"/>
                <a:cs typeface="Arial" pitchFamily="34" charset="-120"/>
              </a:rPr>
              <a:t>TIP 02 ★</a:t>
            </a:r>
            <a:endParaRPr lang="en-US" sz="800" dirty="0"/>
          </a:p>
        </p:txBody>
      </p:sp>
      <p:sp>
        <p:nvSpPr>
          <p:cNvPr id="11" name="Text 9"/>
          <p:cNvSpPr/>
          <p:nvPr/>
        </p:nvSpPr>
        <p:spPr>
          <a:xfrm>
            <a:off x="517475" y="3340447"/>
            <a:ext cx="2485043" cy="152400"/>
          </a:xfrm>
          <a:prstGeom prst="rect">
            <a:avLst/>
          </a:prstGeom>
          <a:noFill/>
          <a:ln/>
        </p:spPr>
        <p:txBody>
          <a:bodyPr wrap="square" lIns="0" tIns="0" rIns="0" bIns="0" rtlCol="0" anchor="t"/>
          <a:lstStyle/>
          <a:p>
            <a:pPr algn="l" indent="0" marL="0">
              <a:spcBef>
                <a:spcPts val="1100"/>
              </a:spcBef>
              <a:spcAft>
                <a:spcPts val="300"/>
              </a:spcAft>
              <a:buNone/>
            </a:pPr>
            <a:r>
              <a:rPr lang="en-US" sz="1100" b="1" dirty="0">
                <a:solidFill>
                  <a:srgbClr val="FFFFFF"/>
                </a:solidFill>
                <a:latin typeface="Arial" pitchFamily="34" charset="0"/>
                <a:ea typeface="Arial" pitchFamily="34" charset="-122"/>
                <a:cs typeface="Arial" pitchFamily="34" charset="-120"/>
              </a:rPr>
              <a:t>CLAUDE.md as Your Manual</a:t>
            </a:r>
            <a:endParaRPr lang="en-US" sz="1100" dirty="0"/>
          </a:p>
        </p:txBody>
      </p:sp>
      <p:sp>
        <p:nvSpPr>
          <p:cNvPr id="12" name="Text 10"/>
          <p:cNvSpPr/>
          <p:nvPr/>
        </p:nvSpPr>
        <p:spPr>
          <a:xfrm>
            <a:off x="517475" y="3607147"/>
            <a:ext cx="2485043" cy="297061"/>
          </a:xfrm>
          <a:prstGeom prst="rect">
            <a:avLst/>
          </a:prstGeom>
          <a:noFill/>
          <a:ln/>
        </p:spPr>
        <p:txBody>
          <a:bodyPr wrap="square" lIns="0" tIns="0" rIns="0" bIns="0" rtlCol="0" anchor="t"/>
          <a:lstStyle/>
          <a:p>
            <a:pPr algn="l" indent="0" marL="0">
              <a:lnSpc>
                <a:spcPts val="1170"/>
              </a:lnSpc>
              <a:spcBef>
                <a:spcPts val="900"/>
              </a:spcBef>
              <a:spcAft>
                <a:spcPts val="900"/>
              </a:spcAft>
              <a:buNone/>
            </a:pPr>
            <a:r>
              <a:rPr lang="en-US" sz="900" dirty="0">
                <a:solidFill>
                  <a:srgbClr val="B0BEC5"/>
                </a:solidFill>
                <a:latin typeface="Arial" pitchFamily="34" charset="0"/>
                <a:ea typeface="Arial" pitchFamily="34" charset="-122"/>
                <a:cs typeface="Arial" pitchFamily="34" charset="-120"/>
              </a:rPr>
              <a:t>Personal rules &amp; preferences in CLAUDE.md — Claude reads it every session.</a:t>
            </a:r>
            <a:endParaRPr lang="en-US" sz="900" dirty="0"/>
          </a:p>
        </p:txBody>
      </p:sp>
      <p:sp>
        <p:nvSpPr>
          <p:cNvPr id="13" name="Text 11"/>
          <p:cNvSpPr/>
          <p:nvPr/>
        </p:nvSpPr>
        <p:spPr>
          <a:xfrm>
            <a:off x="517475" y="4018508"/>
            <a:ext cx="2485043" cy="114300"/>
          </a:xfrm>
          <a:prstGeom prst="rect">
            <a:avLst/>
          </a:prstGeom>
          <a:noFill/>
          <a:ln/>
        </p:spPr>
        <p:txBody>
          <a:bodyPr wrap="square" lIns="0" tIns="0" rIns="0" bIns="0" rtlCol="0" anchor="t"/>
          <a:lstStyle/>
          <a:p>
            <a:pPr algn="l" indent="0" marL="0">
              <a:spcBef>
                <a:spcPts val="300"/>
              </a:spcBef>
              <a:spcAft>
                <a:spcPts val="800"/>
              </a:spcAft>
              <a:buNone/>
            </a:pPr>
            <a:r>
              <a:rPr lang="en-US" sz="800" dirty="0">
                <a:solidFill>
                  <a:srgbClr val="79C0FF"/>
                </a:solidFill>
                <a:latin typeface="Courier New" pitchFamily="34" charset="0"/>
                <a:ea typeface="Courier New" pitchFamily="34" charset="-122"/>
                <a:cs typeface="Courier New" pitchFamily="34" charset="-120"/>
              </a:rPr>
              <a:t>echo "Always use bun" &gt; CLAUDE.md</a:t>
            </a:r>
            <a:endParaRPr lang="en-US" sz="800" dirty="0"/>
          </a:p>
        </p:txBody>
      </p:sp>
      <p:sp>
        <p:nvSpPr>
          <p:cNvPr id="14" name="Text 12"/>
          <p:cNvSpPr/>
          <p:nvPr/>
        </p:nvSpPr>
        <p:spPr>
          <a:xfrm>
            <a:off x="3217218" y="1488430"/>
            <a:ext cx="2709416" cy="1255514"/>
          </a:xfrm>
          <a:prstGeom prst="rect">
            <a:avLst/>
          </a:prstGeom>
          <a:solidFill>
            <a:srgbClr val="00D4FF">
              <a:alpha val="7000"/>
            </a:srgbClr>
          </a:solidFill>
          <a:ln w="9525">
            <a:solidFill>
              <a:srgbClr val="00D4FF"/>
            </a:solidFill>
          </a:ln>
        </p:spPr>
        <p:txBody>
          <a:bodyPr wrap="square" rtlCol="0" anchor="ctr"/>
          <a:lstStyle/>
          <a:p>
            <a:pPr indent="0" marL="0">
              <a:buNone/>
            </a:pPr>
            <a:endParaRPr lang="en-US" dirty="0"/>
          </a:p>
        </p:txBody>
      </p:sp>
      <p:sp>
        <p:nvSpPr>
          <p:cNvPr id="15" name="Text 13"/>
          <p:cNvSpPr/>
          <p:nvPr/>
        </p:nvSpPr>
        <p:spPr>
          <a:xfrm>
            <a:off x="3353693" y="1700957"/>
            <a:ext cx="2485195" cy="114300"/>
          </a:xfrm>
          <a:prstGeom prst="rect">
            <a:avLst/>
          </a:prstGeom>
          <a:noFill/>
          <a:ln/>
        </p:spPr>
        <p:txBody>
          <a:bodyPr wrap="square" lIns="0" tIns="0" rIns="0" bIns="0" rtlCol="0" anchor="t"/>
          <a:lstStyle/>
          <a:p>
            <a:pPr algn="l" indent="0" marL="0">
              <a:spcBef>
                <a:spcPts val="800"/>
              </a:spcBef>
              <a:spcAft>
                <a:spcPts val="300"/>
              </a:spcAft>
              <a:buNone/>
            </a:pPr>
            <a:r>
              <a:rPr lang="en-US" sz="800" b="1" dirty="0">
                <a:solidFill>
                  <a:srgbClr val="00D4FF"/>
                </a:solidFill>
                <a:latin typeface="Arial" pitchFamily="34" charset="0"/>
                <a:ea typeface="Arial" pitchFamily="34" charset="-122"/>
                <a:cs typeface="Arial" pitchFamily="34" charset="-120"/>
              </a:rPr>
              <a:t>TIP 03</a:t>
            </a:r>
            <a:endParaRPr lang="en-US" sz="800" dirty="0"/>
          </a:p>
        </p:txBody>
      </p:sp>
      <p:sp>
        <p:nvSpPr>
          <p:cNvPr id="16" name="Text 14"/>
          <p:cNvSpPr/>
          <p:nvPr/>
        </p:nvSpPr>
        <p:spPr>
          <a:xfrm>
            <a:off x="3353693" y="1954857"/>
            <a:ext cx="2485195" cy="152400"/>
          </a:xfrm>
          <a:prstGeom prst="rect">
            <a:avLst/>
          </a:prstGeom>
          <a:noFill/>
          <a:ln/>
        </p:spPr>
        <p:txBody>
          <a:bodyPr wrap="square" lIns="0" tIns="0" rIns="0" bIns="0" rtlCol="0" anchor="t"/>
          <a:lstStyle/>
          <a:p>
            <a:pPr algn="l" indent="0" marL="0">
              <a:spcBef>
                <a:spcPts val="1100"/>
              </a:spcBef>
              <a:spcAft>
                <a:spcPts val="300"/>
              </a:spcAft>
              <a:buNone/>
            </a:pPr>
            <a:r>
              <a:rPr lang="en-US" sz="1100" b="1" dirty="0">
                <a:solidFill>
                  <a:srgbClr val="FFFFFF"/>
                </a:solidFill>
                <a:latin typeface="Arial" pitchFamily="34" charset="0"/>
                <a:ea typeface="Arial" pitchFamily="34" charset="-122"/>
                <a:cs typeface="Arial" pitchFamily="34" charset="-120"/>
              </a:rPr>
              <a:t>/compact for Long Sessions</a:t>
            </a:r>
            <a:endParaRPr lang="en-US" sz="1100" dirty="0"/>
          </a:p>
        </p:txBody>
      </p:sp>
      <p:sp>
        <p:nvSpPr>
          <p:cNvPr id="17" name="Text 15"/>
          <p:cNvSpPr/>
          <p:nvPr/>
        </p:nvSpPr>
        <p:spPr>
          <a:xfrm>
            <a:off x="3353693" y="2221557"/>
            <a:ext cx="2485195" cy="297061"/>
          </a:xfrm>
          <a:prstGeom prst="rect">
            <a:avLst/>
          </a:prstGeom>
          <a:noFill/>
          <a:ln/>
        </p:spPr>
        <p:txBody>
          <a:bodyPr wrap="square" lIns="0" tIns="0" rIns="0" bIns="0" rtlCol="0" anchor="t"/>
          <a:lstStyle/>
          <a:p>
            <a:pPr algn="l" indent="0" marL="0">
              <a:lnSpc>
                <a:spcPts val="1170"/>
              </a:lnSpc>
              <a:spcBef>
                <a:spcPts val="900"/>
              </a:spcBef>
              <a:spcAft>
                <a:spcPts val="900"/>
              </a:spcAft>
              <a:buNone/>
            </a:pPr>
            <a:r>
              <a:rPr lang="en-US" sz="900" dirty="0">
                <a:solidFill>
                  <a:srgbClr val="B0BEC5"/>
                </a:solidFill>
                <a:latin typeface="Arial" pitchFamily="34" charset="0"/>
                <a:ea typeface="Arial" pitchFamily="34" charset="-122"/>
                <a:cs typeface="Arial" pitchFamily="34" charset="-120"/>
              </a:rPr>
              <a:t>Compresses context without losing progress when approaching window limits.</a:t>
            </a:r>
            <a:endParaRPr lang="en-US" sz="900" dirty="0"/>
          </a:p>
        </p:txBody>
      </p:sp>
      <p:sp>
        <p:nvSpPr>
          <p:cNvPr id="18" name="Text 16"/>
          <p:cNvSpPr/>
          <p:nvPr/>
        </p:nvSpPr>
        <p:spPr>
          <a:xfrm>
            <a:off x="3217218" y="2845445"/>
            <a:ext cx="2709416" cy="1255514"/>
          </a:xfrm>
          <a:prstGeom prst="rect">
            <a:avLst/>
          </a:prstGeom>
          <a:solidFill>
            <a:srgbClr val="00D4FF">
              <a:alpha val="7000"/>
            </a:srgbClr>
          </a:solidFill>
          <a:ln w="9525">
            <a:solidFill>
              <a:srgbClr val="00D4FF"/>
            </a:solidFill>
          </a:ln>
        </p:spPr>
        <p:txBody>
          <a:bodyPr wrap="square" rtlCol="0" anchor="ctr"/>
          <a:lstStyle/>
          <a:p>
            <a:pPr indent="0" marL="0">
              <a:buNone/>
            </a:pPr>
            <a:endParaRPr lang="en-US" dirty="0"/>
          </a:p>
        </p:txBody>
      </p:sp>
      <p:sp>
        <p:nvSpPr>
          <p:cNvPr id="19" name="Text 17"/>
          <p:cNvSpPr/>
          <p:nvPr/>
        </p:nvSpPr>
        <p:spPr>
          <a:xfrm>
            <a:off x="3353693" y="3057971"/>
            <a:ext cx="2485195" cy="114300"/>
          </a:xfrm>
          <a:prstGeom prst="rect">
            <a:avLst/>
          </a:prstGeom>
          <a:noFill/>
          <a:ln/>
        </p:spPr>
        <p:txBody>
          <a:bodyPr wrap="square" lIns="0" tIns="0" rIns="0" bIns="0" rtlCol="0" anchor="t"/>
          <a:lstStyle/>
          <a:p>
            <a:pPr algn="l" indent="0" marL="0">
              <a:spcBef>
                <a:spcPts val="800"/>
              </a:spcBef>
              <a:spcAft>
                <a:spcPts val="300"/>
              </a:spcAft>
              <a:buNone/>
            </a:pPr>
            <a:r>
              <a:rPr lang="en-US" sz="800" b="1" dirty="0">
                <a:solidFill>
                  <a:srgbClr val="00D4FF"/>
                </a:solidFill>
                <a:latin typeface="Arial" pitchFamily="34" charset="0"/>
                <a:ea typeface="Arial" pitchFamily="34" charset="-122"/>
                <a:cs typeface="Arial" pitchFamily="34" charset="-120"/>
              </a:rPr>
              <a:t>TIP 04</a:t>
            </a:r>
            <a:endParaRPr lang="en-US" sz="800" dirty="0"/>
          </a:p>
        </p:txBody>
      </p:sp>
      <p:sp>
        <p:nvSpPr>
          <p:cNvPr id="20" name="Text 18"/>
          <p:cNvSpPr/>
          <p:nvPr/>
        </p:nvSpPr>
        <p:spPr>
          <a:xfrm>
            <a:off x="3353693" y="3311872"/>
            <a:ext cx="2485195" cy="152400"/>
          </a:xfrm>
          <a:prstGeom prst="rect">
            <a:avLst/>
          </a:prstGeom>
          <a:noFill/>
          <a:ln/>
        </p:spPr>
        <p:txBody>
          <a:bodyPr wrap="square" lIns="0" tIns="0" rIns="0" bIns="0" rtlCol="0" anchor="t"/>
          <a:lstStyle/>
          <a:p>
            <a:pPr algn="l" indent="0" marL="0">
              <a:spcBef>
                <a:spcPts val="1100"/>
              </a:spcBef>
              <a:spcAft>
                <a:spcPts val="300"/>
              </a:spcAft>
              <a:buNone/>
            </a:pPr>
            <a:r>
              <a:rPr lang="en-US" sz="1100" b="1" dirty="0">
                <a:solidFill>
                  <a:srgbClr val="FFFFFF"/>
                </a:solidFill>
                <a:latin typeface="Arial" pitchFamily="34" charset="0"/>
                <a:ea typeface="Arial" pitchFamily="34" charset="-122"/>
                <a:cs typeface="Arial" pitchFamily="34" charset="-120"/>
              </a:rPr>
              <a:t>Parallel Sub-Agents</a:t>
            </a:r>
            <a:endParaRPr lang="en-US" sz="1100" dirty="0"/>
          </a:p>
        </p:txBody>
      </p:sp>
      <p:sp>
        <p:nvSpPr>
          <p:cNvPr id="21" name="Text 19"/>
          <p:cNvSpPr/>
          <p:nvPr/>
        </p:nvSpPr>
        <p:spPr>
          <a:xfrm>
            <a:off x="3353693" y="3578572"/>
            <a:ext cx="2485195" cy="297061"/>
          </a:xfrm>
          <a:prstGeom prst="rect">
            <a:avLst/>
          </a:prstGeom>
          <a:noFill/>
          <a:ln/>
        </p:spPr>
        <p:txBody>
          <a:bodyPr wrap="square" lIns="0" tIns="0" rIns="0" bIns="0" rtlCol="0" anchor="t"/>
          <a:lstStyle/>
          <a:p>
            <a:pPr algn="l" indent="0" marL="0">
              <a:lnSpc>
                <a:spcPts val="1170"/>
              </a:lnSpc>
              <a:spcBef>
                <a:spcPts val="900"/>
              </a:spcBef>
              <a:spcAft>
                <a:spcPts val="900"/>
              </a:spcAft>
              <a:buNone/>
            </a:pPr>
            <a:r>
              <a:rPr lang="en-US" sz="900" dirty="0">
                <a:solidFill>
                  <a:srgbClr val="B0BEC5"/>
                </a:solidFill>
                <a:latin typeface="Arial" pitchFamily="34" charset="0"/>
                <a:ea typeface="Arial" pitchFamily="34" charset="-122"/>
                <a:cs typeface="Arial" pitchFamily="34" charset="-120"/>
              </a:rPr>
              <a:t>Ask to "use multiple agents in parallel" — it will spin up simultaneous workers automatically.</a:t>
            </a:r>
            <a:endParaRPr lang="en-US" sz="900" dirty="0"/>
          </a:p>
        </p:txBody>
      </p:sp>
      <p:sp>
        <p:nvSpPr>
          <p:cNvPr id="22" name="Text 20"/>
          <p:cNvSpPr/>
          <p:nvPr/>
        </p:nvSpPr>
        <p:spPr>
          <a:xfrm>
            <a:off x="6053584" y="1488430"/>
            <a:ext cx="2709416" cy="1432620"/>
          </a:xfrm>
          <a:prstGeom prst="rect">
            <a:avLst/>
          </a:prstGeom>
          <a:solidFill>
            <a:srgbClr val="F1C40F">
              <a:alpha val="7000"/>
            </a:srgbClr>
          </a:solidFill>
          <a:ln w="9525">
            <a:solidFill>
              <a:srgbClr val="F1C40F"/>
            </a:solidFill>
          </a:ln>
        </p:spPr>
        <p:txBody>
          <a:bodyPr wrap="square" rtlCol="0" anchor="ctr"/>
          <a:lstStyle/>
          <a:p>
            <a:pPr indent="0" marL="0">
              <a:buNone/>
            </a:pPr>
            <a:endParaRPr lang="en-US" dirty="0"/>
          </a:p>
        </p:txBody>
      </p:sp>
      <p:sp>
        <p:nvSpPr>
          <p:cNvPr id="23" name="Text 21"/>
          <p:cNvSpPr/>
          <p:nvPr/>
        </p:nvSpPr>
        <p:spPr>
          <a:xfrm>
            <a:off x="6190059" y="1700957"/>
            <a:ext cx="2485195" cy="142875"/>
          </a:xfrm>
          <a:prstGeom prst="rect">
            <a:avLst/>
          </a:prstGeom>
          <a:noFill/>
          <a:ln/>
        </p:spPr>
        <p:txBody>
          <a:bodyPr wrap="square" lIns="0" tIns="0" rIns="0" bIns="0" rtlCol="0" anchor="t"/>
          <a:lstStyle/>
          <a:p>
            <a:pPr algn="l" indent="0" marL="0">
              <a:spcBef>
                <a:spcPts val="800"/>
              </a:spcBef>
              <a:spcAft>
                <a:spcPts val="300"/>
              </a:spcAft>
              <a:buNone/>
            </a:pPr>
            <a:r>
              <a:rPr lang="en-US" sz="800" b="1" dirty="0">
                <a:solidFill>
                  <a:srgbClr val="F1C40F"/>
                </a:solidFill>
                <a:latin typeface="Arial" pitchFamily="34" charset="0"/>
                <a:ea typeface="Arial" pitchFamily="34" charset="-122"/>
                <a:cs typeface="Arial" pitchFamily="34" charset="-120"/>
              </a:rPr>
              <a:t>TIP 05 ★</a:t>
            </a:r>
            <a:endParaRPr lang="en-US" sz="800" dirty="0"/>
          </a:p>
        </p:txBody>
      </p:sp>
      <p:sp>
        <p:nvSpPr>
          <p:cNvPr id="24" name="Text 22"/>
          <p:cNvSpPr/>
          <p:nvPr/>
        </p:nvSpPr>
        <p:spPr>
          <a:xfrm>
            <a:off x="6190059" y="1983432"/>
            <a:ext cx="2485195" cy="152400"/>
          </a:xfrm>
          <a:prstGeom prst="rect">
            <a:avLst/>
          </a:prstGeom>
          <a:noFill/>
          <a:ln/>
        </p:spPr>
        <p:txBody>
          <a:bodyPr wrap="square" lIns="0" tIns="0" rIns="0" bIns="0" rtlCol="0" anchor="t"/>
          <a:lstStyle/>
          <a:p>
            <a:pPr algn="l" indent="0" marL="0">
              <a:spcBef>
                <a:spcPts val="1100"/>
              </a:spcBef>
              <a:spcAft>
                <a:spcPts val="300"/>
              </a:spcAft>
              <a:buNone/>
            </a:pPr>
            <a:r>
              <a:rPr lang="en-US" sz="1100" b="1" dirty="0">
                <a:solidFill>
                  <a:srgbClr val="FFFFFF"/>
                </a:solidFill>
                <a:latin typeface="Arial" pitchFamily="34" charset="0"/>
                <a:ea typeface="Arial" pitchFamily="34" charset="-122"/>
                <a:cs typeface="Arial" pitchFamily="34" charset="-120"/>
              </a:rPr>
              <a:t>Screenshots as Input</a:t>
            </a:r>
            <a:endParaRPr lang="en-US" sz="1100" dirty="0"/>
          </a:p>
        </p:txBody>
      </p:sp>
      <p:sp>
        <p:nvSpPr>
          <p:cNvPr id="25" name="Text 23"/>
          <p:cNvSpPr/>
          <p:nvPr/>
        </p:nvSpPr>
        <p:spPr>
          <a:xfrm>
            <a:off x="6190059" y="2250132"/>
            <a:ext cx="2485195" cy="445591"/>
          </a:xfrm>
          <a:prstGeom prst="rect">
            <a:avLst/>
          </a:prstGeom>
          <a:noFill/>
          <a:ln/>
        </p:spPr>
        <p:txBody>
          <a:bodyPr wrap="square" lIns="0" tIns="0" rIns="0" bIns="0" rtlCol="0" anchor="t"/>
          <a:lstStyle/>
          <a:p>
            <a:pPr algn="l" indent="0" marL="0">
              <a:lnSpc>
                <a:spcPts val="1170"/>
              </a:lnSpc>
              <a:spcBef>
                <a:spcPts val="900"/>
              </a:spcBef>
              <a:spcAft>
                <a:spcPts val="900"/>
              </a:spcAft>
              <a:buNone/>
            </a:pPr>
            <a:r>
              <a:rPr lang="en-US" sz="900" dirty="0">
                <a:solidFill>
                  <a:srgbClr val="B0BEC5"/>
                </a:solidFill>
                <a:latin typeface="Arial" pitchFamily="34" charset="0"/>
                <a:ea typeface="Arial" pitchFamily="34" charset="-122"/>
                <a:cs typeface="Arial" pitchFamily="34" charset="-120"/>
              </a:rPr>
              <a:t>Drag any image directly into the terminal. Claude reads and analyzes visual content instantly.</a:t>
            </a:r>
            <a:endParaRPr lang="en-US" sz="900" dirty="0"/>
          </a:p>
        </p:txBody>
      </p:sp>
      <p:sp>
        <p:nvSpPr>
          <p:cNvPr id="26" name="Text 24"/>
          <p:cNvSpPr/>
          <p:nvPr/>
        </p:nvSpPr>
        <p:spPr>
          <a:xfrm>
            <a:off x="6053584" y="3022550"/>
            <a:ext cx="2709416" cy="1404045"/>
          </a:xfrm>
          <a:prstGeom prst="rect">
            <a:avLst/>
          </a:prstGeom>
          <a:solidFill>
            <a:srgbClr val="00D4FF">
              <a:alpha val="7000"/>
            </a:srgbClr>
          </a:solidFill>
          <a:ln w="9525">
            <a:solidFill>
              <a:srgbClr val="00D4FF"/>
            </a:solidFill>
          </a:ln>
        </p:spPr>
        <p:txBody>
          <a:bodyPr wrap="square" rtlCol="0" anchor="ctr"/>
          <a:lstStyle/>
          <a:p>
            <a:pPr indent="0" marL="0">
              <a:buNone/>
            </a:pPr>
            <a:endParaRPr lang="en-US" dirty="0"/>
          </a:p>
        </p:txBody>
      </p:sp>
      <p:sp>
        <p:nvSpPr>
          <p:cNvPr id="27" name="Text 25"/>
          <p:cNvSpPr/>
          <p:nvPr/>
        </p:nvSpPr>
        <p:spPr>
          <a:xfrm>
            <a:off x="6190059" y="3235077"/>
            <a:ext cx="2485195" cy="114300"/>
          </a:xfrm>
          <a:prstGeom prst="rect">
            <a:avLst/>
          </a:prstGeom>
          <a:noFill/>
          <a:ln/>
        </p:spPr>
        <p:txBody>
          <a:bodyPr wrap="square" lIns="0" tIns="0" rIns="0" bIns="0" rtlCol="0" anchor="t"/>
          <a:lstStyle/>
          <a:p>
            <a:pPr algn="l" indent="0" marL="0">
              <a:spcBef>
                <a:spcPts val="800"/>
              </a:spcBef>
              <a:spcAft>
                <a:spcPts val="300"/>
              </a:spcAft>
              <a:buNone/>
            </a:pPr>
            <a:r>
              <a:rPr lang="en-US" sz="800" b="1" dirty="0">
                <a:solidFill>
                  <a:srgbClr val="00D4FF"/>
                </a:solidFill>
                <a:latin typeface="Arial" pitchFamily="34" charset="0"/>
                <a:ea typeface="Arial" pitchFamily="34" charset="-122"/>
                <a:cs typeface="Arial" pitchFamily="34" charset="-120"/>
              </a:rPr>
              <a:t>TIP 06</a:t>
            </a:r>
            <a:endParaRPr lang="en-US" sz="800" dirty="0"/>
          </a:p>
        </p:txBody>
      </p:sp>
      <p:sp>
        <p:nvSpPr>
          <p:cNvPr id="28" name="Text 26"/>
          <p:cNvSpPr/>
          <p:nvPr/>
        </p:nvSpPr>
        <p:spPr>
          <a:xfrm>
            <a:off x="6190059" y="3488978"/>
            <a:ext cx="2485195" cy="152400"/>
          </a:xfrm>
          <a:prstGeom prst="rect">
            <a:avLst/>
          </a:prstGeom>
          <a:noFill/>
          <a:ln/>
        </p:spPr>
        <p:txBody>
          <a:bodyPr wrap="square" lIns="0" tIns="0" rIns="0" bIns="0" rtlCol="0" anchor="t"/>
          <a:lstStyle/>
          <a:p>
            <a:pPr algn="l" indent="0" marL="0">
              <a:spcBef>
                <a:spcPts val="1100"/>
              </a:spcBef>
              <a:spcAft>
                <a:spcPts val="300"/>
              </a:spcAft>
              <a:buNone/>
            </a:pPr>
            <a:r>
              <a:rPr lang="en-US" sz="1100" b="1" dirty="0">
                <a:solidFill>
                  <a:srgbClr val="FFFFFF"/>
                </a:solidFill>
                <a:latin typeface="Arial" pitchFamily="34" charset="0"/>
                <a:ea typeface="Arial" pitchFamily="34" charset="-122"/>
                <a:cs typeface="Arial" pitchFamily="34" charset="-120"/>
              </a:rPr>
              <a:t>Hooks for Automation</a:t>
            </a:r>
            <a:endParaRPr lang="en-US" sz="1100" dirty="0"/>
          </a:p>
        </p:txBody>
      </p:sp>
      <p:sp>
        <p:nvSpPr>
          <p:cNvPr id="29" name="Text 27"/>
          <p:cNvSpPr/>
          <p:nvPr/>
        </p:nvSpPr>
        <p:spPr>
          <a:xfrm>
            <a:off x="6190059" y="3755678"/>
            <a:ext cx="2485195" cy="445591"/>
          </a:xfrm>
          <a:prstGeom prst="rect">
            <a:avLst/>
          </a:prstGeom>
          <a:noFill/>
          <a:ln/>
        </p:spPr>
        <p:txBody>
          <a:bodyPr wrap="square" lIns="0" tIns="0" rIns="0" bIns="0" rtlCol="0" anchor="t"/>
          <a:lstStyle/>
          <a:p>
            <a:pPr algn="l" indent="0" marL="0">
              <a:lnSpc>
                <a:spcPts val="1170"/>
              </a:lnSpc>
              <a:spcBef>
                <a:spcPts val="900"/>
              </a:spcBef>
              <a:spcAft>
                <a:spcPts val="900"/>
              </a:spcAft>
              <a:buNone/>
            </a:pPr>
            <a:r>
              <a:rPr lang="en-US" sz="900" dirty="0">
                <a:solidFill>
                  <a:srgbClr val="B0BEC5"/>
                </a:solidFill>
                <a:latin typeface="Arial" pitchFamily="34" charset="0"/>
                <a:ea typeface="Arial" pitchFamily="34" charset="-122"/>
                <a:cs typeface="Arial" pitchFamily="34" charset="-120"/>
              </a:rPr>
              <a:t>Trigger actions automatically: run tests after edits, play sounds on completion, log to memory.</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50A1E"/>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D4FF"/>
          </a:solidFill>
          <a:ln/>
        </p:spPr>
        <p:txBody>
          <a:bodyPr wrap="square" rtlCol="0" anchor="ctr"/>
          <a:lstStyle/>
          <a:p>
            <a:pPr indent="0" marL="0">
              <a:buNone/>
            </a:pPr>
            <a:endParaRPr lang="en-US" dirty="0"/>
          </a:p>
        </p:txBody>
      </p:sp>
      <p:sp>
        <p:nvSpPr>
          <p:cNvPr id="3" name="Text 1"/>
          <p:cNvSpPr/>
          <p:nvPr/>
        </p:nvSpPr>
        <p:spPr>
          <a:xfrm>
            <a:off x="406301" y="805160"/>
            <a:ext cx="8498026" cy="133350"/>
          </a:xfrm>
          <a:prstGeom prst="rect">
            <a:avLst/>
          </a:prstGeom>
          <a:noFill/>
          <a:ln/>
        </p:spPr>
        <p:txBody>
          <a:bodyPr wrap="square" lIns="0" tIns="0" rIns="0" bIns="0" rtlCol="0" anchor="t"/>
          <a:lstStyle/>
          <a:p>
            <a:pPr algn="l" indent="0" marL="0">
              <a:spcBef>
                <a:spcPts val="900"/>
              </a:spcBef>
              <a:spcAft>
                <a:spcPts val="600"/>
              </a:spcAft>
              <a:buNone/>
            </a:pPr>
            <a:r>
              <a:rPr lang="en-US" sz="900" dirty="0">
                <a:solidFill>
                  <a:srgbClr val="00D4FF"/>
                </a:solidFill>
                <a:latin typeface="Arial" pitchFamily="34" charset="0"/>
                <a:ea typeface="Arial" pitchFamily="34" charset="-122"/>
                <a:cs typeface="Arial" pitchFamily="34" charset="-120"/>
              </a:rPr>
              <a:t>GETTING STARTED</a:t>
            </a:r>
            <a:endParaRPr lang="en-US" sz="900" dirty="0"/>
          </a:p>
        </p:txBody>
      </p:sp>
      <p:sp>
        <p:nvSpPr>
          <p:cNvPr id="4" name="Text 2"/>
          <p:cNvSpPr/>
          <p:nvPr/>
        </p:nvSpPr>
        <p:spPr>
          <a:xfrm>
            <a:off x="406301" y="1014710"/>
            <a:ext cx="8498026" cy="295275"/>
          </a:xfrm>
          <a:prstGeom prst="rect">
            <a:avLst/>
          </a:prstGeom>
          <a:noFill/>
          <a:ln/>
        </p:spPr>
        <p:txBody>
          <a:bodyPr wrap="square" lIns="0" tIns="0" rIns="0" bIns="0" rtlCol="0" anchor="t"/>
          <a:lstStyle/>
          <a:p>
            <a:pPr algn="l" indent="0" marL="0">
              <a:spcAft>
                <a:spcPts val="1200"/>
              </a:spcAft>
              <a:buNone/>
            </a:pPr>
            <a:r>
              <a:rPr lang="en-US" sz="2000" dirty="0">
                <a:solidFill>
                  <a:srgbClr val="FFFFFF"/>
                </a:solidFill>
                <a:latin typeface="Arial" pitchFamily="34" charset="0"/>
                <a:ea typeface="Arial" pitchFamily="34" charset="-122"/>
                <a:cs typeface="Arial" pitchFamily="34" charset="-120"/>
              </a:rPr>
              <a:t>Installing </a:t>
            </a:r>
            <a:pPr algn="l" indent="0" marL="0">
              <a:spcAft>
                <a:spcPts val="1200"/>
              </a:spcAft>
              <a:buNone/>
            </a:pPr>
            <a:r>
              <a:rPr lang="en-US" sz="2000" b="1" dirty="0">
                <a:solidFill>
                  <a:srgbClr val="00D4FF"/>
                </a:solidFill>
                <a:latin typeface="Arial" pitchFamily="34" charset="0"/>
                <a:ea typeface="Arial" pitchFamily="34" charset="-122"/>
                <a:cs typeface="Arial" pitchFamily="34" charset="-120"/>
              </a:rPr>
              <a:t>Claude Code</a:t>
            </a:r>
            <a:pPr algn="l" indent="0" marL="0">
              <a:spcAft>
                <a:spcPts val="1200"/>
              </a:spcAft>
              <a:buNone/>
            </a:pPr>
            <a:r>
              <a:rPr lang="en-US" sz="2000" dirty="0">
                <a:solidFill>
                  <a:srgbClr val="FFFFFF"/>
                </a:solidFill>
                <a:latin typeface="Arial" pitchFamily="34" charset="0"/>
                <a:ea typeface="Arial" pitchFamily="34" charset="-122"/>
                <a:cs typeface="Arial" pitchFamily="34" charset="-120"/>
              </a:rPr>
              <a:t> — 3 Steps</a:t>
            </a:r>
            <a:endParaRPr lang="en-US" sz="2000" dirty="0"/>
          </a:p>
        </p:txBody>
      </p:sp>
      <p:sp>
        <p:nvSpPr>
          <p:cNvPr id="5" name="Text 3"/>
          <p:cNvSpPr/>
          <p:nvPr/>
        </p:nvSpPr>
        <p:spPr>
          <a:xfrm>
            <a:off x="406301" y="1462385"/>
            <a:ext cx="2692450" cy="1187053"/>
          </a:xfrm>
          <a:prstGeom prst="rect">
            <a:avLst/>
          </a:prstGeom>
          <a:solidFill>
            <a:srgbClr val="0D1117"/>
          </a:solidFill>
          <a:ln w="9525">
            <a:solidFill>
              <a:srgbClr val="30363D"/>
            </a:solidFill>
          </a:ln>
        </p:spPr>
        <p:txBody>
          <a:bodyPr wrap="square" rtlCol="0" anchor="ctr"/>
          <a:lstStyle/>
          <a:p>
            <a:pPr indent="0" marL="0">
              <a:buNone/>
            </a:pPr>
            <a:endParaRPr lang="en-US" dirty="0"/>
          </a:p>
        </p:txBody>
      </p:sp>
      <p:sp>
        <p:nvSpPr>
          <p:cNvPr id="6" name="Text 4"/>
          <p:cNvSpPr/>
          <p:nvPr/>
        </p:nvSpPr>
        <p:spPr>
          <a:xfrm>
            <a:off x="542776" y="1700361"/>
            <a:ext cx="2467889" cy="114300"/>
          </a:xfrm>
          <a:prstGeom prst="rect">
            <a:avLst/>
          </a:prstGeom>
          <a:noFill/>
          <a:ln/>
        </p:spPr>
        <p:txBody>
          <a:bodyPr wrap="square" lIns="0" tIns="0" rIns="0" bIns="0" rtlCol="0" anchor="t"/>
          <a:lstStyle/>
          <a:p>
            <a:pPr algn="l" indent="0" marL="0">
              <a:spcBef>
                <a:spcPts val="800"/>
              </a:spcBef>
              <a:spcAft>
                <a:spcPts val="400"/>
              </a:spcAft>
              <a:buNone/>
            </a:pPr>
            <a:r>
              <a:rPr lang="en-US" sz="800" dirty="0">
                <a:solidFill>
                  <a:srgbClr val="9B59B6"/>
                </a:solidFill>
                <a:latin typeface="Arial" pitchFamily="34" charset="0"/>
                <a:ea typeface="Arial" pitchFamily="34" charset="-122"/>
                <a:cs typeface="Arial" pitchFamily="34" charset="-120"/>
              </a:rPr>
              <a:t>STEP 1 — INSTALL NODE</a:t>
            </a:r>
            <a:endParaRPr lang="en-US" sz="800" dirty="0"/>
          </a:p>
        </p:txBody>
      </p:sp>
      <p:sp>
        <p:nvSpPr>
          <p:cNvPr id="7" name="Text 5"/>
          <p:cNvSpPr/>
          <p:nvPr/>
        </p:nvSpPr>
        <p:spPr>
          <a:xfrm>
            <a:off x="542776" y="1928961"/>
            <a:ext cx="2467889" cy="133350"/>
          </a:xfrm>
          <a:prstGeom prst="rect">
            <a:avLst/>
          </a:prstGeom>
          <a:noFill/>
          <a:ln/>
        </p:spPr>
        <p:txBody>
          <a:bodyPr wrap="square" lIns="0" tIns="0" rIns="0" bIns="0" rtlCol="0" anchor="t"/>
          <a:lstStyle/>
          <a:p>
            <a:pPr algn="l" indent="0" marL="0">
              <a:spcBef>
                <a:spcPts val="900"/>
              </a:spcBef>
              <a:spcAft>
                <a:spcPts val="300"/>
              </a:spcAft>
              <a:buNone/>
            </a:pPr>
            <a:r>
              <a:rPr lang="en-US" sz="900" dirty="0">
                <a:solidFill>
                  <a:srgbClr val="79C0FF"/>
                </a:solidFill>
                <a:latin typeface="Courier New" pitchFamily="34" charset="0"/>
                <a:ea typeface="Courier New" pitchFamily="34" charset="-122"/>
                <a:cs typeface="Courier New" pitchFamily="34" charset="-120"/>
              </a:rPr>
              <a:t>brew install node</a:t>
            </a:r>
            <a:endParaRPr lang="en-US" sz="900" dirty="0"/>
          </a:p>
        </p:txBody>
      </p:sp>
      <p:sp>
        <p:nvSpPr>
          <p:cNvPr id="8" name="Text 6"/>
          <p:cNvSpPr/>
          <p:nvPr/>
        </p:nvSpPr>
        <p:spPr>
          <a:xfrm>
            <a:off x="542776" y="2163812"/>
            <a:ext cx="2467889" cy="114300"/>
          </a:xfrm>
          <a:prstGeom prst="rect">
            <a:avLst/>
          </a:prstGeom>
          <a:noFill/>
          <a:ln/>
        </p:spPr>
        <p:txBody>
          <a:bodyPr wrap="square" lIns="0" tIns="0" rIns="0" bIns="0" rtlCol="0" anchor="t"/>
          <a:lstStyle/>
          <a:p>
            <a:pPr algn="l" indent="0" marL="0">
              <a:spcBef>
                <a:spcPts val="800"/>
              </a:spcBef>
              <a:spcAft>
                <a:spcPts val="800"/>
              </a:spcAft>
              <a:buNone/>
            </a:pPr>
            <a:r>
              <a:rPr lang="en-US" sz="800" dirty="0">
                <a:solidFill>
                  <a:srgbClr val="8B949E"/>
                </a:solidFill>
                <a:latin typeface="Arial" pitchFamily="34" charset="0"/>
                <a:ea typeface="Arial" pitchFamily="34" charset="-122"/>
                <a:cs typeface="Arial" pitchFamily="34" charset="-120"/>
              </a:rPr>
              <a:t>macOS: Homebrew. Windows: nodejs.org</a:t>
            </a:r>
            <a:endParaRPr lang="en-US" sz="800" dirty="0"/>
          </a:p>
        </p:txBody>
      </p:sp>
      <p:sp>
        <p:nvSpPr>
          <p:cNvPr id="9" name="Text 7"/>
          <p:cNvSpPr/>
          <p:nvPr/>
        </p:nvSpPr>
        <p:spPr>
          <a:xfrm>
            <a:off x="3225701" y="1462385"/>
            <a:ext cx="2692598" cy="1187053"/>
          </a:xfrm>
          <a:prstGeom prst="rect">
            <a:avLst/>
          </a:prstGeom>
          <a:solidFill>
            <a:srgbClr val="0D1117"/>
          </a:solidFill>
          <a:ln w="9525">
            <a:solidFill>
              <a:srgbClr val="30363D"/>
            </a:solidFill>
          </a:ln>
        </p:spPr>
        <p:txBody>
          <a:bodyPr wrap="square" rtlCol="0" anchor="ctr"/>
          <a:lstStyle/>
          <a:p>
            <a:pPr indent="0" marL="0">
              <a:buNone/>
            </a:pPr>
            <a:endParaRPr lang="en-US" dirty="0"/>
          </a:p>
        </p:txBody>
      </p:sp>
      <p:sp>
        <p:nvSpPr>
          <p:cNvPr id="10" name="Text 8"/>
          <p:cNvSpPr/>
          <p:nvPr/>
        </p:nvSpPr>
        <p:spPr>
          <a:xfrm>
            <a:off x="3362176" y="1700361"/>
            <a:ext cx="2468041" cy="114300"/>
          </a:xfrm>
          <a:prstGeom prst="rect">
            <a:avLst/>
          </a:prstGeom>
          <a:noFill/>
          <a:ln/>
        </p:spPr>
        <p:txBody>
          <a:bodyPr wrap="square" lIns="0" tIns="0" rIns="0" bIns="0" rtlCol="0" anchor="t"/>
          <a:lstStyle/>
          <a:p>
            <a:pPr algn="l" indent="0" marL="0">
              <a:spcBef>
                <a:spcPts val="800"/>
              </a:spcBef>
              <a:spcAft>
                <a:spcPts val="400"/>
              </a:spcAft>
              <a:buNone/>
            </a:pPr>
            <a:r>
              <a:rPr lang="en-US" sz="800" dirty="0">
                <a:solidFill>
                  <a:srgbClr val="9B59B6"/>
                </a:solidFill>
                <a:latin typeface="Arial" pitchFamily="34" charset="0"/>
                <a:ea typeface="Arial" pitchFamily="34" charset="-122"/>
                <a:cs typeface="Arial" pitchFamily="34" charset="-120"/>
              </a:rPr>
              <a:t>STEP 2 — INSTALL CLAUDE CODE</a:t>
            </a:r>
            <a:endParaRPr lang="en-US" sz="800" dirty="0"/>
          </a:p>
        </p:txBody>
      </p:sp>
      <p:sp>
        <p:nvSpPr>
          <p:cNvPr id="11" name="Text 9"/>
          <p:cNvSpPr/>
          <p:nvPr/>
        </p:nvSpPr>
        <p:spPr>
          <a:xfrm>
            <a:off x="3362176" y="1928961"/>
            <a:ext cx="2468041" cy="266700"/>
          </a:xfrm>
          <a:prstGeom prst="rect">
            <a:avLst/>
          </a:prstGeom>
          <a:noFill/>
          <a:ln/>
        </p:spPr>
        <p:txBody>
          <a:bodyPr wrap="square" lIns="0" tIns="0" rIns="0" bIns="0" rtlCol="0" anchor="t"/>
          <a:lstStyle/>
          <a:p>
            <a:pPr algn="l" indent="0" marL="0">
              <a:spcBef>
                <a:spcPts val="900"/>
              </a:spcBef>
              <a:spcAft>
                <a:spcPts val="300"/>
              </a:spcAft>
              <a:buNone/>
            </a:pPr>
            <a:r>
              <a:rPr lang="en-US" sz="900" dirty="0">
                <a:solidFill>
                  <a:srgbClr val="79C0FF"/>
                </a:solidFill>
                <a:latin typeface="Courier New" pitchFamily="34" charset="0"/>
                <a:ea typeface="Courier New" pitchFamily="34" charset="-122"/>
                <a:cs typeface="Courier New" pitchFamily="34" charset="-120"/>
              </a:rPr>
              <a:t>npm install -g @anthropic-ai/claude-code</a:t>
            </a:r>
            <a:endParaRPr lang="en-US" sz="900" dirty="0"/>
          </a:p>
        </p:txBody>
      </p:sp>
      <p:sp>
        <p:nvSpPr>
          <p:cNvPr id="12" name="Text 10"/>
          <p:cNvSpPr/>
          <p:nvPr/>
        </p:nvSpPr>
        <p:spPr>
          <a:xfrm>
            <a:off x="3362176" y="2297162"/>
            <a:ext cx="2468041" cy="114300"/>
          </a:xfrm>
          <a:prstGeom prst="rect">
            <a:avLst/>
          </a:prstGeom>
          <a:noFill/>
          <a:ln/>
        </p:spPr>
        <p:txBody>
          <a:bodyPr wrap="square" lIns="0" tIns="0" rIns="0" bIns="0" rtlCol="0" anchor="t"/>
          <a:lstStyle/>
          <a:p>
            <a:pPr algn="l" indent="0" marL="0">
              <a:spcBef>
                <a:spcPts val="800"/>
              </a:spcBef>
              <a:spcAft>
                <a:spcPts val="800"/>
              </a:spcAft>
              <a:buNone/>
            </a:pPr>
            <a:r>
              <a:rPr lang="en-US" sz="800" dirty="0">
                <a:solidFill>
                  <a:srgbClr val="8B949E"/>
                </a:solidFill>
                <a:latin typeface="Arial" pitchFamily="34" charset="0"/>
                <a:ea typeface="Arial" pitchFamily="34" charset="-122"/>
                <a:cs typeface="Arial" pitchFamily="34" charset="-120"/>
              </a:rPr>
              <a:t>Or: bun add -g @anthropic-ai/claude-code</a:t>
            </a:r>
            <a:endParaRPr lang="en-US" sz="800" dirty="0"/>
          </a:p>
        </p:txBody>
      </p:sp>
      <p:sp>
        <p:nvSpPr>
          <p:cNvPr id="13" name="Text 11"/>
          <p:cNvSpPr/>
          <p:nvPr/>
        </p:nvSpPr>
        <p:spPr>
          <a:xfrm>
            <a:off x="6045250" y="1462385"/>
            <a:ext cx="2692450" cy="1187053"/>
          </a:xfrm>
          <a:prstGeom prst="rect">
            <a:avLst/>
          </a:prstGeom>
          <a:solidFill>
            <a:srgbClr val="0D1117"/>
          </a:solidFill>
          <a:ln w="9525">
            <a:solidFill>
              <a:srgbClr val="30363D"/>
            </a:solidFill>
          </a:ln>
        </p:spPr>
        <p:txBody>
          <a:bodyPr wrap="square" rtlCol="0" anchor="ctr"/>
          <a:lstStyle/>
          <a:p>
            <a:pPr indent="0" marL="0">
              <a:buNone/>
            </a:pPr>
            <a:endParaRPr lang="en-US" dirty="0"/>
          </a:p>
        </p:txBody>
      </p:sp>
      <p:sp>
        <p:nvSpPr>
          <p:cNvPr id="14" name="Text 12"/>
          <p:cNvSpPr/>
          <p:nvPr/>
        </p:nvSpPr>
        <p:spPr>
          <a:xfrm>
            <a:off x="6181725" y="1700361"/>
            <a:ext cx="2467889" cy="114300"/>
          </a:xfrm>
          <a:prstGeom prst="rect">
            <a:avLst/>
          </a:prstGeom>
          <a:noFill/>
          <a:ln/>
        </p:spPr>
        <p:txBody>
          <a:bodyPr wrap="square" lIns="0" tIns="0" rIns="0" bIns="0" rtlCol="0" anchor="t"/>
          <a:lstStyle/>
          <a:p>
            <a:pPr algn="l" indent="0" marL="0">
              <a:spcBef>
                <a:spcPts val="800"/>
              </a:spcBef>
              <a:spcAft>
                <a:spcPts val="400"/>
              </a:spcAft>
              <a:buNone/>
            </a:pPr>
            <a:r>
              <a:rPr lang="en-US" sz="800" dirty="0">
                <a:solidFill>
                  <a:srgbClr val="9B59B6"/>
                </a:solidFill>
                <a:latin typeface="Arial" pitchFamily="34" charset="0"/>
                <a:ea typeface="Arial" pitchFamily="34" charset="-122"/>
                <a:cs typeface="Arial" pitchFamily="34" charset="-120"/>
              </a:rPr>
              <a:t>STEP 3 — AUTHENTICATE</a:t>
            </a:r>
            <a:endParaRPr lang="en-US" sz="800" dirty="0"/>
          </a:p>
        </p:txBody>
      </p:sp>
      <p:sp>
        <p:nvSpPr>
          <p:cNvPr id="15" name="Text 13"/>
          <p:cNvSpPr/>
          <p:nvPr/>
        </p:nvSpPr>
        <p:spPr>
          <a:xfrm>
            <a:off x="6181725" y="1928961"/>
            <a:ext cx="2467889" cy="133350"/>
          </a:xfrm>
          <a:prstGeom prst="rect">
            <a:avLst/>
          </a:prstGeom>
          <a:noFill/>
          <a:ln/>
        </p:spPr>
        <p:txBody>
          <a:bodyPr wrap="square" lIns="0" tIns="0" rIns="0" bIns="0" rtlCol="0" anchor="t"/>
          <a:lstStyle/>
          <a:p>
            <a:pPr algn="l" indent="0" marL="0">
              <a:spcBef>
                <a:spcPts val="900"/>
              </a:spcBef>
              <a:spcAft>
                <a:spcPts val="300"/>
              </a:spcAft>
              <a:buNone/>
            </a:pPr>
            <a:r>
              <a:rPr lang="en-US" sz="900" dirty="0">
                <a:solidFill>
                  <a:srgbClr val="79C0FF"/>
                </a:solidFill>
                <a:latin typeface="Courier New" pitchFamily="34" charset="0"/>
                <a:ea typeface="Courier New" pitchFamily="34" charset="-122"/>
                <a:cs typeface="Courier New" pitchFamily="34" charset="-120"/>
              </a:rPr>
              <a:t>claude</a:t>
            </a:r>
            <a:endParaRPr lang="en-US" sz="900" dirty="0"/>
          </a:p>
        </p:txBody>
      </p:sp>
      <p:sp>
        <p:nvSpPr>
          <p:cNvPr id="16" name="Text 14"/>
          <p:cNvSpPr/>
          <p:nvPr/>
        </p:nvSpPr>
        <p:spPr>
          <a:xfrm>
            <a:off x="6181725" y="2163812"/>
            <a:ext cx="2467889" cy="114300"/>
          </a:xfrm>
          <a:prstGeom prst="rect">
            <a:avLst/>
          </a:prstGeom>
          <a:noFill/>
          <a:ln/>
        </p:spPr>
        <p:txBody>
          <a:bodyPr wrap="square" lIns="0" tIns="0" rIns="0" bIns="0" rtlCol="0" anchor="t"/>
          <a:lstStyle/>
          <a:p>
            <a:pPr algn="l" indent="0" marL="0">
              <a:spcBef>
                <a:spcPts val="800"/>
              </a:spcBef>
              <a:spcAft>
                <a:spcPts val="800"/>
              </a:spcAft>
              <a:buNone/>
            </a:pPr>
            <a:r>
              <a:rPr lang="en-US" sz="800" dirty="0">
                <a:solidFill>
                  <a:srgbClr val="8B949E"/>
                </a:solidFill>
                <a:latin typeface="Arial" pitchFamily="34" charset="0"/>
                <a:ea typeface="Arial" pitchFamily="34" charset="-122"/>
                <a:cs typeface="Arial" pitchFamily="34" charset="-120"/>
              </a:rPr>
              <a:t>Follow prompts to connect your account</a:t>
            </a:r>
            <a:endParaRPr lang="en-US" sz="800" dirty="0"/>
          </a:p>
        </p:txBody>
      </p:sp>
      <p:sp>
        <p:nvSpPr>
          <p:cNvPr id="17" name="Text 15"/>
          <p:cNvSpPr/>
          <p:nvPr/>
        </p:nvSpPr>
        <p:spPr>
          <a:xfrm>
            <a:off x="406301" y="2801838"/>
            <a:ext cx="1797100" cy="907852"/>
          </a:xfrm>
          <a:prstGeom prst="rect">
            <a:avLst/>
          </a:prstGeom>
          <a:solidFill>
            <a:srgbClr val="00D4FF">
              <a:alpha val="8000"/>
            </a:srgbClr>
          </a:solidFill>
          <a:ln w="9525">
            <a:solidFill>
              <a:srgbClr val="00D4FF"/>
            </a:solidFill>
          </a:ln>
        </p:spPr>
        <p:txBody>
          <a:bodyPr wrap="square" rtlCol="0" anchor="ctr"/>
          <a:lstStyle/>
          <a:p>
            <a:pPr indent="0" marL="0">
              <a:buNone/>
            </a:pPr>
            <a:endParaRPr lang="en-US" dirty="0"/>
          </a:p>
        </p:txBody>
      </p:sp>
      <p:sp>
        <p:nvSpPr>
          <p:cNvPr id="18" name="Text 16"/>
          <p:cNvSpPr/>
          <p:nvPr/>
        </p:nvSpPr>
        <p:spPr>
          <a:xfrm>
            <a:off x="501576" y="3065264"/>
            <a:ext cx="1606549" cy="171450"/>
          </a:xfrm>
          <a:prstGeom prst="rect">
            <a:avLst/>
          </a:prstGeom>
          <a:noFill/>
          <a:ln/>
        </p:spPr>
        <p:txBody>
          <a:bodyPr wrap="square" lIns="0" tIns="0" rIns="0" bIns="0" rtlCol="0" anchor="t"/>
          <a:lstStyle/>
          <a:p>
            <a:pPr algn="ctr" indent="0" marL="0">
              <a:spcBef>
                <a:spcPts val="1200"/>
              </a:spcBef>
              <a:spcAft>
                <a:spcPts val="300"/>
              </a:spcAft>
              <a:buNone/>
            </a:pPr>
            <a:r>
              <a:rPr lang="en-US" sz="1200" b="1" dirty="0">
                <a:solidFill>
                  <a:srgbClr val="00D4FF"/>
                </a:solidFill>
                <a:latin typeface="Arial" pitchFamily="34" charset="0"/>
                <a:ea typeface="Arial" pitchFamily="34" charset="-122"/>
                <a:cs typeface="Arial" pitchFamily="34" charset="-120"/>
              </a:rPr>
              <a:t>cd</a:t>
            </a:r>
            <a:endParaRPr lang="en-US" sz="1200" dirty="0"/>
          </a:p>
        </p:txBody>
      </p:sp>
      <p:sp>
        <p:nvSpPr>
          <p:cNvPr id="19" name="Text 17"/>
          <p:cNvSpPr/>
          <p:nvPr/>
        </p:nvSpPr>
        <p:spPr>
          <a:xfrm>
            <a:off x="501576" y="3351014"/>
            <a:ext cx="1606549" cy="133350"/>
          </a:xfrm>
          <a:prstGeom prst="rect">
            <a:avLst/>
          </a:prstGeom>
          <a:noFill/>
          <a:ln/>
        </p:spPr>
        <p:txBody>
          <a:bodyPr wrap="square" lIns="0" tIns="0" rIns="0" bIns="0" rtlCol="0" anchor="t"/>
          <a:lstStyle/>
          <a:p>
            <a:pPr algn="ctr" indent="0" marL="0">
              <a:spcBef>
                <a:spcPts val="900"/>
              </a:spcBef>
              <a:spcAft>
                <a:spcPts val="900"/>
              </a:spcAft>
              <a:buNone/>
            </a:pPr>
            <a:r>
              <a:rPr lang="en-US" sz="900" dirty="0">
                <a:solidFill>
                  <a:srgbClr val="E0E0E0"/>
                </a:solidFill>
                <a:latin typeface="Arial" pitchFamily="34" charset="0"/>
                <a:ea typeface="Arial" pitchFamily="34" charset="-122"/>
                <a:cs typeface="Arial" pitchFamily="34" charset="-120"/>
              </a:rPr>
              <a:t>Navigate to project</a:t>
            </a:r>
            <a:endParaRPr lang="en-US" sz="900" dirty="0"/>
          </a:p>
        </p:txBody>
      </p:sp>
      <p:sp>
        <p:nvSpPr>
          <p:cNvPr id="20" name="Text 18"/>
          <p:cNvSpPr/>
          <p:nvPr/>
        </p:nvSpPr>
        <p:spPr>
          <a:xfrm>
            <a:off x="2304901" y="3150989"/>
            <a:ext cx="181407" cy="209550"/>
          </a:xfrm>
          <a:prstGeom prst="rect">
            <a:avLst/>
          </a:prstGeom>
          <a:noFill/>
          <a:ln/>
        </p:spPr>
        <p:txBody>
          <a:bodyPr wrap="square" lIns="0" tIns="0" rIns="0" bIns="0" rtlCol="0" anchor="t"/>
          <a:lstStyle/>
          <a:p>
            <a:pPr algn="l" indent="0" marL="0">
              <a:spcBef>
                <a:spcPts val="1400"/>
              </a:spcBef>
              <a:spcAft>
                <a:spcPts val="1400"/>
              </a:spcAft>
              <a:buNone/>
            </a:pPr>
            <a:r>
              <a:rPr lang="en-US" sz="1400" b="1" dirty="0">
                <a:solidFill>
                  <a:srgbClr val="00D4FF"/>
                </a:solidFill>
                <a:latin typeface="Arial" pitchFamily="34" charset="0"/>
                <a:ea typeface="Arial" pitchFamily="34" charset="-122"/>
                <a:cs typeface="Arial" pitchFamily="34" charset="-120"/>
              </a:rPr>
              <a:t>→</a:t>
            </a:r>
            <a:endParaRPr lang="en-US" sz="1400" dirty="0"/>
          </a:p>
        </p:txBody>
      </p:sp>
      <p:sp>
        <p:nvSpPr>
          <p:cNvPr id="21" name="Text 19"/>
          <p:cNvSpPr/>
          <p:nvPr/>
        </p:nvSpPr>
        <p:spPr>
          <a:xfrm>
            <a:off x="2584252" y="2801838"/>
            <a:ext cx="1797248" cy="907852"/>
          </a:xfrm>
          <a:prstGeom prst="rect">
            <a:avLst/>
          </a:prstGeom>
          <a:solidFill>
            <a:srgbClr val="00D4FF">
              <a:alpha val="8000"/>
            </a:srgbClr>
          </a:solidFill>
          <a:ln w="9525">
            <a:solidFill>
              <a:srgbClr val="00D4FF"/>
            </a:solidFill>
          </a:ln>
        </p:spPr>
        <p:txBody>
          <a:bodyPr wrap="square" rtlCol="0" anchor="ctr"/>
          <a:lstStyle/>
          <a:p>
            <a:pPr indent="0" marL="0">
              <a:buNone/>
            </a:pPr>
            <a:endParaRPr lang="en-US" dirty="0"/>
          </a:p>
        </p:txBody>
      </p:sp>
      <p:sp>
        <p:nvSpPr>
          <p:cNvPr id="22" name="Text 20"/>
          <p:cNvSpPr/>
          <p:nvPr/>
        </p:nvSpPr>
        <p:spPr>
          <a:xfrm>
            <a:off x="2679525" y="3065264"/>
            <a:ext cx="1606701" cy="171450"/>
          </a:xfrm>
          <a:prstGeom prst="rect">
            <a:avLst/>
          </a:prstGeom>
          <a:noFill/>
          <a:ln/>
        </p:spPr>
        <p:txBody>
          <a:bodyPr wrap="square" lIns="0" tIns="0" rIns="0" bIns="0" rtlCol="0" anchor="t"/>
          <a:lstStyle/>
          <a:p>
            <a:pPr algn="ctr" indent="0" marL="0">
              <a:spcBef>
                <a:spcPts val="1200"/>
              </a:spcBef>
              <a:spcAft>
                <a:spcPts val="300"/>
              </a:spcAft>
              <a:buNone/>
            </a:pPr>
            <a:r>
              <a:rPr lang="en-US" sz="1200" b="1" dirty="0">
                <a:solidFill>
                  <a:srgbClr val="00D4FF"/>
                </a:solidFill>
                <a:latin typeface="Arial" pitchFamily="34" charset="0"/>
                <a:ea typeface="Arial" pitchFamily="34" charset="-122"/>
                <a:cs typeface="Arial" pitchFamily="34" charset="-120"/>
              </a:rPr>
              <a:t>claude</a:t>
            </a:r>
            <a:endParaRPr lang="en-US" sz="1200" dirty="0"/>
          </a:p>
        </p:txBody>
      </p:sp>
      <p:sp>
        <p:nvSpPr>
          <p:cNvPr id="23" name="Text 21"/>
          <p:cNvSpPr/>
          <p:nvPr/>
        </p:nvSpPr>
        <p:spPr>
          <a:xfrm>
            <a:off x="2679525" y="3351014"/>
            <a:ext cx="1606701" cy="133350"/>
          </a:xfrm>
          <a:prstGeom prst="rect">
            <a:avLst/>
          </a:prstGeom>
          <a:noFill/>
          <a:ln/>
        </p:spPr>
        <p:txBody>
          <a:bodyPr wrap="square" lIns="0" tIns="0" rIns="0" bIns="0" rtlCol="0" anchor="t"/>
          <a:lstStyle/>
          <a:p>
            <a:pPr algn="ctr" indent="0" marL="0">
              <a:spcBef>
                <a:spcPts val="900"/>
              </a:spcBef>
              <a:spcAft>
                <a:spcPts val="900"/>
              </a:spcAft>
              <a:buNone/>
            </a:pPr>
            <a:r>
              <a:rPr lang="en-US" sz="900" dirty="0">
                <a:solidFill>
                  <a:srgbClr val="E0E0E0"/>
                </a:solidFill>
                <a:latin typeface="Arial" pitchFamily="34" charset="0"/>
                <a:ea typeface="Arial" pitchFamily="34" charset="-122"/>
                <a:cs typeface="Arial" pitchFamily="34" charset="-120"/>
              </a:rPr>
              <a:t>Launch terminal</a:t>
            </a:r>
            <a:endParaRPr lang="en-US" sz="900" dirty="0"/>
          </a:p>
        </p:txBody>
      </p:sp>
      <p:sp>
        <p:nvSpPr>
          <p:cNvPr id="24" name="Text 22"/>
          <p:cNvSpPr/>
          <p:nvPr/>
        </p:nvSpPr>
        <p:spPr>
          <a:xfrm>
            <a:off x="4483001" y="3150989"/>
            <a:ext cx="181407" cy="209550"/>
          </a:xfrm>
          <a:prstGeom prst="rect">
            <a:avLst/>
          </a:prstGeom>
          <a:noFill/>
          <a:ln/>
        </p:spPr>
        <p:txBody>
          <a:bodyPr wrap="square" lIns="0" tIns="0" rIns="0" bIns="0" rtlCol="0" anchor="t"/>
          <a:lstStyle/>
          <a:p>
            <a:pPr algn="l" indent="0" marL="0">
              <a:spcBef>
                <a:spcPts val="1400"/>
              </a:spcBef>
              <a:spcAft>
                <a:spcPts val="1400"/>
              </a:spcAft>
              <a:buNone/>
            </a:pPr>
            <a:r>
              <a:rPr lang="en-US" sz="1400" b="1" dirty="0">
                <a:solidFill>
                  <a:srgbClr val="00D4FF"/>
                </a:solidFill>
                <a:latin typeface="Arial" pitchFamily="34" charset="0"/>
                <a:ea typeface="Arial" pitchFamily="34" charset="-122"/>
                <a:cs typeface="Arial" pitchFamily="34" charset="-120"/>
              </a:rPr>
              <a:t>→</a:t>
            </a:r>
            <a:endParaRPr lang="en-US" sz="1400" dirty="0"/>
          </a:p>
        </p:txBody>
      </p:sp>
      <p:sp>
        <p:nvSpPr>
          <p:cNvPr id="25" name="Text 23"/>
          <p:cNvSpPr/>
          <p:nvPr/>
        </p:nvSpPr>
        <p:spPr>
          <a:xfrm>
            <a:off x="4762351" y="2801838"/>
            <a:ext cx="1797248" cy="907852"/>
          </a:xfrm>
          <a:prstGeom prst="rect">
            <a:avLst/>
          </a:prstGeom>
          <a:solidFill>
            <a:srgbClr val="00D4FF">
              <a:alpha val="8000"/>
            </a:srgbClr>
          </a:solidFill>
          <a:ln w="9525">
            <a:solidFill>
              <a:srgbClr val="00D4FF"/>
            </a:solidFill>
          </a:ln>
        </p:spPr>
        <p:txBody>
          <a:bodyPr wrap="square" rtlCol="0" anchor="ctr"/>
          <a:lstStyle/>
          <a:p>
            <a:pPr indent="0" marL="0">
              <a:buNone/>
            </a:pPr>
            <a:endParaRPr lang="en-US" dirty="0"/>
          </a:p>
        </p:txBody>
      </p:sp>
      <p:sp>
        <p:nvSpPr>
          <p:cNvPr id="26" name="Text 24"/>
          <p:cNvSpPr/>
          <p:nvPr/>
        </p:nvSpPr>
        <p:spPr>
          <a:xfrm>
            <a:off x="4857625" y="3065264"/>
            <a:ext cx="1606701" cy="171450"/>
          </a:xfrm>
          <a:prstGeom prst="rect">
            <a:avLst/>
          </a:prstGeom>
          <a:noFill/>
          <a:ln/>
        </p:spPr>
        <p:txBody>
          <a:bodyPr wrap="square" lIns="0" tIns="0" rIns="0" bIns="0" rtlCol="0" anchor="t"/>
          <a:lstStyle/>
          <a:p>
            <a:pPr algn="ctr" indent="0" marL="0">
              <a:spcBef>
                <a:spcPts val="1200"/>
              </a:spcBef>
              <a:spcAft>
                <a:spcPts val="300"/>
              </a:spcAft>
              <a:buNone/>
            </a:pPr>
            <a:r>
              <a:rPr lang="en-US" sz="1200" b="1" dirty="0">
                <a:solidFill>
                  <a:srgbClr val="00D4FF"/>
                </a:solidFill>
                <a:latin typeface="Arial" pitchFamily="34" charset="0"/>
                <a:ea typeface="Arial" pitchFamily="34" charset="-122"/>
                <a:cs typeface="Arial" pitchFamily="34" charset="-120"/>
              </a:rPr>
              <a:t>type</a:t>
            </a:r>
            <a:endParaRPr lang="en-US" sz="1200" dirty="0"/>
          </a:p>
        </p:txBody>
      </p:sp>
      <p:sp>
        <p:nvSpPr>
          <p:cNvPr id="27" name="Text 25"/>
          <p:cNvSpPr/>
          <p:nvPr/>
        </p:nvSpPr>
        <p:spPr>
          <a:xfrm>
            <a:off x="4857625" y="3351014"/>
            <a:ext cx="1606701" cy="133350"/>
          </a:xfrm>
          <a:prstGeom prst="rect">
            <a:avLst/>
          </a:prstGeom>
          <a:noFill/>
          <a:ln/>
        </p:spPr>
        <p:txBody>
          <a:bodyPr wrap="square" lIns="0" tIns="0" rIns="0" bIns="0" rtlCol="0" anchor="t"/>
          <a:lstStyle/>
          <a:p>
            <a:pPr algn="ctr" indent="0" marL="0">
              <a:spcBef>
                <a:spcPts val="900"/>
              </a:spcBef>
              <a:spcAft>
                <a:spcPts val="900"/>
              </a:spcAft>
              <a:buNone/>
            </a:pPr>
            <a:r>
              <a:rPr lang="en-US" sz="900" dirty="0">
                <a:solidFill>
                  <a:srgbClr val="E0E0E0"/>
                </a:solidFill>
                <a:latin typeface="Arial" pitchFamily="34" charset="0"/>
                <a:ea typeface="Arial" pitchFamily="34" charset="-122"/>
                <a:cs typeface="Arial" pitchFamily="34" charset="-120"/>
              </a:rPr>
              <a:t>Plain English task</a:t>
            </a:r>
            <a:endParaRPr lang="en-US" sz="900" dirty="0"/>
          </a:p>
        </p:txBody>
      </p:sp>
      <p:sp>
        <p:nvSpPr>
          <p:cNvPr id="28" name="Text 26"/>
          <p:cNvSpPr/>
          <p:nvPr/>
        </p:nvSpPr>
        <p:spPr>
          <a:xfrm>
            <a:off x="6661100" y="3150989"/>
            <a:ext cx="181407" cy="209550"/>
          </a:xfrm>
          <a:prstGeom prst="rect">
            <a:avLst/>
          </a:prstGeom>
          <a:noFill/>
          <a:ln/>
        </p:spPr>
        <p:txBody>
          <a:bodyPr wrap="square" lIns="0" tIns="0" rIns="0" bIns="0" rtlCol="0" anchor="t"/>
          <a:lstStyle/>
          <a:p>
            <a:pPr algn="l" indent="0" marL="0">
              <a:spcBef>
                <a:spcPts val="1400"/>
              </a:spcBef>
              <a:spcAft>
                <a:spcPts val="1400"/>
              </a:spcAft>
              <a:buNone/>
            </a:pPr>
            <a:r>
              <a:rPr lang="en-US" sz="1400" b="1" dirty="0">
                <a:solidFill>
                  <a:srgbClr val="00D4FF"/>
                </a:solidFill>
                <a:latin typeface="Arial" pitchFamily="34" charset="0"/>
                <a:ea typeface="Arial" pitchFamily="34" charset="-122"/>
                <a:cs typeface="Arial" pitchFamily="34" charset="-120"/>
              </a:rPr>
              <a:t>→</a:t>
            </a:r>
            <a:endParaRPr lang="en-US" sz="1400" dirty="0"/>
          </a:p>
        </p:txBody>
      </p:sp>
      <p:sp>
        <p:nvSpPr>
          <p:cNvPr id="29" name="Text 27"/>
          <p:cNvSpPr/>
          <p:nvPr/>
        </p:nvSpPr>
        <p:spPr>
          <a:xfrm>
            <a:off x="6940451" y="2801838"/>
            <a:ext cx="1797248" cy="907852"/>
          </a:xfrm>
          <a:prstGeom prst="rect">
            <a:avLst/>
          </a:prstGeom>
          <a:solidFill>
            <a:srgbClr val="00D4FF">
              <a:alpha val="8000"/>
            </a:srgbClr>
          </a:solidFill>
          <a:ln w="9525">
            <a:solidFill>
              <a:srgbClr val="00D4FF"/>
            </a:solidFill>
          </a:ln>
        </p:spPr>
        <p:txBody>
          <a:bodyPr wrap="square" rtlCol="0" anchor="ctr"/>
          <a:lstStyle/>
          <a:p>
            <a:pPr indent="0" marL="0">
              <a:buNone/>
            </a:pPr>
            <a:endParaRPr lang="en-US" dirty="0"/>
          </a:p>
        </p:txBody>
      </p:sp>
      <p:sp>
        <p:nvSpPr>
          <p:cNvPr id="30" name="Text 28"/>
          <p:cNvSpPr/>
          <p:nvPr/>
        </p:nvSpPr>
        <p:spPr>
          <a:xfrm>
            <a:off x="7035725" y="3065264"/>
            <a:ext cx="1606701" cy="171450"/>
          </a:xfrm>
          <a:prstGeom prst="rect">
            <a:avLst/>
          </a:prstGeom>
          <a:noFill/>
          <a:ln/>
        </p:spPr>
        <p:txBody>
          <a:bodyPr wrap="square" lIns="0" tIns="0" rIns="0" bIns="0" rtlCol="0" anchor="t"/>
          <a:lstStyle/>
          <a:p>
            <a:pPr algn="ctr" indent="0" marL="0">
              <a:spcBef>
                <a:spcPts val="1200"/>
              </a:spcBef>
              <a:spcAft>
                <a:spcPts val="300"/>
              </a:spcAft>
              <a:buNone/>
            </a:pPr>
            <a:r>
              <a:rPr lang="en-US" sz="1200" b="1" dirty="0">
                <a:solidFill>
                  <a:srgbClr val="00D4FF"/>
                </a:solidFill>
                <a:latin typeface="Arial" pitchFamily="34" charset="0"/>
                <a:ea typeface="Arial" pitchFamily="34" charset="-122"/>
                <a:cs typeface="Arial" pitchFamily="34" charset="-120"/>
              </a:rPr>
              <a:t>done</a:t>
            </a:r>
            <a:endParaRPr lang="en-US" sz="1200" dirty="0"/>
          </a:p>
        </p:txBody>
      </p:sp>
      <p:sp>
        <p:nvSpPr>
          <p:cNvPr id="31" name="Text 29"/>
          <p:cNvSpPr/>
          <p:nvPr/>
        </p:nvSpPr>
        <p:spPr>
          <a:xfrm>
            <a:off x="7035725" y="3351014"/>
            <a:ext cx="1606701" cy="133350"/>
          </a:xfrm>
          <a:prstGeom prst="rect">
            <a:avLst/>
          </a:prstGeom>
          <a:noFill/>
          <a:ln/>
        </p:spPr>
        <p:txBody>
          <a:bodyPr wrap="square" lIns="0" tIns="0" rIns="0" bIns="0" rtlCol="0" anchor="t"/>
          <a:lstStyle/>
          <a:p>
            <a:pPr algn="ctr" indent="0" marL="0">
              <a:spcBef>
                <a:spcPts val="900"/>
              </a:spcBef>
              <a:spcAft>
                <a:spcPts val="900"/>
              </a:spcAft>
              <a:buNone/>
            </a:pPr>
            <a:r>
              <a:rPr lang="en-US" sz="900" dirty="0">
                <a:solidFill>
                  <a:srgbClr val="E0E0E0"/>
                </a:solidFill>
                <a:latin typeface="Arial" pitchFamily="34" charset="0"/>
                <a:ea typeface="Arial" pitchFamily="34" charset="-122"/>
                <a:cs typeface="Arial" pitchFamily="34" charset="-120"/>
              </a:rPr>
              <a:t>Review &amp; iterate</a:t>
            </a:r>
            <a:endParaRPr lang="en-US" sz="900" dirty="0"/>
          </a:p>
        </p:txBody>
      </p:sp>
      <p:sp>
        <p:nvSpPr>
          <p:cNvPr id="32" name="Text 30"/>
          <p:cNvSpPr/>
          <p:nvPr/>
        </p:nvSpPr>
        <p:spPr>
          <a:xfrm>
            <a:off x="406301" y="3836640"/>
            <a:ext cx="8331398" cy="615851"/>
          </a:xfrm>
          <a:prstGeom prst="rect">
            <a:avLst/>
          </a:prstGeom>
          <a:solidFill>
            <a:srgbClr val="F1C40F">
              <a:alpha val="8000"/>
            </a:srgbClr>
          </a:solidFill>
          <a:ln w="9525">
            <a:solidFill>
              <a:srgbClr val="F1C40F"/>
            </a:solidFill>
          </a:ln>
        </p:spPr>
        <p:txBody>
          <a:bodyPr wrap="square" rtlCol="0" anchor="ctr"/>
          <a:lstStyle/>
          <a:p>
            <a:pPr indent="0" marL="0">
              <a:buNone/>
            </a:pPr>
            <a:endParaRPr lang="en-US" dirty="0"/>
          </a:p>
        </p:txBody>
      </p:sp>
      <p:sp>
        <p:nvSpPr>
          <p:cNvPr id="33" name="Text 31"/>
          <p:cNvSpPr/>
          <p:nvPr/>
        </p:nvSpPr>
        <p:spPr>
          <a:xfrm>
            <a:off x="568226" y="4049316"/>
            <a:ext cx="8167699" cy="190500"/>
          </a:xfrm>
          <a:prstGeom prst="rect">
            <a:avLst/>
          </a:prstGeom>
          <a:noFill/>
          <a:ln/>
        </p:spPr>
        <p:txBody>
          <a:bodyPr wrap="square" lIns="0" tIns="0" rIns="0" bIns="0" rtlCol="0" anchor="t"/>
          <a:lstStyle/>
          <a:p>
            <a:pPr algn="l" indent="0" marL="0">
              <a:spcBef>
                <a:spcPts val="900"/>
              </a:spcBef>
              <a:spcAft>
                <a:spcPts val="900"/>
              </a:spcAft>
              <a:buNone/>
            </a:pPr>
            <a:r>
              <a:rPr lang="en-US" sz="900" dirty="0">
                <a:solidFill>
                  <a:srgbClr val="F1C40F"/>
                </a:solidFill>
                <a:latin typeface="Arial" pitchFamily="34" charset="0"/>
                <a:ea typeface="Arial" pitchFamily="34" charset="-122"/>
                <a:cs typeface="Arial" pitchFamily="34" charset="-120"/>
              </a:rPr>
              <a:t>💡 Pro tip: </a:t>
            </a:r>
            <a:pPr algn="l" indent="0" marL="0">
              <a:spcBef>
                <a:spcPts val="900"/>
              </a:spcBef>
              <a:spcAft>
                <a:spcPts val="900"/>
              </a:spcAft>
              <a:buNone/>
            </a:pPr>
            <a:r>
              <a:rPr lang="en-US" sz="900" b="1" dirty="0">
                <a:solidFill>
                  <a:srgbClr val="79C0FF"/>
                </a:solidFill>
                <a:latin typeface="Arial" pitchFamily="34" charset="0"/>
                <a:ea typeface="Arial" pitchFamily="34" charset="-122"/>
                <a:cs typeface="Arial" pitchFamily="34" charset="-120"/>
              </a:rPr>
              <a:t>claude --dangerously-skip-permissions</a:t>
            </a:r>
            <a:pPr algn="l" indent="0" marL="0">
              <a:spcBef>
                <a:spcPts val="900"/>
              </a:spcBef>
              <a:spcAft>
                <a:spcPts val="900"/>
              </a:spcAft>
              <a:buNone/>
            </a:pPr>
            <a:r>
              <a:rPr lang="en-US" sz="900" dirty="0">
                <a:solidFill>
                  <a:srgbClr val="F1C40F"/>
                </a:solidFill>
                <a:latin typeface="Arial" pitchFamily="34" charset="0"/>
                <a:ea typeface="Arial" pitchFamily="34" charset="-122"/>
                <a:cs typeface="Arial" pitchFamily="34" charset="-120"/>
              </a:rPr>
              <a:t> enables fully autonomous operation (use carefully!)</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ECC71"/>
          </a:solidFill>
          <a:ln/>
        </p:spPr>
        <p:txBody>
          <a:bodyPr wrap="square" rtlCol="0" anchor="ctr"/>
          <a:lstStyle/>
          <a:p>
            <a:pPr indent="0" marL="0">
              <a:buNone/>
            </a:pPr>
            <a:endParaRPr lang="en-US" dirty="0"/>
          </a:p>
        </p:txBody>
      </p:sp>
      <p:sp>
        <p:nvSpPr>
          <p:cNvPr id="3" name="Text 1"/>
          <p:cNvSpPr/>
          <p:nvPr/>
        </p:nvSpPr>
        <p:spPr>
          <a:xfrm>
            <a:off x="0" y="0"/>
            <a:ext cx="101501" cy="5143500"/>
          </a:xfrm>
          <a:prstGeom prst="rect">
            <a:avLst/>
          </a:prstGeom>
          <a:solidFill>
            <a:srgbClr val="2ECC71"/>
          </a:solidFill>
          <a:ln/>
        </p:spPr>
        <p:txBody>
          <a:bodyPr wrap="square" rtlCol="0" anchor="ctr"/>
          <a:lstStyle/>
          <a:p>
            <a:pPr indent="0" marL="0">
              <a:buNone/>
            </a:pPr>
            <a:endParaRPr lang="en-US" dirty="0"/>
          </a:p>
        </p:txBody>
      </p:sp>
      <p:sp>
        <p:nvSpPr>
          <p:cNvPr id="4" name="Text 2"/>
          <p:cNvSpPr/>
          <p:nvPr/>
        </p:nvSpPr>
        <p:spPr>
          <a:xfrm>
            <a:off x="3128070" y="782836"/>
            <a:ext cx="2887712" cy="403027"/>
          </a:xfrm>
          <a:prstGeom prst="rect">
            <a:avLst/>
          </a:prstGeom>
          <a:solidFill>
            <a:srgbClr val="2ECC71"/>
          </a:solidFill>
          <a:ln/>
        </p:spPr>
        <p:txBody>
          <a:bodyPr wrap="square" rtlCol="0" anchor="ctr"/>
          <a:lstStyle/>
          <a:p>
            <a:pPr indent="0" marL="0">
              <a:buNone/>
            </a:pPr>
            <a:endParaRPr lang="en-US" dirty="0"/>
          </a:p>
        </p:txBody>
      </p:sp>
      <p:sp>
        <p:nvSpPr>
          <p:cNvPr id="5" name="Text 3"/>
          <p:cNvSpPr/>
          <p:nvPr/>
        </p:nvSpPr>
        <p:spPr>
          <a:xfrm>
            <a:off x="3407420" y="884337"/>
            <a:ext cx="2375592" cy="200025"/>
          </a:xfrm>
          <a:prstGeom prst="rect">
            <a:avLst/>
          </a:prstGeom>
          <a:noFill/>
          <a:ln/>
        </p:spPr>
        <p:txBody>
          <a:bodyPr wrap="square" lIns="0" tIns="0" rIns="0" bIns="0" rtlCol="0" anchor="t"/>
          <a:lstStyle/>
          <a:p>
            <a:pPr algn="l" indent="0" marL="0">
              <a:buNone/>
            </a:pPr>
            <a:r>
              <a:rPr lang="en-US" sz="1300" b="1" dirty="0">
                <a:solidFill>
                  <a:srgbClr val="050A1E"/>
                </a:solidFill>
                <a:latin typeface="Arial" pitchFamily="34" charset="0"/>
                <a:ea typeface="Arial" pitchFamily="34" charset="-122"/>
                <a:cs typeface="Arial" pitchFamily="34" charset="-120"/>
              </a:rPr>
              <a:t>HANDS-ON ACTIVITY</a:t>
            </a:r>
            <a:endParaRPr lang="en-US" sz="1300" dirty="0"/>
          </a:p>
        </p:txBody>
      </p:sp>
      <p:sp>
        <p:nvSpPr>
          <p:cNvPr id="6" name="Text 4"/>
          <p:cNvSpPr/>
          <p:nvPr/>
        </p:nvSpPr>
        <p:spPr>
          <a:xfrm>
            <a:off x="2657593" y="1414463"/>
            <a:ext cx="3828666" cy="428625"/>
          </a:xfrm>
          <a:prstGeom prst="rect">
            <a:avLst/>
          </a:prstGeom>
          <a:noFill/>
          <a:ln/>
        </p:spPr>
        <p:txBody>
          <a:bodyPr wrap="square" lIns="0" tIns="0" rIns="0" bIns="0" rtlCol="0" anchor="t"/>
          <a:lstStyle/>
          <a:p>
            <a:pPr algn="ctr" indent="0" marL="0">
              <a:spcAft>
                <a:spcPts val="600"/>
              </a:spcAft>
              <a:buNone/>
            </a:pPr>
            <a:r>
              <a:rPr lang="en-US" sz="3000" dirty="0">
                <a:solidFill>
                  <a:srgbClr val="FFFFFF"/>
                </a:solidFill>
                <a:latin typeface="Arial" pitchFamily="34" charset="0"/>
                <a:ea typeface="Arial" pitchFamily="34" charset="-122"/>
                <a:cs typeface="Arial" pitchFamily="34" charset="-120"/>
              </a:rPr>
              <a:t>Your Turn: </a:t>
            </a:r>
            <a:pPr algn="ctr" indent="0" marL="0">
              <a:spcAft>
                <a:spcPts val="600"/>
              </a:spcAft>
              <a:buNone/>
            </a:pPr>
            <a:r>
              <a:rPr lang="en-US" sz="3000" b="1" dirty="0">
                <a:solidFill>
                  <a:srgbClr val="2ECC71"/>
                </a:solidFill>
                <a:latin typeface="Arial" pitchFamily="34" charset="0"/>
                <a:ea typeface="Arial" pitchFamily="34" charset="-122"/>
                <a:cs typeface="Arial" pitchFamily="34" charset="-120"/>
              </a:rPr>
              <a:t>5 Minutes</a:t>
            </a:r>
            <a:endParaRPr lang="en-US" sz="3000" dirty="0"/>
          </a:p>
        </p:txBody>
      </p:sp>
      <p:sp>
        <p:nvSpPr>
          <p:cNvPr id="7" name="Text 5"/>
          <p:cNvSpPr/>
          <p:nvPr/>
        </p:nvSpPr>
        <p:spPr>
          <a:xfrm>
            <a:off x="2550267" y="2084338"/>
            <a:ext cx="4043318" cy="200025"/>
          </a:xfrm>
          <a:prstGeom prst="rect">
            <a:avLst/>
          </a:prstGeom>
          <a:noFill/>
          <a:ln/>
        </p:spPr>
        <p:txBody>
          <a:bodyPr wrap="square" lIns="0" tIns="0" rIns="0" bIns="0" rtlCol="0" anchor="t"/>
          <a:lstStyle/>
          <a:p>
            <a:pPr algn="ctr" indent="0" marL="0">
              <a:spcBef>
                <a:spcPts val="1300"/>
              </a:spcBef>
              <a:spcAft>
                <a:spcPts val="2400"/>
              </a:spcAft>
              <a:buNone/>
            </a:pPr>
            <a:r>
              <a:rPr lang="en-US" sz="1300" dirty="0">
                <a:solidFill>
                  <a:srgbClr val="B0BEC5"/>
                </a:solidFill>
                <a:latin typeface="Arial" pitchFamily="34" charset="0"/>
                <a:ea typeface="Arial" pitchFamily="34" charset="-122"/>
                <a:cs typeface="Arial" pitchFamily="34" charset="-120"/>
              </a:rPr>
              <a:t>Open Claude Code on your laptop. Pick a prompt. Go!</a:t>
            </a:r>
            <a:endParaRPr lang="en-US" sz="1300" dirty="0"/>
          </a:p>
        </p:txBody>
      </p:sp>
      <p:sp>
        <p:nvSpPr>
          <p:cNvPr id="8" name="Text 6"/>
          <p:cNvSpPr/>
          <p:nvPr/>
        </p:nvSpPr>
        <p:spPr>
          <a:xfrm>
            <a:off x="0" y="2589163"/>
            <a:ext cx="2912566" cy="1771352"/>
          </a:xfrm>
          <a:prstGeom prst="rect">
            <a:avLst/>
          </a:prstGeom>
          <a:solidFill>
            <a:srgbClr val="2ECC71">
              <a:alpha val="7000"/>
            </a:srgbClr>
          </a:solidFill>
          <a:ln w="19050">
            <a:solidFill>
              <a:srgbClr val="2ECC71"/>
            </a:solidFill>
          </a:ln>
        </p:spPr>
        <p:txBody>
          <a:bodyPr wrap="square" rtlCol="0" anchor="ctr"/>
          <a:lstStyle/>
          <a:p>
            <a:pPr indent="0" marL="0">
              <a:buNone/>
            </a:pPr>
            <a:endParaRPr lang="en-US" dirty="0"/>
          </a:p>
        </p:txBody>
      </p:sp>
      <p:sp>
        <p:nvSpPr>
          <p:cNvPr id="9" name="Text 7"/>
          <p:cNvSpPr/>
          <p:nvPr/>
        </p:nvSpPr>
        <p:spPr>
          <a:xfrm>
            <a:off x="196751" y="2900214"/>
            <a:ext cx="2569446" cy="133350"/>
          </a:xfrm>
          <a:prstGeom prst="rect">
            <a:avLst/>
          </a:prstGeom>
          <a:noFill/>
          <a:ln/>
        </p:spPr>
        <p:txBody>
          <a:bodyPr wrap="square" lIns="0" tIns="0" rIns="0" bIns="0" rtlCol="0" anchor="t"/>
          <a:lstStyle/>
          <a:p>
            <a:pPr algn="l" indent="0" marL="0">
              <a:spcBef>
                <a:spcPts val="900"/>
              </a:spcBef>
              <a:spcAft>
                <a:spcPts val="800"/>
              </a:spcAft>
              <a:buNone/>
            </a:pPr>
            <a:r>
              <a:rPr lang="en-US" sz="900" b="1" dirty="0">
                <a:solidFill>
                  <a:srgbClr val="2ECC71"/>
                </a:solidFill>
                <a:latin typeface="Arial" pitchFamily="34" charset="0"/>
                <a:ea typeface="Arial" pitchFamily="34" charset="-122"/>
                <a:cs typeface="Arial" pitchFamily="34" charset="-120"/>
              </a:rPr>
              <a:t>BEGINNER</a:t>
            </a:r>
            <a:endParaRPr lang="en-US" sz="900" dirty="0"/>
          </a:p>
        </p:txBody>
      </p:sp>
      <p:sp>
        <p:nvSpPr>
          <p:cNvPr id="10" name="Text 8"/>
          <p:cNvSpPr/>
          <p:nvPr/>
        </p:nvSpPr>
        <p:spPr>
          <a:xfrm>
            <a:off x="196751" y="3173164"/>
            <a:ext cx="2569446" cy="419100"/>
          </a:xfrm>
          <a:prstGeom prst="rect">
            <a:avLst/>
          </a:prstGeom>
          <a:noFill/>
          <a:ln/>
        </p:spPr>
        <p:txBody>
          <a:bodyPr wrap="square" lIns="0" tIns="0" rIns="0" bIns="0" rtlCol="0" anchor="t"/>
          <a:lstStyle/>
          <a:p>
            <a:pPr algn="l" indent="0" marL="0">
              <a:lnSpc>
                <a:spcPts val="1650"/>
              </a:lnSpc>
              <a:spcBef>
                <a:spcPts val="1100"/>
              </a:spcBef>
              <a:spcAft>
                <a:spcPts val="800"/>
              </a:spcAft>
              <a:buNone/>
            </a:pPr>
            <a:r>
              <a:rPr lang="en-US" sz="1100" i="1" dirty="0">
                <a:solidFill>
                  <a:srgbClr val="E0E0E0"/>
                </a:solidFill>
                <a:latin typeface="Arial" pitchFamily="34" charset="0"/>
                <a:ea typeface="Arial" pitchFamily="34" charset="-122"/>
                <a:cs typeface="Arial" pitchFamily="34" charset="-120"/>
              </a:rPr>
              <a:t>"Summarize the top 3 side effects of ciprofloxacin in bullet points"</a:t>
            </a:r>
            <a:endParaRPr lang="en-US" sz="1100" dirty="0"/>
          </a:p>
        </p:txBody>
      </p:sp>
      <p:sp>
        <p:nvSpPr>
          <p:cNvPr id="11" name="Text 9"/>
          <p:cNvSpPr/>
          <p:nvPr/>
        </p:nvSpPr>
        <p:spPr>
          <a:xfrm>
            <a:off x="196751" y="3706564"/>
            <a:ext cx="2569446" cy="133350"/>
          </a:xfrm>
          <a:prstGeom prst="rect">
            <a:avLst/>
          </a:prstGeom>
          <a:noFill/>
          <a:ln/>
        </p:spPr>
        <p:txBody>
          <a:bodyPr wrap="square" lIns="0" tIns="0" rIns="0" bIns="0" rtlCol="0" anchor="t"/>
          <a:lstStyle/>
          <a:p>
            <a:pPr algn="l" indent="0" marL="0">
              <a:spcBef>
                <a:spcPts val="900"/>
              </a:spcBef>
              <a:spcAft>
                <a:spcPts val="900"/>
              </a:spcAft>
              <a:buNone/>
            </a:pPr>
            <a:r>
              <a:rPr lang="en-US" sz="900" dirty="0">
                <a:solidFill>
                  <a:srgbClr val="8B8B8B"/>
                </a:solidFill>
                <a:latin typeface="Arial" pitchFamily="34" charset="0"/>
                <a:ea typeface="Arial" pitchFamily="34" charset="-122"/>
                <a:cs typeface="Arial" pitchFamily="34" charset="-120"/>
              </a:rPr>
              <a:t>Just type it. No setup needed.</a:t>
            </a:r>
            <a:endParaRPr lang="en-US" sz="900" dirty="0"/>
          </a:p>
        </p:txBody>
      </p:sp>
      <p:sp>
        <p:nvSpPr>
          <p:cNvPr id="12" name="Text 10"/>
          <p:cNvSpPr/>
          <p:nvPr/>
        </p:nvSpPr>
        <p:spPr>
          <a:xfrm>
            <a:off x="3115717" y="2589163"/>
            <a:ext cx="2912566" cy="1771352"/>
          </a:xfrm>
          <a:prstGeom prst="rect">
            <a:avLst/>
          </a:prstGeom>
          <a:solidFill>
            <a:srgbClr val="F1C40F">
              <a:alpha val="7000"/>
            </a:srgbClr>
          </a:solidFill>
          <a:ln w="19050">
            <a:solidFill>
              <a:srgbClr val="F1C40F"/>
            </a:solidFill>
          </a:ln>
        </p:spPr>
        <p:txBody>
          <a:bodyPr wrap="square" rtlCol="0" anchor="ctr"/>
          <a:lstStyle/>
          <a:p>
            <a:pPr indent="0" marL="0">
              <a:buNone/>
            </a:pPr>
            <a:endParaRPr lang="en-US" dirty="0"/>
          </a:p>
        </p:txBody>
      </p:sp>
      <p:sp>
        <p:nvSpPr>
          <p:cNvPr id="13" name="Text 11"/>
          <p:cNvSpPr/>
          <p:nvPr/>
        </p:nvSpPr>
        <p:spPr>
          <a:xfrm>
            <a:off x="3312468" y="2900214"/>
            <a:ext cx="2569446" cy="133350"/>
          </a:xfrm>
          <a:prstGeom prst="rect">
            <a:avLst/>
          </a:prstGeom>
          <a:noFill/>
          <a:ln/>
        </p:spPr>
        <p:txBody>
          <a:bodyPr wrap="square" lIns="0" tIns="0" rIns="0" bIns="0" rtlCol="0" anchor="t"/>
          <a:lstStyle/>
          <a:p>
            <a:pPr algn="l" indent="0" marL="0">
              <a:spcBef>
                <a:spcPts val="900"/>
              </a:spcBef>
              <a:spcAft>
                <a:spcPts val="800"/>
              </a:spcAft>
              <a:buNone/>
            </a:pPr>
            <a:r>
              <a:rPr lang="en-US" sz="900" b="1" dirty="0">
                <a:solidFill>
                  <a:srgbClr val="F1C40F"/>
                </a:solidFill>
                <a:latin typeface="Arial" pitchFamily="34" charset="0"/>
                <a:ea typeface="Arial" pitchFamily="34" charset="-122"/>
                <a:cs typeface="Arial" pitchFamily="34" charset="-120"/>
              </a:rPr>
              <a:t>INTERMEDIATE</a:t>
            </a:r>
            <a:endParaRPr lang="en-US" sz="900" dirty="0"/>
          </a:p>
        </p:txBody>
      </p:sp>
      <p:sp>
        <p:nvSpPr>
          <p:cNvPr id="14" name="Text 12"/>
          <p:cNvSpPr/>
          <p:nvPr/>
        </p:nvSpPr>
        <p:spPr>
          <a:xfrm>
            <a:off x="3312468" y="3173164"/>
            <a:ext cx="2569446" cy="419100"/>
          </a:xfrm>
          <a:prstGeom prst="rect">
            <a:avLst/>
          </a:prstGeom>
          <a:noFill/>
          <a:ln/>
        </p:spPr>
        <p:txBody>
          <a:bodyPr wrap="square" lIns="0" tIns="0" rIns="0" bIns="0" rtlCol="0" anchor="t"/>
          <a:lstStyle/>
          <a:p>
            <a:pPr algn="l" indent="0" marL="0">
              <a:lnSpc>
                <a:spcPts val="1650"/>
              </a:lnSpc>
              <a:spcBef>
                <a:spcPts val="1100"/>
              </a:spcBef>
              <a:spcAft>
                <a:spcPts val="800"/>
              </a:spcAft>
              <a:buNone/>
            </a:pPr>
            <a:r>
              <a:rPr lang="en-US" sz="1100" i="1" dirty="0">
                <a:solidFill>
                  <a:srgbClr val="E0E0E0"/>
                </a:solidFill>
                <a:latin typeface="Arial" pitchFamily="34" charset="0"/>
                <a:ea typeface="Arial" pitchFamily="34" charset="-122"/>
                <a:cs typeface="Arial" pitchFamily="34" charset="-120"/>
              </a:rPr>
              <a:t>"Create a 5-question quiz about urinary tract infections as an HTML file"</a:t>
            </a:r>
            <a:endParaRPr lang="en-US" sz="1100" dirty="0"/>
          </a:p>
        </p:txBody>
      </p:sp>
      <p:sp>
        <p:nvSpPr>
          <p:cNvPr id="15" name="Text 13"/>
          <p:cNvSpPr/>
          <p:nvPr/>
        </p:nvSpPr>
        <p:spPr>
          <a:xfrm>
            <a:off x="3312468" y="3706564"/>
            <a:ext cx="2569446" cy="133350"/>
          </a:xfrm>
          <a:prstGeom prst="rect">
            <a:avLst/>
          </a:prstGeom>
          <a:noFill/>
          <a:ln/>
        </p:spPr>
        <p:txBody>
          <a:bodyPr wrap="square" lIns="0" tIns="0" rIns="0" bIns="0" rtlCol="0" anchor="t"/>
          <a:lstStyle/>
          <a:p>
            <a:pPr algn="l" indent="0" marL="0">
              <a:spcBef>
                <a:spcPts val="900"/>
              </a:spcBef>
              <a:spcAft>
                <a:spcPts val="900"/>
              </a:spcAft>
              <a:buNone/>
            </a:pPr>
            <a:r>
              <a:rPr lang="en-US" sz="900" dirty="0">
                <a:solidFill>
                  <a:srgbClr val="8B8B8B"/>
                </a:solidFill>
                <a:latin typeface="Arial" pitchFamily="34" charset="0"/>
                <a:ea typeface="Arial" pitchFamily="34" charset="-122"/>
                <a:cs typeface="Arial" pitchFamily="34" charset="-120"/>
              </a:rPr>
              <a:t>Will generate a working web page</a:t>
            </a:r>
            <a:endParaRPr lang="en-US" sz="900" dirty="0"/>
          </a:p>
        </p:txBody>
      </p:sp>
      <p:sp>
        <p:nvSpPr>
          <p:cNvPr id="16" name="Text 14"/>
          <p:cNvSpPr/>
          <p:nvPr/>
        </p:nvSpPr>
        <p:spPr>
          <a:xfrm>
            <a:off x="6231434" y="2589163"/>
            <a:ext cx="2912566" cy="1771352"/>
          </a:xfrm>
          <a:prstGeom prst="rect">
            <a:avLst/>
          </a:prstGeom>
          <a:solidFill>
            <a:srgbClr val="E74C3C">
              <a:alpha val="7000"/>
            </a:srgbClr>
          </a:solidFill>
          <a:ln w="19050">
            <a:solidFill>
              <a:srgbClr val="E74C3C"/>
            </a:solidFill>
          </a:ln>
        </p:spPr>
        <p:txBody>
          <a:bodyPr wrap="square" rtlCol="0" anchor="ctr"/>
          <a:lstStyle/>
          <a:p>
            <a:pPr indent="0" marL="0">
              <a:buNone/>
            </a:pPr>
            <a:endParaRPr lang="en-US" dirty="0"/>
          </a:p>
        </p:txBody>
      </p:sp>
      <p:sp>
        <p:nvSpPr>
          <p:cNvPr id="17" name="Text 15"/>
          <p:cNvSpPr/>
          <p:nvPr/>
        </p:nvSpPr>
        <p:spPr>
          <a:xfrm>
            <a:off x="6428184" y="2900214"/>
            <a:ext cx="2569446" cy="133350"/>
          </a:xfrm>
          <a:prstGeom prst="rect">
            <a:avLst/>
          </a:prstGeom>
          <a:noFill/>
          <a:ln/>
        </p:spPr>
        <p:txBody>
          <a:bodyPr wrap="square" lIns="0" tIns="0" rIns="0" bIns="0" rtlCol="0" anchor="t"/>
          <a:lstStyle/>
          <a:p>
            <a:pPr algn="l" indent="0" marL="0">
              <a:spcBef>
                <a:spcPts val="900"/>
              </a:spcBef>
              <a:spcAft>
                <a:spcPts val="800"/>
              </a:spcAft>
              <a:buNone/>
            </a:pPr>
            <a:r>
              <a:rPr lang="en-US" sz="900" b="1" dirty="0">
                <a:solidFill>
                  <a:srgbClr val="E74C3C"/>
                </a:solidFill>
                <a:latin typeface="Arial" pitchFamily="34" charset="0"/>
                <a:ea typeface="Arial" pitchFamily="34" charset="-122"/>
                <a:cs typeface="Arial" pitchFamily="34" charset="-120"/>
              </a:rPr>
              <a:t>ADVANCED</a:t>
            </a:r>
            <a:endParaRPr lang="en-US" sz="900" dirty="0"/>
          </a:p>
        </p:txBody>
      </p:sp>
      <p:sp>
        <p:nvSpPr>
          <p:cNvPr id="18" name="Text 16"/>
          <p:cNvSpPr/>
          <p:nvPr/>
        </p:nvSpPr>
        <p:spPr>
          <a:xfrm>
            <a:off x="6428184" y="3173164"/>
            <a:ext cx="2569446" cy="628650"/>
          </a:xfrm>
          <a:prstGeom prst="rect">
            <a:avLst/>
          </a:prstGeom>
          <a:noFill/>
          <a:ln/>
        </p:spPr>
        <p:txBody>
          <a:bodyPr wrap="square" lIns="0" tIns="0" rIns="0" bIns="0" rtlCol="0" anchor="t"/>
          <a:lstStyle/>
          <a:p>
            <a:pPr algn="l" indent="0" marL="0">
              <a:lnSpc>
                <a:spcPts val="1650"/>
              </a:lnSpc>
              <a:spcBef>
                <a:spcPts val="1100"/>
              </a:spcBef>
              <a:spcAft>
                <a:spcPts val="800"/>
              </a:spcAft>
              <a:buNone/>
            </a:pPr>
            <a:r>
              <a:rPr lang="en-US" sz="1100" i="1" dirty="0">
                <a:solidFill>
                  <a:srgbClr val="E0E0E0"/>
                </a:solidFill>
                <a:latin typeface="Arial" pitchFamily="34" charset="0"/>
                <a:ea typeface="Arial" pitchFamily="34" charset="-122"/>
                <a:cs typeface="Arial" pitchFamily="34" charset="-120"/>
              </a:rPr>
              <a:t>"Analyze the attached CSV of patient ages and PSA values, find outliers, and generate a chart"</a:t>
            </a:r>
            <a:endParaRPr lang="en-US" sz="1100" dirty="0"/>
          </a:p>
        </p:txBody>
      </p:sp>
      <p:sp>
        <p:nvSpPr>
          <p:cNvPr id="19" name="Text 17"/>
          <p:cNvSpPr/>
          <p:nvPr/>
        </p:nvSpPr>
        <p:spPr>
          <a:xfrm>
            <a:off x="6428184" y="3916114"/>
            <a:ext cx="2569446" cy="133350"/>
          </a:xfrm>
          <a:prstGeom prst="rect">
            <a:avLst/>
          </a:prstGeom>
          <a:noFill/>
          <a:ln/>
        </p:spPr>
        <p:txBody>
          <a:bodyPr wrap="square" lIns="0" tIns="0" rIns="0" bIns="0" rtlCol="0" anchor="t"/>
          <a:lstStyle/>
          <a:p>
            <a:pPr algn="l" indent="0" marL="0">
              <a:spcBef>
                <a:spcPts val="900"/>
              </a:spcBef>
              <a:spcAft>
                <a:spcPts val="900"/>
              </a:spcAft>
              <a:buNone/>
            </a:pPr>
            <a:r>
              <a:rPr lang="en-US" sz="900" dirty="0">
                <a:solidFill>
                  <a:srgbClr val="8B8B8B"/>
                </a:solidFill>
                <a:latin typeface="Arial" pitchFamily="34" charset="0"/>
                <a:ea typeface="Arial" pitchFamily="34" charset="-122"/>
                <a:cs typeface="Arial" pitchFamily="34" charset="-120"/>
              </a:rPr>
              <a:t>Bring your own data file!</a:t>
            </a:r>
            <a:endParaRPr lang="en-US" sz="900" dirty="0"/>
          </a:p>
        </p:txBody>
      </p:sp>
      <p:sp>
        <p:nvSpPr>
          <p:cNvPr id="20" name="Text 18"/>
          <p:cNvSpPr/>
          <p:nvPr/>
        </p:nvSpPr>
        <p:spPr>
          <a:xfrm>
            <a:off x="7820620" y="4527649"/>
            <a:ext cx="942380" cy="361950"/>
          </a:xfrm>
          <a:prstGeom prst="rect">
            <a:avLst/>
          </a:prstGeom>
          <a:solidFill>
            <a:srgbClr val="2ECC71">
              <a:alpha val="20000"/>
            </a:srgbClr>
          </a:solidFill>
          <a:ln w="9525">
            <a:solidFill>
              <a:srgbClr val="2ECC71"/>
            </a:solidFill>
          </a:ln>
        </p:spPr>
        <p:txBody>
          <a:bodyPr wrap="square" rtlCol="0" anchor="ctr"/>
          <a:lstStyle/>
          <a:p>
            <a:pPr indent="0" marL="0">
              <a:buNone/>
            </a:pPr>
            <a:endParaRPr lang="en-US" dirty="0"/>
          </a:p>
        </p:txBody>
      </p:sp>
      <p:sp>
        <p:nvSpPr>
          <p:cNvPr id="21" name="Text 19"/>
          <p:cNvSpPr/>
          <p:nvPr/>
        </p:nvSpPr>
        <p:spPr>
          <a:xfrm>
            <a:off x="8007846" y="4613374"/>
            <a:ext cx="579287" cy="190500"/>
          </a:xfrm>
          <a:prstGeom prst="rect">
            <a:avLst/>
          </a:prstGeom>
          <a:noFill/>
          <a:ln/>
        </p:spPr>
        <p:txBody>
          <a:bodyPr wrap="square" lIns="0" tIns="0" rIns="0" bIns="0" rtlCol="0" anchor="t"/>
          <a:lstStyle/>
          <a:p>
            <a:pPr algn="l" indent="0" marL="0">
              <a:buNone/>
            </a:pPr>
            <a:r>
              <a:rPr lang="en-US" sz="1200" b="1" dirty="0">
                <a:solidFill>
                  <a:srgbClr val="2ECC71"/>
                </a:solidFill>
                <a:latin typeface="Arial" pitchFamily="34" charset="0"/>
                <a:ea typeface="Arial" pitchFamily="34" charset="-122"/>
                <a:cs typeface="Arial" pitchFamily="34" charset="-120"/>
              </a:rPr>
              <a:t>⏱ 5 MIN</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50A1E"/>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D4FF"/>
          </a:solidFill>
          <a:ln/>
        </p:spPr>
        <p:txBody>
          <a:bodyPr wrap="square" rtlCol="0" anchor="ctr"/>
          <a:lstStyle/>
          <a:p>
            <a:pPr indent="0" marL="0">
              <a:buNone/>
            </a:pPr>
            <a:endParaRPr lang="en-US" dirty="0"/>
          </a:p>
        </p:txBody>
      </p:sp>
      <p:sp>
        <p:nvSpPr>
          <p:cNvPr id="3" name="Text 1"/>
          <p:cNvSpPr/>
          <p:nvPr/>
        </p:nvSpPr>
        <p:spPr>
          <a:xfrm>
            <a:off x="381000" y="364182"/>
            <a:ext cx="8549640" cy="133350"/>
          </a:xfrm>
          <a:prstGeom prst="rect">
            <a:avLst/>
          </a:prstGeom>
          <a:noFill/>
          <a:ln/>
        </p:spPr>
        <p:txBody>
          <a:bodyPr wrap="square" lIns="0" tIns="0" rIns="0" bIns="0" rtlCol="0" anchor="t"/>
          <a:lstStyle/>
          <a:p>
            <a:pPr algn="l" indent="0" marL="0">
              <a:spcBef>
                <a:spcPts val="900"/>
              </a:spcBef>
              <a:spcAft>
                <a:spcPts val="600"/>
              </a:spcAft>
              <a:buNone/>
            </a:pPr>
            <a:r>
              <a:rPr lang="en-US" sz="900" dirty="0">
                <a:solidFill>
                  <a:srgbClr val="00D4FF"/>
                </a:solidFill>
                <a:latin typeface="Arial" pitchFamily="34" charset="0"/>
                <a:ea typeface="Arial" pitchFamily="34" charset="-122"/>
                <a:cs typeface="Arial" pitchFamily="34" charset="-120"/>
              </a:rPr>
              <a:t>SKILLS ECOSYSTEM</a:t>
            </a:r>
            <a:endParaRPr lang="en-US" sz="900" dirty="0"/>
          </a:p>
        </p:txBody>
      </p:sp>
      <p:sp>
        <p:nvSpPr>
          <p:cNvPr id="4" name="Text 2"/>
          <p:cNvSpPr/>
          <p:nvPr/>
        </p:nvSpPr>
        <p:spPr>
          <a:xfrm>
            <a:off x="381000" y="573732"/>
            <a:ext cx="8549640" cy="295275"/>
          </a:xfrm>
          <a:prstGeom prst="rect">
            <a:avLst/>
          </a:prstGeom>
          <a:noFill/>
          <a:ln/>
        </p:spPr>
        <p:txBody>
          <a:bodyPr wrap="square" lIns="0" tIns="0" rIns="0" bIns="0" rtlCol="0" anchor="t"/>
          <a:lstStyle/>
          <a:p>
            <a:pPr algn="l" indent="0" marL="0">
              <a:spcAft>
                <a:spcPts val="1200"/>
              </a:spcAft>
              <a:buNone/>
            </a:pPr>
            <a:r>
              <a:rPr lang="en-US" sz="2000" dirty="0">
                <a:solidFill>
                  <a:srgbClr val="FFFFFF"/>
                </a:solidFill>
                <a:latin typeface="Arial" pitchFamily="34" charset="0"/>
                <a:ea typeface="Arial" pitchFamily="34" charset="-122"/>
                <a:cs typeface="Arial" pitchFamily="34" charset="-120"/>
              </a:rPr>
              <a:t>The </a:t>
            </a:r>
            <a:pPr algn="l" indent="0" marL="0">
              <a:spcAft>
                <a:spcPts val="1200"/>
              </a:spcAft>
              <a:buNone/>
            </a:pPr>
            <a:r>
              <a:rPr lang="en-US" sz="2000" b="1" dirty="0">
                <a:solidFill>
                  <a:srgbClr val="00D4FF"/>
                </a:solidFill>
                <a:latin typeface="Arial" pitchFamily="34" charset="0"/>
                <a:ea typeface="Arial" pitchFamily="34" charset="-122"/>
                <a:cs typeface="Arial" pitchFamily="34" charset="-120"/>
              </a:rPr>
              <a:t>Skill System</a:t>
            </a:r>
            <a:pPr algn="l" indent="0" marL="0">
              <a:spcAft>
                <a:spcPts val="1200"/>
              </a:spcAft>
              <a:buNone/>
            </a:pPr>
            <a:r>
              <a:rPr lang="en-US" sz="2000" dirty="0">
                <a:solidFill>
                  <a:srgbClr val="FFFFFF"/>
                </a:solidFill>
                <a:latin typeface="Arial" pitchFamily="34" charset="0"/>
                <a:ea typeface="Arial" pitchFamily="34" charset="-122"/>
                <a:cs typeface="Arial" pitchFamily="34" charset="-120"/>
              </a:rPr>
              <a:t> — Extending Claude's Capabilities</a:t>
            </a:r>
            <a:endParaRPr lang="en-US" sz="2000" dirty="0"/>
          </a:p>
        </p:txBody>
      </p:sp>
      <p:sp>
        <p:nvSpPr>
          <p:cNvPr id="5" name="Text 3"/>
          <p:cNvSpPr/>
          <p:nvPr/>
        </p:nvSpPr>
        <p:spPr>
          <a:xfrm>
            <a:off x="381000" y="1122908"/>
            <a:ext cx="4171137" cy="114300"/>
          </a:xfrm>
          <a:prstGeom prst="rect">
            <a:avLst/>
          </a:prstGeom>
          <a:noFill/>
          <a:ln/>
        </p:spPr>
        <p:txBody>
          <a:bodyPr wrap="square" lIns="0" tIns="0" rIns="0" bIns="0" rtlCol="0" anchor="t"/>
          <a:lstStyle/>
          <a:p>
            <a:pPr algn="l" indent="0" marL="0">
              <a:spcBef>
                <a:spcPts val="800"/>
              </a:spcBef>
              <a:spcAft>
                <a:spcPts val="800"/>
              </a:spcAft>
              <a:buNone/>
            </a:pPr>
            <a:r>
              <a:rPr lang="en-US" sz="800" dirty="0">
                <a:solidFill>
                  <a:srgbClr val="9B9B9B"/>
                </a:solidFill>
                <a:latin typeface="Arial" pitchFamily="34" charset="0"/>
                <a:ea typeface="Arial" pitchFamily="34" charset="-122"/>
                <a:cs typeface="Arial" pitchFamily="34" charset="-120"/>
              </a:rPr>
              <a:t>MY INSTALLED SKILLS (50+)</a:t>
            </a:r>
            <a:endParaRPr lang="en-US" sz="800" dirty="0"/>
          </a:p>
        </p:txBody>
      </p:sp>
      <p:sp>
        <p:nvSpPr>
          <p:cNvPr id="6" name="Text 4"/>
          <p:cNvSpPr/>
          <p:nvPr/>
        </p:nvSpPr>
        <p:spPr>
          <a:xfrm>
            <a:off x="381000" y="1338709"/>
            <a:ext cx="2006501" cy="228600"/>
          </a:xfrm>
          <a:prstGeom prst="rect">
            <a:avLst/>
          </a:prstGeom>
          <a:solidFill>
            <a:srgbClr val="00D4FF">
              <a:alpha val="12000"/>
            </a:srgbClr>
          </a:solidFill>
          <a:ln w="9525">
            <a:solidFill>
              <a:srgbClr val="00D4FF"/>
            </a:solidFill>
          </a:ln>
        </p:spPr>
        <p:txBody>
          <a:bodyPr wrap="square" rtlCol="0" anchor="ctr"/>
          <a:lstStyle/>
          <a:p>
            <a:pPr indent="0" marL="0">
              <a:buNone/>
            </a:pPr>
            <a:endParaRPr lang="en-US" dirty="0"/>
          </a:p>
        </p:txBody>
      </p:sp>
      <p:sp>
        <p:nvSpPr>
          <p:cNvPr id="7" name="Text 5"/>
          <p:cNvSpPr/>
          <p:nvPr/>
        </p:nvSpPr>
        <p:spPr>
          <a:xfrm>
            <a:off x="492026" y="1386334"/>
            <a:ext cx="1820138" cy="133350"/>
          </a:xfrm>
          <a:prstGeom prst="rect">
            <a:avLst/>
          </a:prstGeom>
          <a:noFill/>
          <a:ln/>
        </p:spPr>
        <p:txBody>
          <a:bodyPr wrap="square" lIns="0" tIns="0" rIns="0" bIns="0" rtlCol="0" anchor="t"/>
          <a:lstStyle/>
          <a:p>
            <a:pPr algn="l" indent="0" marL="0">
              <a:buNone/>
            </a:pPr>
            <a:r>
              <a:rPr lang="en-US" sz="900" dirty="0">
                <a:solidFill>
                  <a:srgbClr val="00D4FF"/>
                </a:solidFill>
                <a:latin typeface="Arial" pitchFamily="34" charset="0"/>
                <a:ea typeface="Arial" pitchFamily="34" charset="-122"/>
                <a:cs typeface="Arial" pitchFamily="34" charset="-120"/>
              </a:rPr>
              <a:t>pubmed-database</a:t>
            </a:r>
            <a:endParaRPr lang="en-US" sz="900" dirty="0"/>
          </a:p>
        </p:txBody>
      </p:sp>
      <p:sp>
        <p:nvSpPr>
          <p:cNvPr id="8" name="Text 6"/>
          <p:cNvSpPr/>
          <p:nvPr/>
        </p:nvSpPr>
        <p:spPr>
          <a:xfrm>
            <a:off x="2463701" y="1338709"/>
            <a:ext cx="2006650" cy="228600"/>
          </a:xfrm>
          <a:prstGeom prst="rect">
            <a:avLst/>
          </a:prstGeom>
          <a:solidFill>
            <a:srgbClr val="00D4FF">
              <a:alpha val="12000"/>
            </a:srgbClr>
          </a:solidFill>
          <a:ln w="9525">
            <a:solidFill>
              <a:srgbClr val="00D4FF"/>
            </a:solidFill>
          </a:ln>
        </p:spPr>
        <p:txBody>
          <a:bodyPr wrap="square" rtlCol="0" anchor="ctr"/>
          <a:lstStyle/>
          <a:p>
            <a:pPr indent="0" marL="0">
              <a:buNone/>
            </a:pPr>
            <a:endParaRPr lang="en-US" dirty="0"/>
          </a:p>
        </p:txBody>
      </p:sp>
      <p:sp>
        <p:nvSpPr>
          <p:cNvPr id="9" name="Text 7"/>
          <p:cNvSpPr/>
          <p:nvPr/>
        </p:nvSpPr>
        <p:spPr>
          <a:xfrm>
            <a:off x="2574727" y="1386334"/>
            <a:ext cx="1820290" cy="133350"/>
          </a:xfrm>
          <a:prstGeom prst="rect">
            <a:avLst/>
          </a:prstGeom>
          <a:noFill/>
          <a:ln/>
        </p:spPr>
        <p:txBody>
          <a:bodyPr wrap="square" lIns="0" tIns="0" rIns="0" bIns="0" rtlCol="0" anchor="t"/>
          <a:lstStyle/>
          <a:p>
            <a:pPr algn="l" indent="0" marL="0">
              <a:buNone/>
            </a:pPr>
            <a:r>
              <a:rPr lang="en-US" sz="900" dirty="0">
                <a:solidFill>
                  <a:srgbClr val="00D4FF"/>
                </a:solidFill>
                <a:latin typeface="Arial" pitchFamily="34" charset="0"/>
                <a:ea typeface="Arial" pitchFamily="34" charset="-122"/>
                <a:cs typeface="Arial" pitchFamily="34" charset="-120"/>
              </a:rPr>
              <a:t>literature-review</a:t>
            </a:r>
            <a:endParaRPr lang="en-US" sz="900" dirty="0"/>
          </a:p>
        </p:txBody>
      </p:sp>
      <p:sp>
        <p:nvSpPr>
          <p:cNvPr id="10" name="Text 8"/>
          <p:cNvSpPr/>
          <p:nvPr/>
        </p:nvSpPr>
        <p:spPr>
          <a:xfrm>
            <a:off x="381000" y="1630710"/>
            <a:ext cx="2006501" cy="228600"/>
          </a:xfrm>
          <a:prstGeom prst="rect">
            <a:avLst/>
          </a:prstGeom>
          <a:solidFill>
            <a:srgbClr val="9B59B6">
              <a:alpha val="12000"/>
            </a:srgbClr>
          </a:solidFill>
          <a:ln w="9525">
            <a:solidFill>
              <a:srgbClr val="9B59B6"/>
            </a:solidFill>
          </a:ln>
        </p:spPr>
        <p:txBody>
          <a:bodyPr wrap="square" rtlCol="0" anchor="ctr"/>
          <a:lstStyle/>
          <a:p>
            <a:pPr indent="0" marL="0">
              <a:buNone/>
            </a:pPr>
            <a:endParaRPr lang="en-US" dirty="0"/>
          </a:p>
        </p:txBody>
      </p:sp>
      <p:sp>
        <p:nvSpPr>
          <p:cNvPr id="11" name="Text 9"/>
          <p:cNvSpPr/>
          <p:nvPr/>
        </p:nvSpPr>
        <p:spPr>
          <a:xfrm>
            <a:off x="492026" y="1678335"/>
            <a:ext cx="1820138" cy="133350"/>
          </a:xfrm>
          <a:prstGeom prst="rect">
            <a:avLst/>
          </a:prstGeom>
          <a:noFill/>
          <a:ln/>
        </p:spPr>
        <p:txBody>
          <a:bodyPr wrap="square" lIns="0" tIns="0" rIns="0" bIns="0" rtlCol="0" anchor="t"/>
          <a:lstStyle/>
          <a:p>
            <a:pPr algn="l" indent="0" marL="0">
              <a:buNone/>
            </a:pPr>
            <a:r>
              <a:rPr lang="en-US" sz="900" dirty="0">
                <a:solidFill>
                  <a:srgbClr val="9B59B6"/>
                </a:solidFill>
                <a:latin typeface="Arial" pitchFamily="34" charset="0"/>
                <a:ea typeface="Arial" pitchFamily="34" charset="-122"/>
                <a:cs typeface="Arial" pitchFamily="34" charset="-120"/>
              </a:rPr>
              <a:t>pptx</a:t>
            </a:r>
            <a:endParaRPr lang="en-US" sz="900" dirty="0"/>
          </a:p>
        </p:txBody>
      </p:sp>
      <p:sp>
        <p:nvSpPr>
          <p:cNvPr id="12" name="Text 10"/>
          <p:cNvSpPr/>
          <p:nvPr/>
        </p:nvSpPr>
        <p:spPr>
          <a:xfrm>
            <a:off x="2463701" y="1630710"/>
            <a:ext cx="2006650" cy="228600"/>
          </a:xfrm>
          <a:prstGeom prst="rect">
            <a:avLst/>
          </a:prstGeom>
          <a:solidFill>
            <a:srgbClr val="9B59B6">
              <a:alpha val="12000"/>
            </a:srgbClr>
          </a:solidFill>
          <a:ln w="9525">
            <a:solidFill>
              <a:srgbClr val="9B59B6"/>
            </a:solidFill>
          </a:ln>
        </p:spPr>
        <p:txBody>
          <a:bodyPr wrap="square" rtlCol="0" anchor="ctr"/>
          <a:lstStyle/>
          <a:p>
            <a:pPr indent="0" marL="0">
              <a:buNone/>
            </a:pPr>
            <a:endParaRPr lang="en-US" dirty="0"/>
          </a:p>
        </p:txBody>
      </p:sp>
      <p:sp>
        <p:nvSpPr>
          <p:cNvPr id="13" name="Text 11"/>
          <p:cNvSpPr/>
          <p:nvPr/>
        </p:nvSpPr>
        <p:spPr>
          <a:xfrm>
            <a:off x="2574727" y="1678335"/>
            <a:ext cx="1820290" cy="133350"/>
          </a:xfrm>
          <a:prstGeom prst="rect">
            <a:avLst/>
          </a:prstGeom>
          <a:noFill/>
          <a:ln/>
        </p:spPr>
        <p:txBody>
          <a:bodyPr wrap="square" lIns="0" tIns="0" rIns="0" bIns="0" rtlCol="0" anchor="t"/>
          <a:lstStyle/>
          <a:p>
            <a:pPr algn="l" indent="0" marL="0">
              <a:buNone/>
            </a:pPr>
            <a:r>
              <a:rPr lang="en-US" sz="900" dirty="0">
                <a:solidFill>
                  <a:srgbClr val="9B59B6"/>
                </a:solidFill>
                <a:latin typeface="Arial" pitchFamily="34" charset="0"/>
                <a:ea typeface="Arial" pitchFamily="34" charset="-122"/>
                <a:cs typeface="Arial" pitchFamily="34" charset="-120"/>
              </a:rPr>
              <a:t>docx</a:t>
            </a:r>
            <a:endParaRPr lang="en-US" sz="900" dirty="0"/>
          </a:p>
        </p:txBody>
      </p:sp>
      <p:sp>
        <p:nvSpPr>
          <p:cNvPr id="14" name="Text 12"/>
          <p:cNvSpPr/>
          <p:nvPr/>
        </p:nvSpPr>
        <p:spPr>
          <a:xfrm>
            <a:off x="381000" y="1922711"/>
            <a:ext cx="2006501" cy="228600"/>
          </a:xfrm>
          <a:prstGeom prst="rect">
            <a:avLst/>
          </a:prstGeom>
          <a:solidFill>
            <a:srgbClr val="F1C40F">
              <a:alpha val="12000"/>
            </a:srgbClr>
          </a:solidFill>
          <a:ln w="9525">
            <a:solidFill>
              <a:srgbClr val="F1C40F"/>
            </a:solidFill>
          </a:ln>
        </p:spPr>
        <p:txBody>
          <a:bodyPr wrap="square" rtlCol="0" anchor="ctr"/>
          <a:lstStyle/>
          <a:p>
            <a:pPr indent="0" marL="0">
              <a:buNone/>
            </a:pPr>
            <a:endParaRPr lang="en-US" dirty="0"/>
          </a:p>
        </p:txBody>
      </p:sp>
      <p:sp>
        <p:nvSpPr>
          <p:cNvPr id="15" name="Text 13"/>
          <p:cNvSpPr/>
          <p:nvPr/>
        </p:nvSpPr>
        <p:spPr>
          <a:xfrm>
            <a:off x="492026" y="1970336"/>
            <a:ext cx="1820138" cy="133350"/>
          </a:xfrm>
          <a:prstGeom prst="rect">
            <a:avLst/>
          </a:prstGeom>
          <a:noFill/>
          <a:ln/>
        </p:spPr>
        <p:txBody>
          <a:bodyPr wrap="square" lIns="0" tIns="0" rIns="0" bIns="0" rtlCol="0" anchor="t"/>
          <a:lstStyle/>
          <a:p>
            <a:pPr algn="l" indent="0" marL="0">
              <a:buNone/>
            </a:pPr>
            <a:r>
              <a:rPr lang="en-US" sz="900" dirty="0">
                <a:solidFill>
                  <a:srgbClr val="F1C40F"/>
                </a:solidFill>
                <a:latin typeface="Arial" pitchFamily="34" charset="0"/>
                <a:ea typeface="Arial" pitchFamily="34" charset="-122"/>
                <a:cs typeface="Arial" pitchFamily="34" charset="-120"/>
              </a:rPr>
              <a:t>nstc-grant</a:t>
            </a:r>
            <a:endParaRPr lang="en-US" sz="900" dirty="0"/>
          </a:p>
        </p:txBody>
      </p:sp>
      <p:sp>
        <p:nvSpPr>
          <p:cNvPr id="16" name="Text 14"/>
          <p:cNvSpPr/>
          <p:nvPr/>
        </p:nvSpPr>
        <p:spPr>
          <a:xfrm>
            <a:off x="2463701" y="1922711"/>
            <a:ext cx="2006650" cy="228600"/>
          </a:xfrm>
          <a:prstGeom prst="rect">
            <a:avLst/>
          </a:prstGeom>
          <a:solidFill>
            <a:srgbClr val="F1C40F">
              <a:alpha val="12000"/>
            </a:srgbClr>
          </a:solidFill>
          <a:ln w="9525">
            <a:solidFill>
              <a:srgbClr val="F1C40F"/>
            </a:solidFill>
          </a:ln>
        </p:spPr>
        <p:txBody>
          <a:bodyPr wrap="square" rtlCol="0" anchor="ctr"/>
          <a:lstStyle/>
          <a:p>
            <a:pPr indent="0" marL="0">
              <a:buNone/>
            </a:pPr>
            <a:endParaRPr lang="en-US" dirty="0"/>
          </a:p>
        </p:txBody>
      </p:sp>
      <p:sp>
        <p:nvSpPr>
          <p:cNvPr id="17" name="Text 15"/>
          <p:cNvSpPr/>
          <p:nvPr/>
        </p:nvSpPr>
        <p:spPr>
          <a:xfrm>
            <a:off x="2574727" y="1970336"/>
            <a:ext cx="1820290" cy="133350"/>
          </a:xfrm>
          <a:prstGeom prst="rect">
            <a:avLst/>
          </a:prstGeom>
          <a:noFill/>
          <a:ln/>
        </p:spPr>
        <p:txBody>
          <a:bodyPr wrap="square" lIns="0" tIns="0" rIns="0" bIns="0" rtlCol="0" anchor="t"/>
          <a:lstStyle/>
          <a:p>
            <a:pPr algn="l" indent="0" marL="0">
              <a:buNone/>
            </a:pPr>
            <a:r>
              <a:rPr lang="en-US" sz="900" dirty="0">
                <a:solidFill>
                  <a:srgbClr val="F1C40F"/>
                </a:solidFill>
                <a:latin typeface="Arial" pitchFamily="34" charset="0"/>
                <a:ea typeface="Arial" pitchFamily="34" charset="-122"/>
                <a:cs typeface="Arial" pitchFamily="34" charset="-120"/>
              </a:rPr>
              <a:t>irb-submission</a:t>
            </a:r>
            <a:endParaRPr lang="en-US" sz="900" dirty="0"/>
          </a:p>
        </p:txBody>
      </p:sp>
      <p:sp>
        <p:nvSpPr>
          <p:cNvPr id="18" name="Text 16"/>
          <p:cNvSpPr/>
          <p:nvPr/>
        </p:nvSpPr>
        <p:spPr>
          <a:xfrm>
            <a:off x="381000" y="2214711"/>
            <a:ext cx="2006501" cy="228600"/>
          </a:xfrm>
          <a:prstGeom prst="rect">
            <a:avLst/>
          </a:prstGeom>
          <a:solidFill>
            <a:srgbClr val="00D4FF">
              <a:alpha val="12000"/>
            </a:srgbClr>
          </a:solidFill>
          <a:ln w="9525">
            <a:solidFill>
              <a:srgbClr val="00D4FF"/>
            </a:solidFill>
          </a:ln>
        </p:spPr>
        <p:txBody>
          <a:bodyPr wrap="square" rtlCol="0" anchor="ctr"/>
          <a:lstStyle/>
          <a:p>
            <a:pPr indent="0" marL="0">
              <a:buNone/>
            </a:pPr>
            <a:endParaRPr lang="en-US" dirty="0"/>
          </a:p>
        </p:txBody>
      </p:sp>
      <p:sp>
        <p:nvSpPr>
          <p:cNvPr id="19" name="Text 17"/>
          <p:cNvSpPr/>
          <p:nvPr/>
        </p:nvSpPr>
        <p:spPr>
          <a:xfrm>
            <a:off x="492026" y="2262336"/>
            <a:ext cx="1820138" cy="133350"/>
          </a:xfrm>
          <a:prstGeom prst="rect">
            <a:avLst/>
          </a:prstGeom>
          <a:noFill/>
          <a:ln/>
        </p:spPr>
        <p:txBody>
          <a:bodyPr wrap="square" lIns="0" tIns="0" rIns="0" bIns="0" rtlCol="0" anchor="t"/>
          <a:lstStyle/>
          <a:p>
            <a:pPr algn="l" indent="0" marL="0">
              <a:buNone/>
            </a:pPr>
            <a:r>
              <a:rPr lang="en-US" sz="900" dirty="0">
                <a:solidFill>
                  <a:srgbClr val="00D4FF"/>
                </a:solidFill>
                <a:latin typeface="Arial" pitchFamily="34" charset="0"/>
                <a:ea typeface="Arial" pitchFamily="34" charset="-122"/>
                <a:cs typeface="Arial" pitchFamily="34" charset="-120"/>
              </a:rPr>
              <a:t>statistical-analysis</a:t>
            </a:r>
            <a:endParaRPr lang="en-US" sz="900" dirty="0"/>
          </a:p>
        </p:txBody>
      </p:sp>
      <p:sp>
        <p:nvSpPr>
          <p:cNvPr id="20" name="Text 18"/>
          <p:cNvSpPr/>
          <p:nvPr/>
        </p:nvSpPr>
        <p:spPr>
          <a:xfrm>
            <a:off x="2463701" y="2214711"/>
            <a:ext cx="2006650" cy="228600"/>
          </a:xfrm>
          <a:prstGeom prst="rect">
            <a:avLst/>
          </a:prstGeom>
          <a:solidFill>
            <a:srgbClr val="00D4FF">
              <a:alpha val="12000"/>
            </a:srgbClr>
          </a:solidFill>
          <a:ln w="9525">
            <a:solidFill>
              <a:srgbClr val="00D4FF"/>
            </a:solidFill>
          </a:ln>
        </p:spPr>
        <p:txBody>
          <a:bodyPr wrap="square" rtlCol="0" anchor="ctr"/>
          <a:lstStyle/>
          <a:p>
            <a:pPr indent="0" marL="0">
              <a:buNone/>
            </a:pPr>
            <a:endParaRPr lang="en-US" dirty="0"/>
          </a:p>
        </p:txBody>
      </p:sp>
      <p:sp>
        <p:nvSpPr>
          <p:cNvPr id="21" name="Text 19"/>
          <p:cNvSpPr/>
          <p:nvPr/>
        </p:nvSpPr>
        <p:spPr>
          <a:xfrm>
            <a:off x="2574727" y="2262336"/>
            <a:ext cx="1820290" cy="133350"/>
          </a:xfrm>
          <a:prstGeom prst="rect">
            <a:avLst/>
          </a:prstGeom>
          <a:noFill/>
          <a:ln/>
        </p:spPr>
        <p:txBody>
          <a:bodyPr wrap="square" lIns="0" tIns="0" rIns="0" bIns="0" rtlCol="0" anchor="t"/>
          <a:lstStyle/>
          <a:p>
            <a:pPr algn="l" indent="0" marL="0">
              <a:buNone/>
            </a:pPr>
            <a:r>
              <a:rPr lang="en-US" sz="900" dirty="0">
                <a:solidFill>
                  <a:srgbClr val="00D4FF"/>
                </a:solidFill>
                <a:latin typeface="Arial" pitchFamily="34" charset="0"/>
                <a:ea typeface="Arial" pitchFamily="34" charset="-122"/>
                <a:cs typeface="Arial" pitchFamily="34" charset="-120"/>
              </a:rPr>
              <a:t>scikit-learn</a:t>
            </a:r>
            <a:endParaRPr lang="en-US" sz="900" dirty="0"/>
          </a:p>
        </p:txBody>
      </p:sp>
      <p:sp>
        <p:nvSpPr>
          <p:cNvPr id="22" name="Text 20"/>
          <p:cNvSpPr/>
          <p:nvPr/>
        </p:nvSpPr>
        <p:spPr>
          <a:xfrm>
            <a:off x="381000" y="2506712"/>
            <a:ext cx="2006501" cy="228600"/>
          </a:xfrm>
          <a:prstGeom prst="rect">
            <a:avLst/>
          </a:prstGeom>
          <a:solidFill>
            <a:srgbClr val="9B59B6">
              <a:alpha val="12000"/>
            </a:srgbClr>
          </a:solidFill>
          <a:ln w="9525">
            <a:solidFill>
              <a:srgbClr val="9B59B6"/>
            </a:solidFill>
          </a:ln>
        </p:spPr>
        <p:txBody>
          <a:bodyPr wrap="square" rtlCol="0" anchor="ctr"/>
          <a:lstStyle/>
          <a:p>
            <a:pPr indent="0" marL="0">
              <a:buNone/>
            </a:pPr>
            <a:endParaRPr lang="en-US" dirty="0"/>
          </a:p>
        </p:txBody>
      </p:sp>
      <p:sp>
        <p:nvSpPr>
          <p:cNvPr id="23" name="Text 21"/>
          <p:cNvSpPr/>
          <p:nvPr/>
        </p:nvSpPr>
        <p:spPr>
          <a:xfrm>
            <a:off x="492026" y="2554337"/>
            <a:ext cx="1820138" cy="133350"/>
          </a:xfrm>
          <a:prstGeom prst="rect">
            <a:avLst/>
          </a:prstGeom>
          <a:noFill/>
          <a:ln/>
        </p:spPr>
        <p:txBody>
          <a:bodyPr wrap="square" lIns="0" tIns="0" rIns="0" bIns="0" rtlCol="0" anchor="t"/>
          <a:lstStyle/>
          <a:p>
            <a:pPr algn="l" indent="0" marL="0">
              <a:buNone/>
            </a:pPr>
            <a:r>
              <a:rPr lang="en-US" sz="900" dirty="0">
                <a:solidFill>
                  <a:srgbClr val="9B59B6"/>
                </a:solidFill>
                <a:latin typeface="Arial" pitchFamily="34" charset="0"/>
                <a:ea typeface="Arial" pitchFamily="34" charset="-122"/>
                <a:cs typeface="Arial" pitchFamily="34" charset="-120"/>
              </a:rPr>
              <a:t>opd-note</a:t>
            </a:r>
            <a:endParaRPr lang="en-US" sz="900" dirty="0"/>
          </a:p>
        </p:txBody>
      </p:sp>
      <p:sp>
        <p:nvSpPr>
          <p:cNvPr id="24" name="Text 22"/>
          <p:cNvSpPr/>
          <p:nvPr/>
        </p:nvSpPr>
        <p:spPr>
          <a:xfrm>
            <a:off x="2463701" y="2506712"/>
            <a:ext cx="2006650" cy="228600"/>
          </a:xfrm>
          <a:prstGeom prst="rect">
            <a:avLst/>
          </a:prstGeom>
          <a:solidFill>
            <a:srgbClr val="00D4FF">
              <a:alpha val="12000"/>
            </a:srgbClr>
          </a:solidFill>
          <a:ln w="9525">
            <a:solidFill>
              <a:srgbClr val="00D4FF"/>
            </a:solidFill>
          </a:ln>
        </p:spPr>
        <p:txBody>
          <a:bodyPr wrap="square" rtlCol="0" anchor="ctr"/>
          <a:lstStyle/>
          <a:p>
            <a:pPr indent="0" marL="0">
              <a:buNone/>
            </a:pPr>
            <a:endParaRPr lang="en-US" dirty="0"/>
          </a:p>
        </p:txBody>
      </p:sp>
      <p:sp>
        <p:nvSpPr>
          <p:cNvPr id="25" name="Text 23"/>
          <p:cNvSpPr/>
          <p:nvPr/>
        </p:nvSpPr>
        <p:spPr>
          <a:xfrm>
            <a:off x="2574727" y="2554337"/>
            <a:ext cx="1820290" cy="133350"/>
          </a:xfrm>
          <a:prstGeom prst="rect">
            <a:avLst/>
          </a:prstGeom>
          <a:noFill/>
          <a:ln/>
        </p:spPr>
        <p:txBody>
          <a:bodyPr wrap="square" lIns="0" tIns="0" rIns="0" bIns="0" rtlCol="0" anchor="t"/>
          <a:lstStyle/>
          <a:p>
            <a:pPr algn="l" indent="0" marL="0">
              <a:buNone/>
            </a:pPr>
            <a:r>
              <a:rPr lang="en-US" sz="900" dirty="0">
                <a:solidFill>
                  <a:srgbClr val="00D4FF"/>
                </a:solidFill>
                <a:latin typeface="Arial" pitchFamily="34" charset="0"/>
                <a:ea typeface="Arial" pitchFamily="34" charset="-122"/>
                <a:cs typeface="Arial" pitchFamily="34" charset="-120"/>
              </a:rPr>
              <a:t>deep-peer-review</a:t>
            </a:r>
            <a:endParaRPr lang="en-US" sz="900" dirty="0"/>
          </a:p>
        </p:txBody>
      </p:sp>
      <p:sp>
        <p:nvSpPr>
          <p:cNvPr id="26" name="Text 24"/>
          <p:cNvSpPr/>
          <p:nvPr/>
        </p:nvSpPr>
        <p:spPr>
          <a:xfrm>
            <a:off x="381000" y="2798713"/>
            <a:ext cx="2006501" cy="228600"/>
          </a:xfrm>
          <a:prstGeom prst="rect">
            <a:avLst/>
          </a:prstGeom>
          <a:solidFill>
            <a:srgbClr val="F1C40F">
              <a:alpha val="12000"/>
            </a:srgbClr>
          </a:solidFill>
          <a:ln w="9525">
            <a:solidFill>
              <a:srgbClr val="F1C40F"/>
            </a:solidFill>
          </a:ln>
        </p:spPr>
        <p:txBody>
          <a:bodyPr wrap="square" rtlCol="0" anchor="ctr"/>
          <a:lstStyle/>
          <a:p>
            <a:pPr indent="0" marL="0">
              <a:buNone/>
            </a:pPr>
            <a:endParaRPr lang="en-US" dirty="0"/>
          </a:p>
        </p:txBody>
      </p:sp>
      <p:sp>
        <p:nvSpPr>
          <p:cNvPr id="27" name="Text 25"/>
          <p:cNvSpPr/>
          <p:nvPr/>
        </p:nvSpPr>
        <p:spPr>
          <a:xfrm>
            <a:off x="492026" y="2846338"/>
            <a:ext cx="1820138" cy="133350"/>
          </a:xfrm>
          <a:prstGeom prst="rect">
            <a:avLst/>
          </a:prstGeom>
          <a:noFill/>
          <a:ln/>
        </p:spPr>
        <p:txBody>
          <a:bodyPr wrap="square" lIns="0" tIns="0" rIns="0" bIns="0" rtlCol="0" anchor="t"/>
          <a:lstStyle/>
          <a:p>
            <a:pPr algn="l" indent="0" marL="0">
              <a:buNone/>
            </a:pPr>
            <a:r>
              <a:rPr lang="en-US" sz="900" dirty="0">
                <a:solidFill>
                  <a:srgbClr val="F1C40F"/>
                </a:solidFill>
                <a:latin typeface="Arial" pitchFamily="34" charset="0"/>
                <a:ea typeface="Arial" pitchFamily="34" charset="-122"/>
                <a:cs typeface="Arial" pitchFamily="34" charset="-120"/>
              </a:rPr>
              <a:t>OpenClawAgents</a:t>
            </a:r>
            <a:endParaRPr lang="en-US" sz="900" dirty="0"/>
          </a:p>
        </p:txBody>
      </p:sp>
      <p:sp>
        <p:nvSpPr>
          <p:cNvPr id="28" name="Text 26"/>
          <p:cNvSpPr/>
          <p:nvPr/>
        </p:nvSpPr>
        <p:spPr>
          <a:xfrm>
            <a:off x="2463701" y="2798713"/>
            <a:ext cx="2006650" cy="228600"/>
          </a:xfrm>
          <a:prstGeom prst="rect">
            <a:avLst/>
          </a:prstGeom>
          <a:solidFill>
            <a:srgbClr val="9B59B6">
              <a:alpha val="12000"/>
            </a:srgbClr>
          </a:solidFill>
          <a:ln w="9525">
            <a:solidFill>
              <a:srgbClr val="9B59B6"/>
            </a:solidFill>
          </a:ln>
        </p:spPr>
        <p:txBody>
          <a:bodyPr wrap="square" rtlCol="0" anchor="ctr"/>
          <a:lstStyle/>
          <a:p>
            <a:pPr indent="0" marL="0">
              <a:buNone/>
            </a:pPr>
            <a:endParaRPr lang="en-US" dirty="0"/>
          </a:p>
        </p:txBody>
      </p:sp>
      <p:sp>
        <p:nvSpPr>
          <p:cNvPr id="29" name="Text 27"/>
          <p:cNvSpPr/>
          <p:nvPr/>
        </p:nvSpPr>
        <p:spPr>
          <a:xfrm>
            <a:off x="2574727" y="2846338"/>
            <a:ext cx="1820290" cy="133350"/>
          </a:xfrm>
          <a:prstGeom prst="rect">
            <a:avLst/>
          </a:prstGeom>
          <a:noFill/>
          <a:ln/>
        </p:spPr>
        <p:txBody>
          <a:bodyPr wrap="square" lIns="0" tIns="0" rIns="0" bIns="0" rtlCol="0" anchor="t"/>
          <a:lstStyle/>
          <a:p>
            <a:pPr algn="l" indent="0" marL="0">
              <a:buNone/>
            </a:pPr>
            <a:r>
              <a:rPr lang="en-US" sz="900" dirty="0">
                <a:solidFill>
                  <a:srgbClr val="9B59B6"/>
                </a:solidFill>
                <a:latin typeface="Arial" pitchFamily="34" charset="0"/>
                <a:ea typeface="Arial" pitchFamily="34" charset="-122"/>
                <a:cs typeface="Arial" pitchFamily="34" charset="-120"/>
              </a:rPr>
              <a:t>manim</a:t>
            </a:r>
            <a:endParaRPr lang="en-US" sz="900" dirty="0"/>
          </a:p>
        </p:txBody>
      </p:sp>
      <p:sp>
        <p:nvSpPr>
          <p:cNvPr id="30" name="Text 28"/>
          <p:cNvSpPr/>
          <p:nvPr/>
        </p:nvSpPr>
        <p:spPr>
          <a:xfrm>
            <a:off x="4673501" y="1122908"/>
            <a:ext cx="4171289" cy="114300"/>
          </a:xfrm>
          <a:prstGeom prst="rect">
            <a:avLst/>
          </a:prstGeom>
          <a:noFill/>
          <a:ln/>
        </p:spPr>
        <p:txBody>
          <a:bodyPr wrap="square" lIns="0" tIns="0" rIns="0" bIns="0" rtlCol="0" anchor="t"/>
          <a:lstStyle/>
          <a:p>
            <a:pPr algn="l" indent="0" marL="0">
              <a:spcBef>
                <a:spcPts val="800"/>
              </a:spcBef>
              <a:spcAft>
                <a:spcPts val="800"/>
              </a:spcAft>
              <a:buNone/>
            </a:pPr>
            <a:r>
              <a:rPr lang="en-US" sz="800" dirty="0">
                <a:solidFill>
                  <a:srgbClr val="9B9B9B"/>
                </a:solidFill>
                <a:latin typeface="Arial" pitchFamily="34" charset="0"/>
                <a:ea typeface="Arial" pitchFamily="34" charset="-122"/>
                <a:cs typeface="Arial" pitchFamily="34" charset="-120"/>
              </a:rPr>
              <a:t>KEY COMMANDS</a:t>
            </a:r>
            <a:endParaRPr lang="en-US" sz="800" dirty="0"/>
          </a:p>
        </p:txBody>
      </p:sp>
      <p:sp>
        <p:nvSpPr>
          <p:cNvPr id="31" name="Text 29"/>
          <p:cNvSpPr/>
          <p:nvPr/>
        </p:nvSpPr>
        <p:spPr>
          <a:xfrm>
            <a:off x="4673501" y="1338709"/>
            <a:ext cx="4089499" cy="822127"/>
          </a:xfrm>
          <a:prstGeom prst="rect">
            <a:avLst/>
          </a:prstGeom>
          <a:solidFill>
            <a:srgbClr val="0D1117"/>
          </a:solidFill>
          <a:ln/>
        </p:spPr>
        <p:txBody>
          <a:bodyPr wrap="square" rtlCol="0" anchor="ctr"/>
          <a:lstStyle/>
          <a:p>
            <a:pPr indent="0" marL="0">
              <a:buNone/>
            </a:pPr>
            <a:endParaRPr lang="en-US" dirty="0"/>
          </a:p>
        </p:txBody>
      </p:sp>
      <p:sp>
        <p:nvSpPr>
          <p:cNvPr id="32" name="Shape 30"/>
          <p:cNvSpPr/>
          <p:nvPr/>
        </p:nvSpPr>
        <p:spPr>
          <a:xfrm>
            <a:off x="4687788" y="1338709"/>
            <a:ext cx="0" cy="822127"/>
          </a:xfrm>
          <a:prstGeom prst="line">
            <a:avLst/>
          </a:prstGeom>
          <a:noFill/>
          <a:ln w="28575">
            <a:solidFill>
              <a:srgbClr val="00D4FF"/>
            </a:solidFill>
            <a:prstDash val="solid"/>
          </a:ln>
        </p:spPr>
      </p:sp>
      <p:sp>
        <p:nvSpPr>
          <p:cNvPr id="33" name="Text 31"/>
          <p:cNvSpPr/>
          <p:nvPr/>
        </p:nvSpPr>
        <p:spPr>
          <a:xfrm>
            <a:off x="4829026" y="1554510"/>
            <a:ext cx="3883164" cy="142875"/>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79C0FF"/>
                </a:solidFill>
                <a:latin typeface="Courier New" pitchFamily="34" charset="0"/>
                <a:ea typeface="Courier New" pitchFamily="34" charset="-122"/>
                <a:cs typeface="Courier New" pitchFamily="34" charset="-120"/>
              </a:rPr>
              <a:t>/literature-review</a:t>
            </a:r>
            <a:endParaRPr lang="en-US" sz="1000" dirty="0"/>
          </a:p>
        </p:txBody>
      </p:sp>
      <p:sp>
        <p:nvSpPr>
          <p:cNvPr id="34" name="Text 32"/>
          <p:cNvSpPr/>
          <p:nvPr/>
        </p:nvSpPr>
        <p:spPr>
          <a:xfrm>
            <a:off x="4829026" y="1824335"/>
            <a:ext cx="3883164" cy="133350"/>
          </a:xfrm>
          <a:prstGeom prst="rect">
            <a:avLst/>
          </a:prstGeom>
          <a:noFill/>
          <a:ln/>
        </p:spPr>
        <p:txBody>
          <a:bodyPr wrap="square" lIns="0" tIns="0" rIns="0" bIns="0" rtlCol="0" anchor="t"/>
          <a:lstStyle/>
          <a:p>
            <a:pPr algn="l" indent="0" marL="0">
              <a:spcBef>
                <a:spcPts val="200"/>
              </a:spcBef>
              <a:spcAft>
                <a:spcPts val="900"/>
              </a:spcAft>
              <a:buNone/>
            </a:pPr>
            <a:r>
              <a:rPr lang="en-US" sz="900" dirty="0">
                <a:solidFill>
                  <a:srgbClr val="8B949E"/>
                </a:solidFill>
                <a:latin typeface="Arial" pitchFamily="34" charset="0"/>
                <a:ea typeface="Arial" pitchFamily="34" charset="-122"/>
                <a:cs typeface="Arial" pitchFamily="34" charset="-120"/>
              </a:rPr>
              <a:t>Systematic PubMed + Semantic Scholar review</a:t>
            </a:r>
            <a:endParaRPr lang="en-US" sz="900" dirty="0"/>
          </a:p>
        </p:txBody>
      </p:sp>
      <p:sp>
        <p:nvSpPr>
          <p:cNvPr id="35" name="Text 33"/>
          <p:cNvSpPr/>
          <p:nvPr/>
        </p:nvSpPr>
        <p:spPr>
          <a:xfrm>
            <a:off x="4673501" y="2249686"/>
            <a:ext cx="4089499" cy="822127"/>
          </a:xfrm>
          <a:prstGeom prst="rect">
            <a:avLst/>
          </a:prstGeom>
          <a:solidFill>
            <a:srgbClr val="0D1117"/>
          </a:solidFill>
          <a:ln/>
        </p:spPr>
        <p:txBody>
          <a:bodyPr wrap="square" rtlCol="0" anchor="ctr"/>
          <a:lstStyle/>
          <a:p>
            <a:pPr indent="0" marL="0">
              <a:buNone/>
            </a:pPr>
            <a:endParaRPr lang="en-US" dirty="0"/>
          </a:p>
        </p:txBody>
      </p:sp>
      <p:sp>
        <p:nvSpPr>
          <p:cNvPr id="36" name="Shape 34"/>
          <p:cNvSpPr/>
          <p:nvPr/>
        </p:nvSpPr>
        <p:spPr>
          <a:xfrm>
            <a:off x="4687788" y="2249686"/>
            <a:ext cx="0" cy="822127"/>
          </a:xfrm>
          <a:prstGeom prst="line">
            <a:avLst/>
          </a:prstGeom>
          <a:noFill/>
          <a:ln w="28575">
            <a:solidFill>
              <a:srgbClr val="00D4FF"/>
            </a:solidFill>
            <a:prstDash val="solid"/>
          </a:ln>
        </p:spPr>
      </p:sp>
      <p:sp>
        <p:nvSpPr>
          <p:cNvPr id="37" name="Text 35"/>
          <p:cNvSpPr/>
          <p:nvPr/>
        </p:nvSpPr>
        <p:spPr>
          <a:xfrm>
            <a:off x="4829026" y="2465487"/>
            <a:ext cx="3883164" cy="142875"/>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79C0FF"/>
                </a:solidFill>
                <a:latin typeface="Courier New" pitchFamily="34" charset="0"/>
                <a:ea typeface="Courier New" pitchFamily="34" charset="-122"/>
                <a:cs typeface="Courier New" pitchFamily="34" charset="-120"/>
              </a:rPr>
              <a:t>/nstc-grant</a:t>
            </a:r>
            <a:endParaRPr lang="en-US" sz="1000" dirty="0"/>
          </a:p>
        </p:txBody>
      </p:sp>
      <p:sp>
        <p:nvSpPr>
          <p:cNvPr id="38" name="Text 36"/>
          <p:cNvSpPr/>
          <p:nvPr/>
        </p:nvSpPr>
        <p:spPr>
          <a:xfrm>
            <a:off x="4829026" y="2735312"/>
            <a:ext cx="3883164" cy="133350"/>
          </a:xfrm>
          <a:prstGeom prst="rect">
            <a:avLst/>
          </a:prstGeom>
          <a:noFill/>
          <a:ln/>
        </p:spPr>
        <p:txBody>
          <a:bodyPr wrap="square" lIns="0" tIns="0" rIns="0" bIns="0" rtlCol="0" anchor="t"/>
          <a:lstStyle/>
          <a:p>
            <a:pPr algn="l" indent="0" marL="0">
              <a:spcBef>
                <a:spcPts val="200"/>
              </a:spcBef>
              <a:spcAft>
                <a:spcPts val="900"/>
              </a:spcAft>
              <a:buNone/>
            </a:pPr>
            <a:r>
              <a:rPr lang="en-US" sz="900" dirty="0">
                <a:solidFill>
                  <a:srgbClr val="8B949E"/>
                </a:solidFill>
                <a:latin typeface="Arial" pitchFamily="34" charset="0"/>
                <a:ea typeface="Arial" pitchFamily="34" charset="-122"/>
                <a:cs typeface="Arial" pitchFamily="34" charset="-120"/>
              </a:rPr>
              <a:t>NSTC grant writing — structure, budget, timeline</a:t>
            </a:r>
            <a:endParaRPr lang="en-US" sz="900" dirty="0"/>
          </a:p>
        </p:txBody>
      </p:sp>
      <p:sp>
        <p:nvSpPr>
          <p:cNvPr id="39" name="Text 37"/>
          <p:cNvSpPr/>
          <p:nvPr/>
        </p:nvSpPr>
        <p:spPr>
          <a:xfrm>
            <a:off x="4673501" y="3160663"/>
            <a:ext cx="4089499" cy="822127"/>
          </a:xfrm>
          <a:prstGeom prst="rect">
            <a:avLst/>
          </a:prstGeom>
          <a:solidFill>
            <a:srgbClr val="0D1117"/>
          </a:solidFill>
          <a:ln/>
        </p:spPr>
        <p:txBody>
          <a:bodyPr wrap="square" rtlCol="0" anchor="ctr"/>
          <a:lstStyle/>
          <a:p>
            <a:pPr indent="0" marL="0">
              <a:buNone/>
            </a:pPr>
            <a:endParaRPr lang="en-US" dirty="0"/>
          </a:p>
        </p:txBody>
      </p:sp>
      <p:sp>
        <p:nvSpPr>
          <p:cNvPr id="40" name="Shape 38"/>
          <p:cNvSpPr/>
          <p:nvPr/>
        </p:nvSpPr>
        <p:spPr>
          <a:xfrm>
            <a:off x="4687788" y="3160663"/>
            <a:ext cx="0" cy="822127"/>
          </a:xfrm>
          <a:prstGeom prst="line">
            <a:avLst/>
          </a:prstGeom>
          <a:noFill/>
          <a:ln w="28575">
            <a:solidFill>
              <a:srgbClr val="00D4FF"/>
            </a:solidFill>
            <a:prstDash val="solid"/>
          </a:ln>
        </p:spPr>
      </p:sp>
      <p:sp>
        <p:nvSpPr>
          <p:cNvPr id="41" name="Text 39"/>
          <p:cNvSpPr/>
          <p:nvPr/>
        </p:nvSpPr>
        <p:spPr>
          <a:xfrm>
            <a:off x="4829026" y="3376464"/>
            <a:ext cx="3883164" cy="142875"/>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79C0FF"/>
                </a:solidFill>
                <a:latin typeface="Courier New" pitchFamily="34" charset="0"/>
                <a:ea typeface="Courier New" pitchFamily="34" charset="-122"/>
                <a:cs typeface="Courier New" pitchFamily="34" charset="-120"/>
              </a:rPr>
              <a:t>/deep-peer-review</a:t>
            </a:r>
            <a:endParaRPr lang="en-US" sz="1000" dirty="0"/>
          </a:p>
        </p:txBody>
      </p:sp>
      <p:sp>
        <p:nvSpPr>
          <p:cNvPr id="42" name="Text 40"/>
          <p:cNvSpPr/>
          <p:nvPr/>
        </p:nvSpPr>
        <p:spPr>
          <a:xfrm>
            <a:off x="4829026" y="3646289"/>
            <a:ext cx="3883164" cy="133350"/>
          </a:xfrm>
          <a:prstGeom prst="rect">
            <a:avLst/>
          </a:prstGeom>
          <a:noFill/>
          <a:ln/>
        </p:spPr>
        <p:txBody>
          <a:bodyPr wrap="square" lIns="0" tIns="0" rIns="0" bIns="0" rtlCol="0" anchor="t"/>
          <a:lstStyle/>
          <a:p>
            <a:pPr algn="l" indent="0" marL="0">
              <a:spcBef>
                <a:spcPts val="200"/>
              </a:spcBef>
              <a:spcAft>
                <a:spcPts val="900"/>
              </a:spcAft>
              <a:buNone/>
            </a:pPr>
            <a:r>
              <a:rPr lang="en-US" sz="900" dirty="0">
                <a:solidFill>
                  <a:srgbClr val="8B949E"/>
                </a:solidFill>
                <a:latin typeface="Arial" pitchFamily="34" charset="0"/>
                <a:ea typeface="Arial" pitchFamily="34" charset="-122"/>
                <a:cs typeface="Arial" pitchFamily="34" charset="-120"/>
              </a:rPr>
              <a:t>4-dimension critique via parallel agent teams</a:t>
            </a:r>
            <a:endParaRPr lang="en-US" sz="900" dirty="0"/>
          </a:p>
        </p:txBody>
      </p:sp>
      <p:sp>
        <p:nvSpPr>
          <p:cNvPr id="43" name="Text 41"/>
          <p:cNvSpPr/>
          <p:nvPr/>
        </p:nvSpPr>
        <p:spPr>
          <a:xfrm>
            <a:off x="4673501" y="4071640"/>
            <a:ext cx="4089499" cy="822127"/>
          </a:xfrm>
          <a:prstGeom prst="rect">
            <a:avLst/>
          </a:prstGeom>
          <a:solidFill>
            <a:srgbClr val="0D1117"/>
          </a:solidFill>
          <a:ln/>
        </p:spPr>
        <p:txBody>
          <a:bodyPr wrap="square" rtlCol="0" anchor="ctr"/>
          <a:lstStyle/>
          <a:p>
            <a:pPr indent="0" marL="0">
              <a:buNone/>
            </a:pPr>
            <a:endParaRPr lang="en-US" dirty="0"/>
          </a:p>
        </p:txBody>
      </p:sp>
      <p:sp>
        <p:nvSpPr>
          <p:cNvPr id="44" name="Shape 42"/>
          <p:cNvSpPr/>
          <p:nvPr/>
        </p:nvSpPr>
        <p:spPr>
          <a:xfrm>
            <a:off x="4687788" y="4071640"/>
            <a:ext cx="0" cy="822127"/>
          </a:xfrm>
          <a:prstGeom prst="line">
            <a:avLst/>
          </a:prstGeom>
          <a:noFill/>
          <a:ln w="28575">
            <a:solidFill>
              <a:srgbClr val="00D4FF"/>
            </a:solidFill>
            <a:prstDash val="solid"/>
          </a:ln>
        </p:spPr>
      </p:sp>
      <p:sp>
        <p:nvSpPr>
          <p:cNvPr id="45" name="Text 43"/>
          <p:cNvSpPr/>
          <p:nvPr/>
        </p:nvSpPr>
        <p:spPr>
          <a:xfrm>
            <a:off x="4829026" y="4287441"/>
            <a:ext cx="3883164" cy="142875"/>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79C0FF"/>
                </a:solidFill>
                <a:latin typeface="Courier New" pitchFamily="34" charset="0"/>
                <a:ea typeface="Courier New" pitchFamily="34" charset="-122"/>
                <a:cs typeface="Courier New" pitchFamily="34" charset="-120"/>
              </a:rPr>
              <a:t>/opd-note</a:t>
            </a:r>
            <a:endParaRPr lang="en-US" sz="1000" dirty="0"/>
          </a:p>
        </p:txBody>
      </p:sp>
      <p:sp>
        <p:nvSpPr>
          <p:cNvPr id="46" name="Text 44"/>
          <p:cNvSpPr/>
          <p:nvPr/>
        </p:nvSpPr>
        <p:spPr>
          <a:xfrm>
            <a:off x="4829026" y="4557266"/>
            <a:ext cx="3883164" cy="133350"/>
          </a:xfrm>
          <a:prstGeom prst="rect">
            <a:avLst/>
          </a:prstGeom>
          <a:noFill/>
          <a:ln/>
        </p:spPr>
        <p:txBody>
          <a:bodyPr wrap="square" lIns="0" tIns="0" rIns="0" bIns="0" rtlCol="0" anchor="t"/>
          <a:lstStyle/>
          <a:p>
            <a:pPr algn="l" indent="0" marL="0">
              <a:spcBef>
                <a:spcPts val="200"/>
              </a:spcBef>
              <a:spcAft>
                <a:spcPts val="900"/>
              </a:spcAft>
              <a:buNone/>
            </a:pPr>
            <a:r>
              <a:rPr lang="en-US" sz="900" dirty="0">
                <a:solidFill>
                  <a:srgbClr val="8B949E"/>
                </a:solidFill>
                <a:latin typeface="Arial" pitchFamily="34" charset="0"/>
                <a:ea typeface="Arial" pitchFamily="34" charset="-122"/>
                <a:cs typeface="Arial" pitchFamily="34" charset="-120"/>
              </a:rPr>
              <a:t>Screenshot → OCR → Google Doc (fully automated)</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50A1E"/>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9B59B6"/>
          </a:solidFill>
          <a:ln/>
        </p:spPr>
        <p:txBody>
          <a:bodyPr wrap="square" rtlCol="0" anchor="ctr"/>
          <a:lstStyle/>
          <a:p>
            <a:pPr indent="0" marL="0">
              <a:buNone/>
            </a:pPr>
            <a:endParaRPr lang="en-US" dirty="0"/>
          </a:p>
        </p:txBody>
      </p:sp>
      <p:sp>
        <p:nvSpPr>
          <p:cNvPr id="3" name="Text 1"/>
          <p:cNvSpPr/>
          <p:nvPr/>
        </p:nvSpPr>
        <p:spPr>
          <a:xfrm>
            <a:off x="279350" y="1296442"/>
            <a:ext cx="3497580" cy="133350"/>
          </a:xfrm>
          <a:prstGeom prst="rect">
            <a:avLst/>
          </a:prstGeom>
          <a:noFill/>
          <a:ln/>
        </p:spPr>
        <p:txBody>
          <a:bodyPr wrap="square" lIns="0" tIns="0" rIns="0" bIns="0" rtlCol="0" anchor="t"/>
          <a:lstStyle/>
          <a:p>
            <a:pPr algn="l" indent="0" marL="0">
              <a:spcBef>
                <a:spcPts val="900"/>
              </a:spcBef>
              <a:spcAft>
                <a:spcPts val="800"/>
              </a:spcAft>
              <a:buNone/>
            </a:pPr>
            <a:r>
              <a:rPr lang="en-US" sz="900" dirty="0">
                <a:solidFill>
                  <a:srgbClr val="9B59B6"/>
                </a:solidFill>
                <a:latin typeface="Arial" pitchFamily="34" charset="0"/>
                <a:ea typeface="Arial" pitchFamily="34" charset="-122"/>
                <a:cs typeface="Arial" pitchFamily="34" charset="-120"/>
              </a:rPr>
              <a:t>PART 4 — AGENT BUILDING</a:t>
            </a:r>
            <a:endParaRPr lang="en-US" sz="900" dirty="0"/>
          </a:p>
        </p:txBody>
      </p:sp>
      <p:sp>
        <p:nvSpPr>
          <p:cNvPr id="4" name="Text 2"/>
          <p:cNvSpPr/>
          <p:nvPr/>
        </p:nvSpPr>
        <p:spPr>
          <a:xfrm>
            <a:off x="279350" y="1531293"/>
            <a:ext cx="3497580" cy="335161"/>
          </a:xfrm>
          <a:prstGeom prst="rect">
            <a:avLst/>
          </a:prstGeom>
          <a:noFill/>
          <a:ln/>
        </p:spPr>
        <p:txBody>
          <a:bodyPr wrap="square" lIns="0" tIns="0" rIns="0" bIns="0" rtlCol="0" anchor="t"/>
          <a:lstStyle/>
          <a:p>
            <a:pPr algn="l" indent="0" marL="0">
              <a:lnSpc>
                <a:spcPts val="2640"/>
              </a:lnSpc>
              <a:spcAft>
                <a:spcPts val="1000"/>
              </a:spcAft>
              <a:buNone/>
            </a:pPr>
            <a:r>
              <a:rPr lang="en-US" sz="2200" dirty="0">
                <a:solidFill>
                  <a:srgbClr val="FFFFFF"/>
                </a:solidFill>
                <a:latin typeface="Arial" pitchFamily="34" charset="0"/>
                <a:ea typeface="Arial" pitchFamily="34" charset="-122"/>
                <a:cs typeface="Arial" pitchFamily="34" charset="-120"/>
              </a:rPr>
              <a:t>What is an </a:t>
            </a:r>
            <a:pPr algn="l" indent="0" marL="0">
              <a:lnSpc>
                <a:spcPts val="2640"/>
              </a:lnSpc>
              <a:spcAft>
                <a:spcPts val="1000"/>
              </a:spcAft>
              <a:buNone/>
            </a:pPr>
            <a:r>
              <a:rPr lang="en-US" sz="2200" b="1" dirty="0">
                <a:solidFill>
                  <a:srgbClr val="9B59B6"/>
                </a:solidFill>
                <a:latin typeface="Arial" pitchFamily="34" charset="0"/>
                <a:ea typeface="Arial" pitchFamily="34" charset="-122"/>
                <a:cs typeface="Arial" pitchFamily="34" charset="-120"/>
              </a:rPr>
              <a:t>AI Agent</a:t>
            </a:r>
            <a:pPr algn="l" indent="0" marL="0">
              <a:lnSpc>
                <a:spcPts val="2640"/>
              </a:lnSpc>
              <a:spcAft>
                <a:spcPts val="1000"/>
              </a:spcAft>
              <a:buNone/>
            </a:pPr>
            <a:r>
              <a:rPr lang="en-US" sz="2200" dirty="0">
                <a:solidFill>
                  <a:srgbClr val="FFFFFF"/>
                </a:solidFill>
                <a:latin typeface="Arial" pitchFamily="34" charset="0"/>
                <a:ea typeface="Arial" pitchFamily="34" charset="-122"/>
                <a:cs typeface="Arial" pitchFamily="34" charset="-120"/>
              </a:rPr>
              <a:t>?</a:t>
            </a:r>
            <a:endParaRPr lang="en-US" sz="2200" dirty="0"/>
          </a:p>
        </p:txBody>
      </p:sp>
      <p:sp>
        <p:nvSpPr>
          <p:cNvPr id="5" name="Text 3"/>
          <p:cNvSpPr/>
          <p:nvPr/>
        </p:nvSpPr>
        <p:spPr>
          <a:xfrm>
            <a:off x="279350" y="2133005"/>
            <a:ext cx="3497580" cy="628650"/>
          </a:xfrm>
          <a:prstGeom prst="rect">
            <a:avLst/>
          </a:prstGeom>
          <a:noFill/>
          <a:ln/>
        </p:spPr>
        <p:txBody>
          <a:bodyPr wrap="square" lIns="0" tIns="0" rIns="0" bIns="0" rtlCol="0" anchor="t"/>
          <a:lstStyle/>
          <a:p>
            <a:pPr algn="l" indent="0" marL="0">
              <a:lnSpc>
                <a:spcPts val="1650"/>
              </a:lnSpc>
              <a:spcBef>
                <a:spcPts val="1100"/>
              </a:spcBef>
              <a:spcAft>
                <a:spcPts val="1000"/>
              </a:spcAft>
              <a:buNone/>
            </a:pPr>
            <a:r>
              <a:rPr lang="en-US" sz="1100" dirty="0">
                <a:solidFill>
                  <a:srgbClr val="B0BEC5"/>
                </a:solidFill>
                <a:latin typeface="Arial" pitchFamily="34" charset="0"/>
                <a:ea typeface="Arial" pitchFamily="34" charset="-122"/>
                <a:cs typeface="Arial" pitchFamily="34" charset="-120"/>
              </a:rPr>
              <a:t>An agent is an AI that doesn't just answer — it takes a goal, makes a plan, uses tools, and executes until the job is done.</a:t>
            </a:r>
            <a:endParaRPr lang="en-US" sz="1100" dirty="0"/>
          </a:p>
        </p:txBody>
      </p:sp>
      <p:sp>
        <p:nvSpPr>
          <p:cNvPr id="6" name="Text 4"/>
          <p:cNvSpPr/>
          <p:nvPr/>
        </p:nvSpPr>
        <p:spPr>
          <a:xfrm>
            <a:off x="279350" y="2888605"/>
            <a:ext cx="3429000" cy="1072753"/>
          </a:xfrm>
          <a:prstGeom prst="rect">
            <a:avLst/>
          </a:prstGeom>
          <a:solidFill>
            <a:srgbClr val="9B59B6">
              <a:alpha val="10000"/>
            </a:srgbClr>
          </a:solidFill>
          <a:ln w="9525">
            <a:solidFill>
              <a:srgbClr val="9B59B6"/>
            </a:solidFill>
          </a:ln>
        </p:spPr>
        <p:txBody>
          <a:bodyPr wrap="square" rtlCol="0" anchor="ctr"/>
          <a:lstStyle/>
          <a:p>
            <a:pPr indent="0" marL="0">
              <a:buNone/>
            </a:pPr>
            <a:endParaRPr lang="en-US" dirty="0"/>
          </a:p>
        </p:txBody>
      </p:sp>
      <p:sp>
        <p:nvSpPr>
          <p:cNvPr id="7" name="Text 5"/>
          <p:cNvSpPr/>
          <p:nvPr/>
        </p:nvSpPr>
        <p:spPr>
          <a:xfrm>
            <a:off x="415826" y="3126581"/>
            <a:ext cx="3219170" cy="114300"/>
          </a:xfrm>
          <a:prstGeom prst="rect">
            <a:avLst/>
          </a:prstGeom>
          <a:noFill/>
          <a:ln/>
        </p:spPr>
        <p:txBody>
          <a:bodyPr wrap="square" lIns="0" tIns="0" rIns="0" bIns="0" rtlCol="0" anchor="t"/>
          <a:lstStyle/>
          <a:p>
            <a:pPr algn="l" indent="0" marL="0">
              <a:spcBef>
                <a:spcPts val="800"/>
              </a:spcBef>
              <a:spcAft>
                <a:spcPts val="400"/>
              </a:spcAft>
              <a:buNone/>
            </a:pPr>
            <a:r>
              <a:rPr lang="en-US" sz="800" dirty="0">
                <a:solidFill>
                  <a:srgbClr val="9B59B6"/>
                </a:solidFill>
                <a:latin typeface="Arial" pitchFamily="34" charset="0"/>
                <a:ea typeface="Arial" pitchFamily="34" charset="-122"/>
                <a:cs typeface="Arial" pitchFamily="34" charset="-120"/>
              </a:rPr>
              <a:t>MEDICAL ANALOGY</a:t>
            </a:r>
            <a:endParaRPr lang="en-US" sz="800" dirty="0"/>
          </a:p>
        </p:txBody>
      </p:sp>
      <p:sp>
        <p:nvSpPr>
          <p:cNvPr id="8" name="Text 6"/>
          <p:cNvSpPr/>
          <p:nvPr/>
        </p:nvSpPr>
        <p:spPr>
          <a:xfrm>
            <a:off x="415826" y="3380482"/>
            <a:ext cx="3219170" cy="304800"/>
          </a:xfrm>
          <a:prstGeom prst="rect">
            <a:avLst/>
          </a:prstGeom>
          <a:noFill/>
          <a:ln/>
        </p:spPr>
        <p:txBody>
          <a:bodyPr wrap="square" lIns="0" tIns="0" rIns="0" bIns="0" rtlCol="0" anchor="t"/>
          <a:lstStyle/>
          <a:p>
            <a:pPr algn="l" indent="0" marL="0">
              <a:spcBef>
                <a:spcPts val="1100"/>
              </a:spcBef>
              <a:spcAft>
                <a:spcPts val="1100"/>
              </a:spcAft>
              <a:buNone/>
            </a:pPr>
            <a:r>
              <a:rPr lang="en-US" sz="1100" i="1" dirty="0">
                <a:solidFill>
                  <a:srgbClr val="E0E0E0"/>
                </a:solidFill>
                <a:latin typeface="Arial" pitchFamily="34" charset="0"/>
                <a:ea typeface="Arial" pitchFamily="34" charset="-122"/>
                <a:cs typeface="Arial" pitchFamily="34" charset="-120"/>
              </a:rPr>
              <a:t>"Not a reference book. A resident who reads the chart, orders labs, and follows up."</a:t>
            </a:r>
            <a:endParaRPr lang="en-US" sz="1100" dirty="0"/>
          </a:p>
        </p:txBody>
      </p:sp>
      <p:sp>
        <p:nvSpPr>
          <p:cNvPr id="9" name="Text 7"/>
          <p:cNvSpPr/>
          <p:nvPr/>
        </p:nvSpPr>
        <p:spPr>
          <a:xfrm>
            <a:off x="3987701" y="0"/>
            <a:ext cx="5156299" cy="5143500"/>
          </a:xfrm>
          <a:prstGeom prst="rect">
            <a:avLst/>
          </a:prstGeom>
          <a:solidFill>
            <a:srgbClr val="9B59B6">
              <a:alpha val="5000"/>
            </a:srgbClr>
          </a:solidFill>
          <a:ln/>
        </p:spPr>
        <p:txBody>
          <a:bodyPr wrap="square" rtlCol="0" anchor="ctr"/>
          <a:lstStyle/>
          <a:p>
            <a:pPr indent="0" marL="0">
              <a:buNone/>
            </a:pPr>
            <a:endParaRPr lang="en-US" dirty="0"/>
          </a:p>
        </p:txBody>
      </p:sp>
      <p:sp>
        <p:nvSpPr>
          <p:cNvPr id="10" name="Shape 8"/>
          <p:cNvSpPr/>
          <p:nvPr/>
        </p:nvSpPr>
        <p:spPr>
          <a:xfrm>
            <a:off x="3997226" y="0"/>
            <a:ext cx="0" cy="5143500"/>
          </a:xfrm>
          <a:prstGeom prst="line">
            <a:avLst/>
          </a:prstGeom>
          <a:noFill/>
          <a:ln w="19050">
            <a:solidFill>
              <a:srgbClr val="9B59B6"/>
            </a:solidFill>
            <a:prstDash val="solid"/>
          </a:ln>
        </p:spPr>
      </p:sp>
      <p:sp>
        <p:nvSpPr>
          <p:cNvPr id="11" name="Text 9"/>
          <p:cNvSpPr/>
          <p:nvPr/>
        </p:nvSpPr>
        <p:spPr>
          <a:xfrm>
            <a:off x="4235351" y="679847"/>
            <a:ext cx="4773650" cy="133350"/>
          </a:xfrm>
          <a:prstGeom prst="rect">
            <a:avLst/>
          </a:prstGeom>
          <a:noFill/>
          <a:ln/>
        </p:spPr>
        <p:txBody>
          <a:bodyPr wrap="square" lIns="0" tIns="0" rIns="0" bIns="0" rtlCol="0" anchor="t"/>
          <a:lstStyle/>
          <a:p>
            <a:pPr algn="l" indent="0" marL="0">
              <a:spcBef>
                <a:spcPts val="900"/>
              </a:spcBef>
              <a:spcAft>
                <a:spcPts val="800"/>
              </a:spcAft>
              <a:buNone/>
            </a:pPr>
            <a:r>
              <a:rPr lang="en-US" sz="900" dirty="0">
                <a:solidFill>
                  <a:srgbClr val="9B59B6"/>
                </a:solidFill>
                <a:latin typeface="Arial" pitchFamily="34" charset="0"/>
                <a:ea typeface="Arial" pitchFamily="34" charset="-122"/>
                <a:cs typeface="Arial" pitchFamily="34" charset="-120"/>
              </a:rPr>
              <a:t>CHATBOT vs AGENT</a:t>
            </a:r>
            <a:endParaRPr lang="en-US" sz="900" dirty="0"/>
          </a:p>
        </p:txBody>
      </p:sp>
      <p:sp>
        <p:nvSpPr>
          <p:cNvPr id="12" name="Text 10"/>
          <p:cNvSpPr/>
          <p:nvPr/>
        </p:nvSpPr>
        <p:spPr>
          <a:xfrm>
            <a:off x="4235351" y="1041648"/>
            <a:ext cx="1424839" cy="142875"/>
          </a:xfrm>
          <a:prstGeom prst="rect">
            <a:avLst/>
          </a:prstGeom>
          <a:noFill/>
          <a:ln/>
        </p:spPr>
        <p:txBody>
          <a:bodyPr wrap="square" lIns="0" tIns="0" rIns="0" bIns="0" rtlCol="0" anchor="t"/>
          <a:lstStyle/>
          <a:p>
            <a:pPr algn="l" indent="0" marL="0">
              <a:spcBef>
                <a:spcPts val="1000"/>
              </a:spcBef>
              <a:spcAft>
                <a:spcPts val="1000"/>
              </a:spcAft>
              <a:buNone/>
            </a:pPr>
            <a:r>
              <a:rPr lang="en-US" sz="1000" b="1" dirty="0">
                <a:solidFill>
                  <a:srgbClr val="E74C3C"/>
                </a:solidFill>
                <a:latin typeface="Arial" pitchFamily="34" charset="0"/>
                <a:ea typeface="Arial" pitchFamily="34" charset="-122"/>
                <a:cs typeface="Arial" pitchFamily="34" charset="-120"/>
              </a:rPr>
              <a:t>CHATBOT asks:</a:t>
            </a:r>
            <a:endParaRPr lang="en-US" sz="1000" dirty="0"/>
          </a:p>
        </p:txBody>
      </p:sp>
      <p:sp>
        <p:nvSpPr>
          <p:cNvPr id="13" name="Text 11"/>
          <p:cNvSpPr/>
          <p:nvPr/>
        </p:nvSpPr>
        <p:spPr>
          <a:xfrm>
            <a:off x="5733752" y="1067098"/>
            <a:ext cx="155448" cy="184100"/>
          </a:xfrm>
          <a:prstGeom prst="rect">
            <a:avLst/>
          </a:prstGeom>
          <a:noFill/>
          <a:ln/>
        </p:spPr>
        <p:txBody>
          <a:bodyPr wrap="square" lIns="0" tIns="12700" rIns="0" bIns="0" rtlCol="0" anchor="t"/>
          <a:lstStyle/>
          <a:p>
            <a:pPr algn="l" indent="0" marL="0">
              <a:spcBef>
                <a:spcPts val="1200"/>
              </a:spcBef>
              <a:spcAft>
                <a:spcPts val="1200"/>
              </a:spcAft>
              <a:buNone/>
            </a:pPr>
            <a:r>
              <a:rPr lang="en-US" sz="1200" dirty="0">
                <a:solidFill>
                  <a:srgbClr val="9B59B6"/>
                </a:solidFill>
                <a:latin typeface="Arial" pitchFamily="34" charset="0"/>
                <a:ea typeface="Arial" pitchFamily="34" charset="-122"/>
                <a:cs typeface="Arial" pitchFamily="34" charset="-120"/>
              </a:rPr>
              <a:t>→</a:t>
            </a:r>
            <a:endParaRPr lang="en-US" sz="1200" dirty="0"/>
          </a:p>
        </p:txBody>
      </p:sp>
      <p:sp>
        <p:nvSpPr>
          <p:cNvPr id="14" name="Text 12"/>
          <p:cNvSpPr/>
          <p:nvPr/>
        </p:nvSpPr>
        <p:spPr>
          <a:xfrm>
            <a:off x="5987653" y="1054298"/>
            <a:ext cx="2040862" cy="181570"/>
          </a:xfrm>
          <a:prstGeom prst="rect">
            <a:avLst/>
          </a:prstGeom>
          <a:noFill/>
          <a:ln/>
        </p:spPr>
        <p:txBody>
          <a:bodyPr wrap="square" lIns="0" tIns="0" rIns="0" bIns="0" rtlCol="0" anchor="t"/>
          <a:lstStyle/>
          <a:p>
            <a:pPr algn="l" indent="0" marL="0">
              <a:lnSpc>
                <a:spcPts val="1430"/>
              </a:lnSpc>
              <a:spcBef>
                <a:spcPts val="1100"/>
              </a:spcBef>
              <a:spcAft>
                <a:spcPts val="1100"/>
              </a:spcAft>
              <a:buNone/>
            </a:pPr>
            <a:r>
              <a:rPr lang="en-US" sz="1100" dirty="0">
                <a:solidFill>
                  <a:srgbClr val="E0E0E0"/>
                </a:solidFill>
                <a:latin typeface="Arial" pitchFamily="34" charset="0"/>
                <a:ea typeface="Arial" pitchFamily="34" charset="-122"/>
                <a:cs typeface="Arial" pitchFamily="34" charset="-120"/>
              </a:rPr>
              <a:t>"What would you like me to do?"</a:t>
            </a:r>
            <a:endParaRPr lang="en-US" sz="1100" dirty="0"/>
          </a:p>
        </p:txBody>
      </p:sp>
      <p:sp>
        <p:nvSpPr>
          <p:cNvPr id="15" name="Text 13"/>
          <p:cNvSpPr/>
          <p:nvPr/>
        </p:nvSpPr>
        <p:spPr>
          <a:xfrm>
            <a:off x="4235351" y="1606748"/>
            <a:ext cx="1424839" cy="142875"/>
          </a:xfrm>
          <a:prstGeom prst="rect">
            <a:avLst/>
          </a:prstGeom>
          <a:noFill/>
          <a:ln/>
        </p:spPr>
        <p:txBody>
          <a:bodyPr wrap="square" lIns="0" tIns="0" rIns="0" bIns="0" rtlCol="0" anchor="t"/>
          <a:lstStyle/>
          <a:p>
            <a:pPr algn="l" indent="0" marL="0">
              <a:spcBef>
                <a:spcPts val="1000"/>
              </a:spcBef>
              <a:spcAft>
                <a:spcPts val="1000"/>
              </a:spcAft>
              <a:buNone/>
            </a:pPr>
            <a:r>
              <a:rPr lang="en-US" sz="1000" b="1" dirty="0">
                <a:solidFill>
                  <a:srgbClr val="2ECC71"/>
                </a:solidFill>
                <a:latin typeface="Arial" pitchFamily="34" charset="0"/>
                <a:ea typeface="Arial" pitchFamily="34" charset="-122"/>
                <a:cs typeface="Arial" pitchFamily="34" charset="-120"/>
              </a:rPr>
              <a:t>AGENT does:</a:t>
            </a:r>
            <a:endParaRPr lang="en-US" sz="1000" dirty="0"/>
          </a:p>
        </p:txBody>
      </p:sp>
      <p:sp>
        <p:nvSpPr>
          <p:cNvPr id="16" name="Text 14"/>
          <p:cNvSpPr/>
          <p:nvPr/>
        </p:nvSpPr>
        <p:spPr>
          <a:xfrm>
            <a:off x="5733752" y="1632198"/>
            <a:ext cx="155448" cy="184100"/>
          </a:xfrm>
          <a:prstGeom prst="rect">
            <a:avLst/>
          </a:prstGeom>
          <a:noFill/>
          <a:ln/>
        </p:spPr>
        <p:txBody>
          <a:bodyPr wrap="square" lIns="0" tIns="12700" rIns="0" bIns="0" rtlCol="0" anchor="t"/>
          <a:lstStyle/>
          <a:p>
            <a:pPr algn="l" indent="0" marL="0">
              <a:spcBef>
                <a:spcPts val="1200"/>
              </a:spcBef>
              <a:spcAft>
                <a:spcPts val="1200"/>
              </a:spcAft>
              <a:buNone/>
            </a:pPr>
            <a:r>
              <a:rPr lang="en-US" sz="1200" dirty="0">
                <a:solidFill>
                  <a:srgbClr val="9B59B6"/>
                </a:solidFill>
                <a:latin typeface="Arial" pitchFamily="34" charset="0"/>
                <a:ea typeface="Arial" pitchFamily="34" charset="-122"/>
                <a:cs typeface="Arial" pitchFamily="34" charset="-120"/>
              </a:rPr>
              <a:t>→</a:t>
            </a:r>
            <a:endParaRPr lang="en-US" sz="1200" dirty="0"/>
          </a:p>
        </p:txBody>
      </p:sp>
      <p:sp>
        <p:nvSpPr>
          <p:cNvPr id="17" name="Text 15"/>
          <p:cNvSpPr/>
          <p:nvPr/>
        </p:nvSpPr>
        <p:spPr>
          <a:xfrm>
            <a:off x="5987653" y="1619399"/>
            <a:ext cx="2937117" cy="181570"/>
          </a:xfrm>
          <a:prstGeom prst="rect">
            <a:avLst/>
          </a:prstGeom>
          <a:noFill/>
          <a:ln/>
        </p:spPr>
        <p:txBody>
          <a:bodyPr wrap="square" lIns="0" tIns="0" rIns="0" bIns="0" rtlCol="0" anchor="t"/>
          <a:lstStyle/>
          <a:p>
            <a:pPr algn="l" indent="0" marL="0">
              <a:lnSpc>
                <a:spcPts val="1430"/>
              </a:lnSpc>
              <a:spcBef>
                <a:spcPts val="1100"/>
              </a:spcBef>
              <a:spcAft>
                <a:spcPts val="1100"/>
              </a:spcAft>
              <a:buNone/>
            </a:pPr>
            <a:r>
              <a:rPr lang="en-US" sz="1100" dirty="0">
                <a:solidFill>
                  <a:srgbClr val="E0E0E0"/>
                </a:solidFill>
                <a:latin typeface="Arial" pitchFamily="34" charset="0"/>
                <a:ea typeface="Arial" pitchFamily="34" charset="-122"/>
                <a:cs typeface="Arial" pitchFamily="34" charset="-120"/>
              </a:rPr>
              <a:t>Plans, executes, verifies, retries autonomously</a:t>
            </a:r>
            <a:endParaRPr lang="en-US" sz="1100" dirty="0"/>
          </a:p>
        </p:txBody>
      </p:sp>
      <p:sp>
        <p:nvSpPr>
          <p:cNvPr id="18" name="Text 16"/>
          <p:cNvSpPr/>
          <p:nvPr/>
        </p:nvSpPr>
        <p:spPr>
          <a:xfrm>
            <a:off x="4235351" y="2108299"/>
            <a:ext cx="4680049" cy="9525"/>
          </a:xfrm>
          <a:prstGeom prst="rect">
            <a:avLst/>
          </a:prstGeom>
          <a:solidFill>
            <a:srgbClr val="9B59B6">
              <a:alpha val="30000"/>
            </a:srgbClr>
          </a:solidFill>
          <a:ln/>
        </p:spPr>
        <p:txBody>
          <a:bodyPr wrap="square" rtlCol="0" anchor="ctr"/>
          <a:lstStyle/>
          <a:p>
            <a:pPr indent="0" marL="0">
              <a:buNone/>
            </a:pPr>
            <a:endParaRPr lang="en-US" dirty="0"/>
          </a:p>
        </p:txBody>
      </p:sp>
      <p:sp>
        <p:nvSpPr>
          <p:cNvPr id="19" name="Text 17"/>
          <p:cNvSpPr/>
          <p:nvPr/>
        </p:nvSpPr>
        <p:spPr>
          <a:xfrm>
            <a:off x="4235351" y="2308175"/>
            <a:ext cx="1424839" cy="142875"/>
          </a:xfrm>
          <a:prstGeom prst="rect">
            <a:avLst/>
          </a:prstGeom>
          <a:noFill/>
          <a:ln/>
        </p:spPr>
        <p:txBody>
          <a:bodyPr wrap="square" lIns="0" tIns="0" rIns="0" bIns="0" rtlCol="0" anchor="t"/>
          <a:lstStyle/>
          <a:p>
            <a:pPr algn="l" indent="0" marL="0">
              <a:spcBef>
                <a:spcPts val="1000"/>
              </a:spcBef>
              <a:spcAft>
                <a:spcPts val="1000"/>
              </a:spcAft>
              <a:buNone/>
            </a:pPr>
            <a:r>
              <a:rPr lang="en-US" sz="1000" b="1" dirty="0">
                <a:solidFill>
                  <a:srgbClr val="E74C3C"/>
                </a:solidFill>
                <a:latin typeface="Arial" pitchFamily="34" charset="0"/>
                <a:ea typeface="Arial" pitchFamily="34" charset="-122"/>
                <a:cs typeface="Arial" pitchFamily="34" charset="-120"/>
              </a:rPr>
              <a:t>CHATBOT knows:</a:t>
            </a:r>
            <a:endParaRPr lang="en-US" sz="1000" dirty="0"/>
          </a:p>
        </p:txBody>
      </p:sp>
      <p:sp>
        <p:nvSpPr>
          <p:cNvPr id="20" name="Text 18"/>
          <p:cNvSpPr/>
          <p:nvPr/>
        </p:nvSpPr>
        <p:spPr>
          <a:xfrm>
            <a:off x="5733752" y="2333625"/>
            <a:ext cx="155448" cy="184100"/>
          </a:xfrm>
          <a:prstGeom prst="rect">
            <a:avLst/>
          </a:prstGeom>
          <a:noFill/>
          <a:ln/>
        </p:spPr>
        <p:txBody>
          <a:bodyPr wrap="square" lIns="0" tIns="12700" rIns="0" bIns="0" rtlCol="0" anchor="t"/>
          <a:lstStyle/>
          <a:p>
            <a:pPr algn="l" indent="0" marL="0">
              <a:spcBef>
                <a:spcPts val="1200"/>
              </a:spcBef>
              <a:spcAft>
                <a:spcPts val="1200"/>
              </a:spcAft>
              <a:buNone/>
            </a:pPr>
            <a:r>
              <a:rPr lang="en-US" sz="1200" dirty="0">
                <a:solidFill>
                  <a:srgbClr val="9B59B6"/>
                </a:solidFill>
                <a:latin typeface="Arial" pitchFamily="34" charset="0"/>
                <a:ea typeface="Arial" pitchFamily="34" charset="-122"/>
                <a:cs typeface="Arial" pitchFamily="34" charset="-120"/>
              </a:rPr>
              <a:t>→</a:t>
            </a:r>
            <a:endParaRPr lang="en-US" sz="1200" dirty="0"/>
          </a:p>
        </p:txBody>
      </p:sp>
      <p:sp>
        <p:nvSpPr>
          <p:cNvPr id="21" name="Text 19"/>
          <p:cNvSpPr/>
          <p:nvPr/>
        </p:nvSpPr>
        <p:spPr>
          <a:xfrm>
            <a:off x="5987653" y="2320826"/>
            <a:ext cx="1966933" cy="181570"/>
          </a:xfrm>
          <a:prstGeom prst="rect">
            <a:avLst/>
          </a:prstGeom>
          <a:noFill/>
          <a:ln/>
        </p:spPr>
        <p:txBody>
          <a:bodyPr wrap="square" lIns="0" tIns="0" rIns="0" bIns="0" rtlCol="0" anchor="t"/>
          <a:lstStyle/>
          <a:p>
            <a:pPr algn="l" indent="0" marL="0">
              <a:lnSpc>
                <a:spcPts val="1430"/>
              </a:lnSpc>
              <a:spcBef>
                <a:spcPts val="1100"/>
              </a:spcBef>
              <a:spcAft>
                <a:spcPts val="1100"/>
              </a:spcAft>
              <a:buNone/>
            </a:pPr>
            <a:r>
              <a:rPr lang="en-US" sz="1100" dirty="0">
                <a:solidFill>
                  <a:srgbClr val="E0E0E0"/>
                </a:solidFill>
                <a:latin typeface="Arial" pitchFamily="34" charset="0"/>
                <a:ea typeface="Arial" pitchFamily="34" charset="-122"/>
                <a:cs typeface="Arial" pitchFamily="34" charset="-120"/>
              </a:rPr>
              <a:t>Only what's in the conversation</a:t>
            </a:r>
            <a:endParaRPr lang="en-US" sz="1100" dirty="0"/>
          </a:p>
        </p:txBody>
      </p:sp>
      <p:sp>
        <p:nvSpPr>
          <p:cNvPr id="22" name="Text 20"/>
          <p:cNvSpPr/>
          <p:nvPr/>
        </p:nvSpPr>
        <p:spPr>
          <a:xfrm>
            <a:off x="4235351" y="2873276"/>
            <a:ext cx="1424839" cy="142875"/>
          </a:xfrm>
          <a:prstGeom prst="rect">
            <a:avLst/>
          </a:prstGeom>
          <a:noFill/>
          <a:ln/>
        </p:spPr>
        <p:txBody>
          <a:bodyPr wrap="square" lIns="0" tIns="0" rIns="0" bIns="0" rtlCol="0" anchor="t"/>
          <a:lstStyle/>
          <a:p>
            <a:pPr algn="l" indent="0" marL="0">
              <a:spcBef>
                <a:spcPts val="1000"/>
              </a:spcBef>
              <a:spcAft>
                <a:spcPts val="1000"/>
              </a:spcAft>
              <a:buNone/>
            </a:pPr>
            <a:r>
              <a:rPr lang="en-US" sz="1000" b="1" dirty="0">
                <a:solidFill>
                  <a:srgbClr val="2ECC71"/>
                </a:solidFill>
                <a:latin typeface="Arial" pitchFamily="34" charset="0"/>
                <a:ea typeface="Arial" pitchFamily="34" charset="-122"/>
                <a:cs typeface="Arial" pitchFamily="34" charset="-120"/>
              </a:rPr>
              <a:t>AGENT accesses:</a:t>
            </a:r>
            <a:endParaRPr lang="en-US" sz="1000" dirty="0"/>
          </a:p>
        </p:txBody>
      </p:sp>
      <p:sp>
        <p:nvSpPr>
          <p:cNvPr id="23" name="Text 21"/>
          <p:cNvSpPr/>
          <p:nvPr/>
        </p:nvSpPr>
        <p:spPr>
          <a:xfrm>
            <a:off x="5733752" y="2898725"/>
            <a:ext cx="155448" cy="184100"/>
          </a:xfrm>
          <a:prstGeom prst="rect">
            <a:avLst/>
          </a:prstGeom>
          <a:noFill/>
          <a:ln/>
        </p:spPr>
        <p:txBody>
          <a:bodyPr wrap="square" lIns="0" tIns="12700" rIns="0" bIns="0" rtlCol="0" anchor="t"/>
          <a:lstStyle/>
          <a:p>
            <a:pPr algn="l" indent="0" marL="0">
              <a:spcBef>
                <a:spcPts val="1200"/>
              </a:spcBef>
              <a:spcAft>
                <a:spcPts val="1200"/>
              </a:spcAft>
              <a:buNone/>
            </a:pPr>
            <a:r>
              <a:rPr lang="en-US" sz="1200" dirty="0">
                <a:solidFill>
                  <a:srgbClr val="9B59B6"/>
                </a:solidFill>
                <a:latin typeface="Arial" pitchFamily="34" charset="0"/>
                <a:ea typeface="Arial" pitchFamily="34" charset="-122"/>
                <a:cs typeface="Arial" pitchFamily="34" charset="-120"/>
              </a:rPr>
              <a:t>→</a:t>
            </a:r>
            <a:endParaRPr lang="en-US" sz="1200" dirty="0"/>
          </a:p>
        </p:txBody>
      </p:sp>
      <p:sp>
        <p:nvSpPr>
          <p:cNvPr id="24" name="Text 22"/>
          <p:cNvSpPr/>
          <p:nvPr/>
        </p:nvSpPr>
        <p:spPr>
          <a:xfrm>
            <a:off x="5987653" y="2885926"/>
            <a:ext cx="2620756" cy="181570"/>
          </a:xfrm>
          <a:prstGeom prst="rect">
            <a:avLst/>
          </a:prstGeom>
          <a:noFill/>
          <a:ln/>
        </p:spPr>
        <p:txBody>
          <a:bodyPr wrap="square" lIns="0" tIns="0" rIns="0" bIns="0" rtlCol="0" anchor="t"/>
          <a:lstStyle/>
          <a:p>
            <a:pPr algn="l" indent="0" marL="0">
              <a:lnSpc>
                <a:spcPts val="1430"/>
              </a:lnSpc>
              <a:spcBef>
                <a:spcPts val="1100"/>
              </a:spcBef>
              <a:spcAft>
                <a:spcPts val="1100"/>
              </a:spcAft>
              <a:buNone/>
            </a:pPr>
            <a:r>
              <a:rPr lang="en-US" sz="1100" dirty="0">
                <a:solidFill>
                  <a:srgbClr val="E0E0E0"/>
                </a:solidFill>
                <a:latin typeface="Arial" pitchFamily="34" charset="0"/>
                <a:ea typeface="Arial" pitchFamily="34" charset="-122"/>
                <a:cs typeface="Arial" pitchFamily="34" charset="-120"/>
              </a:rPr>
              <a:t>Files, web, databases, APIs, other agents</a:t>
            </a:r>
            <a:endParaRPr lang="en-US" sz="1100" dirty="0"/>
          </a:p>
        </p:txBody>
      </p:sp>
      <p:sp>
        <p:nvSpPr>
          <p:cNvPr id="25" name="Text 23"/>
          <p:cNvSpPr/>
          <p:nvPr/>
        </p:nvSpPr>
        <p:spPr>
          <a:xfrm>
            <a:off x="4235351" y="3374827"/>
            <a:ext cx="4680049" cy="9525"/>
          </a:xfrm>
          <a:prstGeom prst="rect">
            <a:avLst/>
          </a:prstGeom>
          <a:solidFill>
            <a:srgbClr val="9B59B6">
              <a:alpha val="30000"/>
            </a:srgbClr>
          </a:solidFill>
          <a:ln/>
        </p:spPr>
        <p:txBody>
          <a:bodyPr wrap="square" rtlCol="0" anchor="ctr"/>
          <a:lstStyle/>
          <a:p>
            <a:pPr indent="0" marL="0">
              <a:buNone/>
            </a:pPr>
            <a:endParaRPr lang="en-US" dirty="0"/>
          </a:p>
        </p:txBody>
      </p:sp>
      <p:sp>
        <p:nvSpPr>
          <p:cNvPr id="26" name="Text 24"/>
          <p:cNvSpPr/>
          <p:nvPr/>
        </p:nvSpPr>
        <p:spPr>
          <a:xfrm>
            <a:off x="4235351" y="3574703"/>
            <a:ext cx="1424839" cy="142875"/>
          </a:xfrm>
          <a:prstGeom prst="rect">
            <a:avLst/>
          </a:prstGeom>
          <a:noFill/>
          <a:ln/>
        </p:spPr>
        <p:txBody>
          <a:bodyPr wrap="square" lIns="0" tIns="0" rIns="0" bIns="0" rtlCol="0" anchor="t"/>
          <a:lstStyle/>
          <a:p>
            <a:pPr algn="l" indent="0" marL="0">
              <a:spcBef>
                <a:spcPts val="1000"/>
              </a:spcBef>
              <a:spcAft>
                <a:spcPts val="1000"/>
              </a:spcAft>
              <a:buNone/>
            </a:pPr>
            <a:r>
              <a:rPr lang="en-US" sz="1000" b="1" dirty="0">
                <a:solidFill>
                  <a:srgbClr val="E74C3C"/>
                </a:solidFill>
                <a:latin typeface="Arial" pitchFamily="34" charset="0"/>
                <a:ea typeface="Arial" pitchFamily="34" charset="-122"/>
                <a:cs typeface="Arial" pitchFamily="34" charset="-120"/>
              </a:rPr>
              <a:t>CHATBOT stops:</a:t>
            </a:r>
            <a:endParaRPr lang="en-US" sz="1000" dirty="0"/>
          </a:p>
        </p:txBody>
      </p:sp>
      <p:sp>
        <p:nvSpPr>
          <p:cNvPr id="27" name="Text 25"/>
          <p:cNvSpPr/>
          <p:nvPr/>
        </p:nvSpPr>
        <p:spPr>
          <a:xfrm>
            <a:off x="5733752" y="3600152"/>
            <a:ext cx="155448" cy="184100"/>
          </a:xfrm>
          <a:prstGeom prst="rect">
            <a:avLst/>
          </a:prstGeom>
          <a:noFill/>
          <a:ln/>
        </p:spPr>
        <p:txBody>
          <a:bodyPr wrap="square" lIns="0" tIns="12700" rIns="0" bIns="0" rtlCol="0" anchor="t"/>
          <a:lstStyle/>
          <a:p>
            <a:pPr algn="l" indent="0" marL="0">
              <a:spcBef>
                <a:spcPts val="1200"/>
              </a:spcBef>
              <a:spcAft>
                <a:spcPts val="1200"/>
              </a:spcAft>
              <a:buNone/>
            </a:pPr>
            <a:r>
              <a:rPr lang="en-US" sz="1200" dirty="0">
                <a:solidFill>
                  <a:srgbClr val="9B59B6"/>
                </a:solidFill>
                <a:latin typeface="Arial" pitchFamily="34" charset="0"/>
                <a:ea typeface="Arial" pitchFamily="34" charset="-122"/>
                <a:cs typeface="Arial" pitchFamily="34" charset="-120"/>
              </a:rPr>
              <a:t>→</a:t>
            </a:r>
            <a:endParaRPr lang="en-US" sz="1200" dirty="0"/>
          </a:p>
        </p:txBody>
      </p:sp>
      <p:sp>
        <p:nvSpPr>
          <p:cNvPr id="28" name="Text 26"/>
          <p:cNvSpPr/>
          <p:nvPr/>
        </p:nvSpPr>
        <p:spPr>
          <a:xfrm>
            <a:off x="5987653" y="3587353"/>
            <a:ext cx="1203508" cy="181570"/>
          </a:xfrm>
          <a:prstGeom prst="rect">
            <a:avLst/>
          </a:prstGeom>
          <a:noFill/>
          <a:ln/>
        </p:spPr>
        <p:txBody>
          <a:bodyPr wrap="square" lIns="0" tIns="0" rIns="0" bIns="0" rtlCol="0" anchor="t"/>
          <a:lstStyle/>
          <a:p>
            <a:pPr algn="l" indent="0" marL="0">
              <a:lnSpc>
                <a:spcPts val="1430"/>
              </a:lnSpc>
              <a:spcBef>
                <a:spcPts val="1100"/>
              </a:spcBef>
              <a:spcAft>
                <a:spcPts val="1100"/>
              </a:spcAft>
              <a:buNone/>
            </a:pPr>
            <a:r>
              <a:rPr lang="en-US" sz="1100" dirty="0">
                <a:solidFill>
                  <a:srgbClr val="E0E0E0"/>
                </a:solidFill>
                <a:latin typeface="Arial" pitchFamily="34" charset="0"/>
                <a:ea typeface="Arial" pitchFamily="34" charset="-122"/>
                <a:cs typeface="Arial" pitchFamily="34" charset="-120"/>
              </a:rPr>
              <a:t>After one response</a:t>
            </a:r>
            <a:endParaRPr lang="en-US" sz="1100" dirty="0"/>
          </a:p>
        </p:txBody>
      </p:sp>
      <p:sp>
        <p:nvSpPr>
          <p:cNvPr id="29" name="Text 27"/>
          <p:cNvSpPr/>
          <p:nvPr/>
        </p:nvSpPr>
        <p:spPr>
          <a:xfrm>
            <a:off x="4235351" y="4139803"/>
            <a:ext cx="1424839" cy="142875"/>
          </a:xfrm>
          <a:prstGeom prst="rect">
            <a:avLst/>
          </a:prstGeom>
          <a:noFill/>
          <a:ln/>
        </p:spPr>
        <p:txBody>
          <a:bodyPr wrap="square" lIns="0" tIns="0" rIns="0" bIns="0" rtlCol="0" anchor="t"/>
          <a:lstStyle/>
          <a:p>
            <a:pPr algn="l" indent="0" marL="0">
              <a:spcBef>
                <a:spcPts val="1000"/>
              </a:spcBef>
              <a:spcAft>
                <a:spcPts val="1000"/>
              </a:spcAft>
              <a:buNone/>
            </a:pPr>
            <a:r>
              <a:rPr lang="en-US" sz="1000" b="1" dirty="0">
                <a:solidFill>
                  <a:srgbClr val="2ECC71"/>
                </a:solidFill>
                <a:latin typeface="Arial" pitchFamily="34" charset="0"/>
                <a:ea typeface="Arial" pitchFamily="34" charset="-122"/>
                <a:cs typeface="Arial" pitchFamily="34" charset="-120"/>
              </a:rPr>
              <a:t>AGENT runs:</a:t>
            </a:r>
            <a:endParaRPr lang="en-US" sz="1000" dirty="0"/>
          </a:p>
        </p:txBody>
      </p:sp>
      <p:sp>
        <p:nvSpPr>
          <p:cNvPr id="30" name="Text 28"/>
          <p:cNvSpPr/>
          <p:nvPr/>
        </p:nvSpPr>
        <p:spPr>
          <a:xfrm>
            <a:off x="5733752" y="4165253"/>
            <a:ext cx="155448" cy="184100"/>
          </a:xfrm>
          <a:prstGeom prst="rect">
            <a:avLst/>
          </a:prstGeom>
          <a:noFill/>
          <a:ln/>
        </p:spPr>
        <p:txBody>
          <a:bodyPr wrap="square" lIns="0" tIns="12700" rIns="0" bIns="0" rtlCol="0" anchor="t"/>
          <a:lstStyle/>
          <a:p>
            <a:pPr algn="l" indent="0" marL="0">
              <a:spcBef>
                <a:spcPts val="1200"/>
              </a:spcBef>
              <a:spcAft>
                <a:spcPts val="1200"/>
              </a:spcAft>
              <a:buNone/>
            </a:pPr>
            <a:r>
              <a:rPr lang="en-US" sz="1200" dirty="0">
                <a:solidFill>
                  <a:srgbClr val="9B59B6"/>
                </a:solidFill>
                <a:latin typeface="Arial" pitchFamily="34" charset="0"/>
                <a:ea typeface="Arial" pitchFamily="34" charset="-122"/>
                <a:cs typeface="Arial" pitchFamily="34" charset="-120"/>
              </a:rPr>
              <a:t>→</a:t>
            </a:r>
            <a:endParaRPr lang="en-US" sz="1200" dirty="0"/>
          </a:p>
        </p:txBody>
      </p:sp>
      <p:sp>
        <p:nvSpPr>
          <p:cNvPr id="31" name="Text 29"/>
          <p:cNvSpPr/>
          <p:nvPr/>
        </p:nvSpPr>
        <p:spPr>
          <a:xfrm>
            <a:off x="5987653" y="4152454"/>
            <a:ext cx="1583627" cy="181570"/>
          </a:xfrm>
          <a:prstGeom prst="rect">
            <a:avLst/>
          </a:prstGeom>
          <a:noFill/>
          <a:ln/>
        </p:spPr>
        <p:txBody>
          <a:bodyPr wrap="square" lIns="0" tIns="0" rIns="0" bIns="0" rtlCol="0" anchor="t"/>
          <a:lstStyle/>
          <a:p>
            <a:pPr algn="l" indent="0" marL="0">
              <a:lnSpc>
                <a:spcPts val="1430"/>
              </a:lnSpc>
              <a:spcBef>
                <a:spcPts val="1100"/>
              </a:spcBef>
              <a:spcAft>
                <a:spcPts val="1100"/>
              </a:spcAft>
              <a:buNone/>
            </a:pPr>
            <a:r>
              <a:rPr lang="en-US" sz="1100" dirty="0">
                <a:solidFill>
                  <a:srgbClr val="E0E0E0"/>
                </a:solidFill>
                <a:latin typeface="Arial" pitchFamily="34" charset="0"/>
                <a:ea typeface="Arial" pitchFamily="34" charset="-122"/>
                <a:cs typeface="Arial" pitchFamily="34" charset="-120"/>
              </a:rPr>
              <a:t>Until the goal is achieved</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50A1E"/>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D4FF"/>
          </a:solidFill>
          <a:ln/>
        </p:spPr>
        <p:txBody>
          <a:bodyPr wrap="square" rtlCol="0" anchor="ctr"/>
          <a:lstStyle/>
          <a:p>
            <a:pPr indent="0" marL="0">
              <a:buNone/>
            </a:pPr>
            <a:endParaRPr lang="en-US" dirty="0"/>
          </a:p>
        </p:txBody>
      </p:sp>
      <p:sp>
        <p:nvSpPr>
          <p:cNvPr id="3" name="Text 1"/>
          <p:cNvSpPr/>
          <p:nvPr/>
        </p:nvSpPr>
        <p:spPr>
          <a:xfrm>
            <a:off x="3487043" y="433388"/>
            <a:ext cx="2213312" cy="142875"/>
          </a:xfrm>
          <a:prstGeom prst="rect">
            <a:avLst/>
          </a:prstGeom>
          <a:noFill/>
          <a:ln/>
        </p:spPr>
        <p:txBody>
          <a:bodyPr wrap="square" lIns="0" tIns="0" rIns="0" bIns="0" rtlCol="0" anchor="t"/>
          <a:lstStyle/>
          <a:p>
            <a:pPr algn="l" indent="0" marL="0">
              <a:spcBef>
                <a:spcPts val="1000"/>
              </a:spcBef>
              <a:spcAft>
                <a:spcPts val="800"/>
              </a:spcAft>
              <a:buNone/>
            </a:pPr>
            <a:r>
              <a:rPr lang="en-US" sz="1000" dirty="0">
                <a:solidFill>
                  <a:srgbClr val="00D4FF"/>
                </a:solidFill>
                <a:latin typeface="Arial" pitchFamily="34" charset="0"/>
                <a:ea typeface="Arial" pitchFamily="34" charset="-122"/>
                <a:cs typeface="Arial" pitchFamily="34" charset="-120"/>
              </a:rPr>
              <a:t>MY AGENT ECOSYSTEM</a:t>
            </a:r>
            <a:endParaRPr lang="en-US" sz="1000" dirty="0"/>
          </a:p>
        </p:txBody>
      </p:sp>
      <p:sp>
        <p:nvSpPr>
          <p:cNvPr id="4" name="Text 2"/>
          <p:cNvSpPr/>
          <p:nvPr/>
        </p:nvSpPr>
        <p:spPr>
          <a:xfrm>
            <a:off x="1722020" y="677763"/>
            <a:ext cx="5699811" cy="323850"/>
          </a:xfrm>
          <a:prstGeom prst="rect">
            <a:avLst/>
          </a:prstGeom>
          <a:noFill/>
          <a:ln/>
        </p:spPr>
        <p:txBody>
          <a:bodyPr wrap="square" lIns="0" tIns="0" rIns="0" bIns="0" rtlCol="0" anchor="t"/>
          <a:lstStyle/>
          <a:p>
            <a:pPr algn="ctr" indent="0" marL="0">
              <a:spcAft>
                <a:spcPts val="2200"/>
              </a:spcAft>
              <a:buNone/>
            </a:pPr>
            <a:r>
              <a:rPr lang="en-US" sz="2200" dirty="0">
                <a:solidFill>
                  <a:srgbClr val="FFFFFF"/>
                </a:solidFill>
                <a:latin typeface="Arial" pitchFamily="34" charset="0"/>
                <a:ea typeface="Arial" pitchFamily="34" charset="-122"/>
                <a:cs typeface="Arial" pitchFamily="34" charset="-120"/>
              </a:rPr>
              <a:t>The </a:t>
            </a:r>
            <a:pPr algn="ctr" indent="0" marL="0">
              <a:spcAft>
                <a:spcPts val="2200"/>
              </a:spcAft>
              <a:buNone/>
            </a:pPr>
            <a:r>
              <a:rPr lang="en-US" sz="2200" b="1" dirty="0">
                <a:solidFill>
                  <a:srgbClr val="00D4FF"/>
                </a:solidFill>
                <a:latin typeface="Arial" pitchFamily="34" charset="0"/>
                <a:ea typeface="Arial" pitchFamily="34" charset="-122"/>
                <a:cs typeface="Arial" pitchFamily="34" charset="-120"/>
              </a:rPr>
              <a:t>Mac Mini</a:t>
            </a:r>
            <a:pPr algn="ctr" indent="0" marL="0">
              <a:spcAft>
                <a:spcPts val="2200"/>
              </a:spcAft>
              <a:buNone/>
            </a:pPr>
            <a:r>
              <a:rPr lang="en-US" sz="2200" dirty="0">
                <a:solidFill>
                  <a:srgbClr val="FFFFFF"/>
                </a:solidFill>
                <a:latin typeface="Arial" pitchFamily="34" charset="0"/>
                <a:ea typeface="Arial" pitchFamily="34" charset="-122"/>
                <a:cs typeface="Arial" pitchFamily="34" charset="-120"/>
              </a:rPr>
              <a:t> Agent Team — Running 24/7</a:t>
            </a:r>
            <a:endParaRPr lang="en-US" sz="2200" dirty="0"/>
          </a:p>
        </p:txBody>
      </p:sp>
      <p:sp>
        <p:nvSpPr>
          <p:cNvPr id="5" name="Text 3"/>
          <p:cNvSpPr/>
          <p:nvPr/>
        </p:nvSpPr>
        <p:spPr>
          <a:xfrm>
            <a:off x="3809851" y="2423964"/>
            <a:ext cx="1308050" cy="1054001"/>
          </a:xfrm>
          <a:prstGeom prst="rect">
            <a:avLst/>
          </a:prstGeom>
          <a:solidFill>
            <a:srgbClr val="00D4FF">
              <a:alpha val="15000"/>
            </a:srgbClr>
          </a:solidFill>
          <a:ln w="19050">
            <a:solidFill>
              <a:srgbClr val="00D4FF"/>
            </a:solidFill>
          </a:ln>
        </p:spPr>
        <p:txBody>
          <a:bodyPr wrap="square" rtlCol="0" anchor="ctr"/>
          <a:lstStyle/>
          <a:p>
            <a:pPr indent="0" marL="0">
              <a:buNone/>
            </a:pPr>
            <a:endParaRPr lang="en-US" dirty="0"/>
          </a:p>
        </p:txBody>
      </p:sp>
      <p:sp>
        <p:nvSpPr>
          <p:cNvPr id="6" name="Text 4"/>
          <p:cNvSpPr/>
          <p:nvPr/>
        </p:nvSpPr>
        <p:spPr>
          <a:xfrm>
            <a:off x="4110633" y="2717602"/>
            <a:ext cx="720465" cy="200025"/>
          </a:xfrm>
          <a:prstGeom prst="rect">
            <a:avLst/>
          </a:prstGeom>
          <a:noFill/>
          <a:ln/>
        </p:spPr>
        <p:txBody>
          <a:bodyPr wrap="square" lIns="0" tIns="0" rIns="0" bIns="0" rtlCol="0" anchor="t"/>
          <a:lstStyle/>
          <a:p>
            <a:pPr algn="l" indent="0" marL="0">
              <a:buNone/>
            </a:pPr>
            <a:r>
              <a:rPr lang="en-US" sz="1300" b="1" dirty="0">
                <a:solidFill>
                  <a:srgbClr val="00D4FF"/>
                </a:solidFill>
                <a:latin typeface="Arial" pitchFamily="34" charset="0"/>
                <a:ea typeface="Arial" pitchFamily="34" charset="-122"/>
                <a:cs typeface="Arial" pitchFamily="34" charset="-120"/>
              </a:rPr>
              <a:t>HERMES</a:t>
            </a:r>
            <a:endParaRPr lang="en-US" sz="1300" dirty="0"/>
          </a:p>
        </p:txBody>
      </p:sp>
      <p:sp>
        <p:nvSpPr>
          <p:cNvPr id="7" name="Text 5"/>
          <p:cNvSpPr/>
          <p:nvPr/>
        </p:nvSpPr>
        <p:spPr>
          <a:xfrm>
            <a:off x="4146203" y="2917627"/>
            <a:ext cx="647902" cy="133350"/>
          </a:xfrm>
          <a:prstGeom prst="rect">
            <a:avLst/>
          </a:prstGeom>
          <a:noFill/>
          <a:ln/>
        </p:spPr>
        <p:txBody>
          <a:bodyPr wrap="square" lIns="0" tIns="0" rIns="0" bIns="0" rtlCol="0" anchor="t"/>
          <a:lstStyle/>
          <a:p>
            <a:pPr algn="l" indent="0" marL="0">
              <a:buNone/>
            </a:pPr>
            <a:r>
              <a:rPr lang="en-US" sz="900" dirty="0">
                <a:solidFill>
                  <a:srgbClr val="B0BEC5"/>
                </a:solidFill>
                <a:latin typeface="Arial" pitchFamily="34" charset="0"/>
                <a:ea typeface="Arial" pitchFamily="34" charset="-122"/>
                <a:cs typeface="Arial" pitchFamily="34" charset="-120"/>
              </a:rPr>
              <a:t>Orchestrator</a:t>
            </a:r>
            <a:endParaRPr lang="en-US" sz="900" dirty="0"/>
          </a:p>
        </p:txBody>
      </p:sp>
      <p:sp>
        <p:nvSpPr>
          <p:cNvPr id="8" name="Text 6"/>
          <p:cNvSpPr/>
          <p:nvPr/>
        </p:nvSpPr>
        <p:spPr>
          <a:xfrm>
            <a:off x="4133404" y="3050977"/>
            <a:ext cx="674013" cy="133350"/>
          </a:xfrm>
          <a:prstGeom prst="rect">
            <a:avLst/>
          </a:prstGeom>
          <a:noFill/>
          <a:ln/>
        </p:spPr>
        <p:txBody>
          <a:bodyPr wrap="square" lIns="0" tIns="0" rIns="0" bIns="0" rtlCol="0" anchor="t"/>
          <a:lstStyle/>
          <a:p>
            <a:pPr algn="l" indent="0" marL="0">
              <a:buNone/>
            </a:pPr>
            <a:r>
              <a:rPr lang="en-US" sz="900" dirty="0">
                <a:solidFill>
                  <a:srgbClr val="B0BEC5"/>
                </a:solidFill>
                <a:latin typeface="Arial" pitchFamily="34" charset="0"/>
                <a:ea typeface="Arial" pitchFamily="34" charset="-122"/>
                <a:cs typeface="Arial" pitchFamily="34" charset="-120"/>
              </a:rPr>
              <a:t>Routes tasks</a:t>
            </a:r>
            <a:endParaRPr lang="en-US" sz="900" dirty="0"/>
          </a:p>
        </p:txBody>
      </p:sp>
      <p:sp>
        <p:nvSpPr>
          <p:cNvPr id="9" name="Text 7"/>
          <p:cNvSpPr/>
          <p:nvPr/>
        </p:nvSpPr>
        <p:spPr>
          <a:xfrm>
            <a:off x="1142851" y="1407914"/>
            <a:ext cx="1162050" cy="908000"/>
          </a:xfrm>
          <a:prstGeom prst="rect">
            <a:avLst/>
          </a:prstGeom>
          <a:solidFill>
            <a:srgbClr val="9B59B6">
              <a:alpha val="10000"/>
            </a:srgbClr>
          </a:solidFill>
          <a:ln w="9525">
            <a:solidFill>
              <a:srgbClr val="9B59B6"/>
            </a:solidFill>
          </a:ln>
        </p:spPr>
        <p:txBody>
          <a:bodyPr wrap="square" rtlCol="0" anchor="ctr"/>
          <a:lstStyle/>
          <a:p>
            <a:pPr indent="0" marL="0">
              <a:buNone/>
            </a:pPr>
            <a:endParaRPr lang="en-US" dirty="0"/>
          </a:p>
        </p:txBody>
      </p:sp>
      <p:sp>
        <p:nvSpPr>
          <p:cNvPr id="10" name="Text 8"/>
          <p:cNvSpPr/>
          <p:nvPr/>
        </p:nvSpPr>
        <p:spPr>
          <a:xfrm>
            <a:off x="1514326" y="1671340"/>
            <a:ext cx="427482" cy="152400"/>
          </a:xfrm>
          <a:prstGeom prst="rect">
            <a:avLst/>
          </a:prstGeom>
          <a:noFill/>
          <a:ln/>
        </p:spPr>
        <p:txBody>
          <a:bodyPr wrap="square" lIns="0" tIns="0" rIns="0" bIns="0" rtlCol="0" anchor="t"/>
          <a:lstStyle/>
          <a:p>
            <a:pPr algn="l" indent="0" marL="0">
              <a:buNone/>
            </a:pPr>
            <a:r>
              <a:rPr lang="en-US" sz="1100" b="1" dirty="0">
                <a:solidFill>
                  <a:srgbClr val="9B59B6"/>
                </a:solidFill>
                <a:latin typeface="Arial" pitchFamily="34" charset="0"/>
                <a:ea typeface="Arial" pitchFamily="34" charset="-122"/>
                <a:cs typeface="Arial" pitchFamily="34" charset="-120"/>
              </a:rPr>
              <a:t>SERIE</a:t>
            </a:r>
            <a:endParaRPr lang="en-US" sz="1100" dirty="0"/>
          </a:p>
        </p:txBody>
      </p:sp>
      <p:sp>
        <p:nvSpPr>
          <p:cNvPr id="11" name="Text 9"/>
          <p:cNvSpPr/>
          <p:nvPr/>
        </p:nvSpPr>
        <p:spPr>
          <a:xfrm>
            <a:off x="1303530" y="1823740"/>
            <a:ext cx="840543" cy="228600"/>
          </a:xfrm>
          <a:prstGeom prst="rect">
            <a:avLst/>
          </a:prstGeom>
          <a:noFill/>
          <a:ln/>
        </p:spPr>
        <p:txBody>
          <a:bodyPr wrap="square" lIns="0" tIns="0" rIns="0" bIns="0" rtlCol="0" anchor="t"/>
          <a:lstStyle/>
          <a:p>
            <a:pPr algn="ctr" indent="0" marL="0">
              <a:buNone/>
            </a:pPr>
            <a:r>
              <a:rPr lang="en-US" sz="800" dirty="0">
                <a:solidFill>
                  <a:srgbClr val="B0BEC5"/>
                </a:solidFill>
                <a:latin typeface="Arial" pitchFamily="34" charset="0"/>
                <a:ea typeface="Arial" pitchFamily="34" charset="-122"/>
                <a:cs typeface="Arial" pitchFamily="34" charset="-120"/>
              </a:rPr>
              <a:t>24/7 Researcher</a:t>
            </a:r>
            <a:endParaRPr lang="en-US" sz="800" dirty="0"/>
          </a:p>
          <a:p>
            <a:pPr algn="ctr" indent="0" marL="0">
              <a:buNone/>
            </a:pPr>
            <a:r>
              <a:rPr lang="en-US" sz="800" dirty="0">
                <a:solidFill>
                  <a:srgbClr val="B0BEC5"/>
                </a:solidFill>
                <a:latin typeface="Arial" pitchFamily="34" charset="0"/>
                <a:ea typeface="Arial" pitchFamily="34" charset="-122"/>
                <a:cs typeface="Arial" pitchFamily="34" charset="-120"/>
              </a:rPr>
              <a:t>PubMed · Reports</a:t>
            </a:r>
            <a:endParaRPr lang="en-US" sz="800" dirty="0"/>
          </a:p>
        </p:txBody>
      </p:sp>
      <p:sp>
        <p:nvSpPr>
          <p:cNvPr id="12" name="Text 10"/>
          <p:cNvSpPr/>
          <p:nvPr/>
        </p:nvSpPr>
        <p:spPr>
          <a:xfrm>
            <a:off x="6838950" y="1407914"/>
            <a:ext cx="1162050" cy="908000"/>
          </a:xfrm>
          <a:prstGeom prst="rect">
            <a:avLst/>
          </a:prstGeom>
          <a:solidFill>
            <a:srgbClr val="E74C3C">
              <a:alpha val="10000"/>
            </a:srgbClr>
          </a:solidFill>
          <a:ln w="9525">
            <a:solidFill>
              <a:srgbClr val="E74C3C"/>
            </a:solidFill>
          </a:ln>
        </p:spPr>
        <p:txBody>
          <a:bodyPr wrap="square" rtlCol="0" anchor="ctr"/>
          <a:lstStyle/>
          <a:p>
            <a:pPr indent="0" marL="0">
              <a:buNone/>
            </a:pPr>
            <a:endParaRPr lang="en-US" dirty="0"/>
          </a:p>
        </p:txBody>
      </p:sp>
      <p:sp>
        <p:nvSpPr>
          <p:cNvPr id="13" name="Text 11"/>
          <p:cNvSpPr/>
          <p:nvPr/>
        </p:nvSpPr>
        <p:spPr>
          <a:xfrm>
            <a:off x="7010102" y="1671340"/>
            <a:ext cx="836140" cy="152400"/>
          </a:xfrm>
          <a:prstGeom prst="rect">
            <a:avLst/>
          </a:prstGeom>
          <a:noFill/>
          <a:ln/>
        </p:spPr>
        <p:txBody>
          <a:bodyPr wrap="square" lIns="0" tIns="0" rIns="0" bIns="0" rtlCol="0" anchor="t"/>
          <a:lstStyle/>
          <a:p>
            <a:pPr algn="l" indent="0" marL="0">
              <a:buNone/>
            </a:pPr>
            <a:r>
              <a:rPr lang="en-US" sz="1100" b="1" dirty="0">
                <a:solidFill>
                  <a:srgbClr val="E74C3C"/>
                </a:solidFill>
                <a:latin typeface="Arial" pitchFamily="34" charset="0"/>
                <a:ea typeface="Arial" pitchFamily="34" charset="-122"/>
                <a:cs typeface="Arial" pitchFamily="34" charset="-120"/>
              </a:rPr>
              <a:t>WATCHDOG</a:t>
            </a:r>
            <a:endParaRPr lang="en-US" sz="1100" dirty="0"/>
          </a:p>
        </p:txBody>
      </p:sp>
      <p:sp>
        <p:nvSpPr>
          <p:cNvPr id="14" name="Text 12"/>
          <p:cNvSpPr/>
          <p:nvPr/>
        </p:nvSpPr>
        <p:spPr>
          <a:xfrm>
            <a:off x="7060198" y="1823740"/>
            <a:ext cx="719554" cy="228600"/>
          </a:xfrm>
          <a:prstGeom prst="rect">
            <a:avLst/>
          </a:prstGeom>
          <a:noFill/>
          <a:ln/>
        </p:spPr>
        <p:txBody>
          <a:bodyPr wrap="square" lIns="0" tIns="0" rIns="0" bIns="0" rtlCol="0" anchor="t"/>
          <a:lstStyle/>
          <a:p>
            <a:pPr algn="ctr" indent="0" marL="0">
              <a:buNone/>
            </a:pPr>
            <a:r>
              <a:rPr lang="en-US" sz="800" dirty="0">
                <a:solidFill>
                  <a:srgbClr val="B0BEC5"/>
                </a:solidFill>
                <a:latin typeface="Arial" pitchFamily="34" charset="0"/>
                <a:ea typeface="Arial" pitchFamily="34" charset="-122"/>
                <a:cs typeface="Arial" pitchFamily="34" charset="-120"/>
              </a:rPr>
              <a:t>System Monitor</a:t>
            </a:r>
            <a:endParaRPr lang="en-US" sz="800" dirty="0"/>
          </a:p>
          <a:p>
            <a:pPr algn="ctr" indent="0" marL="0">
              <a:buNone/>
            </a:pPr>
            <a:r>
              <a:rPr lang="en-US" sz="800" dirty="0">
                <a:solidFill>
                  <a:srgbClr val="B0BEC5"/>
                </a:solidFill>
                <a:latin typeface="Arial" pitchFamily="34" charset="0"/>
                <a:ea typeface="Arial" pitchFamily="34" charset="-122"/>
                <a:cs typeface="Arial" pitchFamily="34" charset="-120"/>
              </a:rPr>
              <a:t>Alerts · Logs</a:t>
            </a:r>
            <a:endParaRPr lang="en-US" sz="800" dirty="0"/>
          </a:p>
        </p:txBody>
      </p:sp>
      <p:sp>
        <p:nvSpPr>
          <p:cNvPr id="15" name="Text 13"/>
          <p:cNvSpPr/>
          <p:nvPr/>
        </p:nvSpPr>
        <p:spPr>
          <a:xfrm>
            <a:off x="888950" y="3801963"/>
            <a:ext cx="1162050" cy="908000"/>
          </a:xfrm>
          <a:prstGeom prst="rect">
            <a:avLst/>
          </a:prstGeom>
          <a:solidFill>
            <a:srgbClr val="F1C40F">
              <a:alpha val="10000"/>
            </a:srgbClr>
          </a:solidFill>
          <a:ln w="9525">
            <a:solidFill>
              <a:srgbClr val="F1C40F"/>
            </a:solidFill>
          </a:ln>
        </p:spPr>
        <p:txBody>
          <a:bodyPr wrap="square" rtlCol="0" anchor="ctr"/>
          <a:lstStyle/>
          <a:p>
            <a:pPr indent="0" marL="0">
              <a:buNone/>
            </a:pPr>
            <a:endParaRPr lang="en-US" dirty="0"/>
          </a:p>
        </p:txBody>
      </p:sp>
      <p:sp>
        <p:nvSpPr>
          <p:cNvPr id="16" name="Text 14"/>
          <p:cNvSpPr/>
          <p:nvPr/>
        </p:nvSpPr>
        <p:spPr>
          <a:xfrm>
            <a:off x="1063972" y="4065389"/>
            <a:ext cx="828246" cy="152400"/>
          </a:xfrm>
          <a:prstGeom prst="rect">
            <a:avLst/>
          </a:prstGeom>
          <a:noFill/>
          <a:ln/>
        </p:spPr>
        <p:txBody>
          <a:bodyPr wrap="square" lIns="0" tIns="0" rIns="0" bIns="0" rtlCol="0" anchor="t"/>
          <a:lstStyle/>
          <a:p>
            <a:pPr algn="l" indent="0" marL="0">
              <a:buNone/>
            </a:pPr>
            <a:r>
              <a:rPr lang="en-US" sz="1100" b="1" dirty="0">
                <a:solidFill>
                  <a:srgbClr val="F1C40F"/>
                </a:solidFill>
                <a:latin typeface="Arial" pitchFamily="34" charset="0"/>
                <a:ea typeface="Arial" pitchFamily="34" charset="-122"/>
                <a:cs typeface="Arial" pitchFamily="34" charset="-120"/>
              </a:rPr>
              <a:t>PAPER-BOT</a:t>
            </a:r>
            <a:endParaRPr lang="en-US" sz="1100" dirty="0"/>
          </a:p>
        </p:txBody>
      </p:sp>
      <p:sp>
        <p:nvSpPr>
          <p:cNvPr id="17" name="Text 15"/>
          <p:cNvSpPr/>
          <p:nvPr/>
        </p:nvSpPr>
        <p:spPr>
          <a:xfrm>
            <a:off x="1159081" y="4217789"/>
            <a:ext cx="621640" cy="228600"/>
          </a:xfrm>
          <a:prstGeom prst="rect">
            <a:avLst/>
          </a:prstGeom>
          <a:noFill/>
          <a:ln/>
        </p:spPr>
        <p:txBody>
          <a:bodyPr wrap="square" lIns="0" tIns="0" rIns="0" bIns="0" rtlCol="0" anchor="t"/>
          <a:lstStyle/>
          <a:p>
            <a:pPr algn="ctr" indent="0" marL="0">
              <a:buNone/>
            </a:pPr>
            <a:r>
              <a:rPr lang="en-US" sz="800" dirty="0">
                <a:solidFill>
                  <a:srgbClr val="B0BEC5"/>
                </a:solidFill>
                <a:latin typeface="Arial" pitchFamily="34" charset="0"/>
                <a:ea typeface="Arial" pitchFamily="34" charset="-122"/>
                <a:cs typeface="Arial" pitchFamily="34" charset="-120"/>
              </a:rPr>
              <a:t>Peer Review</a:t>
            </a:r>
            <a:endParaRPr lang="en-US" sz="800" dirty="0"/>
          </a:p>
          <a:p>
            <a:pPr algn="ctr" indent="0" marL="0">
              <a:buNone/>
            </a:pPr>
            <a:r>
              <a:rPr lang="en-US" sz="800" dirty="0">
                <a:solidFill>
                  <a:srgbClr val="B0BEC5"/>
                </a:solidFill>
                <a:latin typeface="Arial" pitchFamily="34" charset="0"/>
                <a:ea typeface="Arial" pitchFamily="34" charset="-122"/>
                <a:cs typeface="Arial" pitchFamily="34" charset="-120"/>
              </a:rPr>
              <a:t>4-dim critique</a:t>
            </a:r>
            <a:endParaRPr lang="en-US" sz="800" dirty="0"/>
          </a:p>
        </p:txBody>
      </p:sp>
      <p:sp>
        <p:nvSpPr>
          <p:cNvPr id="18" name="Text 16"/>
          <p:cNvSpPr/>
          <p:nvPr/>
        </p:nvSpPr>
        <p:spPr>
          <a:xfrm>
            <a:off x="7092851" y="3801963"/>
            <a:ext cx="1162050" cy="908000"/>
          </a:xfrm>
          <a:prstGeom prst="rect">
            <a:avLst/>
          </a:prstGeom>
          <a:solidFill>
            <a:srgbClr val="2ECC71">
              <a:alpha val="10000"/>
            </a:srgbClr>
          </a:solidFill>
          <a:ln w="9525">
            <a:solidFill>
              <a:srgbClr val="2ECC71"/>
            </a:solidFill>
          </a:ln>
        </p:spPr>
        <p:txBody>
          <a:bodyPr wrap="square" rtlCol="0" anchor="ctr"/>
          <a:lstStyle/>
          <a:p>
            <a:pPr indent="0" marL="0">
              <a:buNone/>
            </a:pPr>
            <a:endParaRPr lang="en-US" dirty="0"/>
          </a:p>
        </p:txBody>
      </p:sp>
      <p:sp>
        <p:nvSpPr>
          <p:cNvPr id="19" name="Text 17"/>
          <p:cNvSpPr/>
          <p:nvPr/>
        </p:nvSpPr>
        <p:spPr>
          <a:xfrm>
            <a:off x="7253585" y="4065389"/>
            <a:ext cx="857241" cy="152400"/>
          </a:xfrm>
          <a:prstGeom prst="rect">
            <a:avLst/>
          </a:prstGeom>
          <a:noFill/>
          <a:ln/>
        </p:spPr>
        <p:txBody>
          <a:bodyPr wrap="square" lIns="0" tIns="0" rIns="0" bIns="0" rtlCol="0" anchor="t"/>
          <a:lstStyle/>
          <a:p>
            <a:pPr algn="l" indent="0" marL="0">
              <a:buNone/>
            </a:pPr>
            <a:r>
              <a:rPr lang="en-US" sz="1100" b="1" dirty="0">
                <a:solidFill>
                  <a:srgbClr val="2ECC71"/>
                </a:solidFill>
                <a:latin typeface="Arial" pitchFamily="34" charset="0"/>
                <a:ea typeface="Arial" pitchFamily="34" charset="-122"/>
                <a:cs typeface="Arial" pitchFamily="34" charset="-120"/>
              </a:rPr>
              <a:t>PCA BOARD</a:t>
            </a:r>
            <a:endParaRPr lang="en-US" sz="1100" dirty="0"/>
          </a:p>
        </p:txBody>
      </p:sp>
      <p:sp>
        <p:nvSpPr>
          <p:cNvPr id="20" name="Text 18"/>
          <p:cNvSpPr/>
          <p:nvPr/>
        </p:nvSpPr>
        <p:spPr>
          <a:xfrm>
            <a:off x="7236224" y="4217789"/>
            <a:ext cx="875154" cy="228600"/>
          </a:xfrm>
          <a:prstGeom prst="rect">
            <a:avLst/>
          </a:prstGeom>
          <a:noFill/>
          <a:ln/>
        </p:spPr>
        <p:txBody>
          <a:bodyPr wrap="square" lIns="0" tIns="0" rIns="0" bIns="0" rtlCol="0" anchor="t"/>
          <a:lstStyle/>
          <a:p>
            <a:pPr algn="ctr" indent="0" marL="0">
              <a:buNone/>
            </a:pPr>
            <a:r>
              <a:rPr lang="en-US" sz="800" dirty="0">
                <a:solidFill>
                  <a:srgbClr val="B0BEC5"/>
                </a:solidFill>
                <a:latin typeface="Arial" pitchFamily="34" charset="0"/>
                <a:ea typeface="Arial" pitchFamily="34" charset="-122"/>
                <a:cs typeface="Arial" pitchFamily="34" charset="-120"/>
              </a:rPr>
              <a:t>5 Specialist Agents</a:t>
            </a:r>
            <a:endParaRPr lang="en-US" sz="800" dirty="0"/>
          </a:p>
          <a:p>
            <a:pPr algn="ctr" indent="0" marL="0">
              <a:buNone/>
            </a:pPr>
            <a:r>
              <a:rPr lang="en-US" sz="800" dirty="0">
                <a:solidFill>
                  <a:srgbClr val="B0BEC5"/>
                </a:solidFill>
                <a:latin typeface="Arial" pitchFamily="34" charset="0"/>
                <a:ea typeface="Arial" pitchFamily="34" charset="-122"/>
                <a:cs typeface="Arial" pitchFamily="34" charset="-120"/>
              </a:rPr>
              <a:t>Tumor board sim</a:t>
            </a:r>
            <a:endParaRPr lang="en-US" sz="800" dirty="0"/>
          </a:p>
        </p:txBody>
      </p:sp>
      <p:sp>
        <p:nvSpPr>
          <p:cNvPr id="21" name="Text 19"/>
          <p:cNvSpPr/>
          <p:nvPr/>
        </p:nvSpPr>
        <p:spPr>
          <a:xfrm>
            <a:off x="507950" y="2658963"/>
            <a:ext cx="1162050" cy="908000"/>
          </a:xfrm>
          <a:prstGeom prst="rect">
            <a:avLst/>
          </a:prstGeom>
          <a:solidFill>
            <a:srgbClr val="F39C12">
              <a:alpha val="10000"/>
            </a:srgbClr>
          </a:solidFill>
          <a:ln w="9525">
            <a:solidFill>
              <a:srgbClr val="F39C12"/>
            </a:solidFill>
          </a:ln>
        </p:spPr>
        <p:txBody>
          <a:bodyPr wrap="square" rtlCol="0" anchor="ctr"/>
          <a:lstStyle/>
          <a:p>
            <a:pPr indent="0" marL="0">
              <a:buNone/>
            </a:pPr>
            <a:endParaRPr lang="en-US" dirty="0"/>
          </a:p>
        </p:txBody>
      </p:sp>
      <p:sp>
        <p:nvSpPr>
          <p:cNvPr id="22" name="Text 20"/>
          <p:cNvSpPr/>
          <p:nvPr/>
        </p:nvSpPr>
        <p:spPr>
          <a:xfrm>
            <a:off x="673894" y="2922389"/>
            <a:ext cx="846615" cy="152400"/>
          </a:xfrm>
          <a:prstGeom prst="rect">
            <a:avLst/>
          </a:prstGeom>
          <a:noFill/>
          <a:ln/>
        </p:spPr>
        <p:txBody>
          <a:bodyPr wrap="square" lIns="0" tIns="0" rIns="0" bIns="0" rtlCol="0" anchor="t"/>
          <a:lstStyle/>
          <a:p>
            <a:pPr algn="l" indent="0" marL="0">
              <a:buNone/>
            </a:pPr>
            <a:r>
              <a:rPr lang="en-US" sz="1100" b="1" dirty="0">
                <a:solidFill>
                  <a:srgbClr val="F39C12"/>
                </a:solidFill>
                <a:latin typeface="Arial" pitchFamily="34" charset="0"/>
                <a:ea typeface="Arial" pitchFamily="34" charset="-122"/>
                <a:cs typeface="Arial" pitchFamily="34" charset="-120"/>
              </a:rPr>
              <a:t>GRANT-BOT</a:t>
            </a:r>
            <a:endParaRPr lang="en-US" sz="1100" dirty="0"/>
          </a:p>
        </p:txBody>
      </p:sp>
      <p:sp>
        <p:nvSpPr>
          <p:cNvPr id="23" name="Text 21"/>
          <p:cNvSpPr/>
          <p:nvPr/>
        </p:nvSpPr>
        <p:spPr>
          <a:xfrm>
            <a:off x="700355" y="3074789"/>
            <a:ext cx="777240" cy="228600"/>
          </a:xfrm>
          <a:prstGeom prst="rect">
            <a:avLst/>
          </a:prstGeom>
          <a:noFill/>
          <a:ln/>
        </p:spPr>
        <p:txBody>
          <a:bodyPr wrap="square" lIns="0" tIns="0" rIns="0" bIns="0" rtlCol="0" anchor="t"/>
          <a:lstStyle/>
          <a:p>
            <a:pPr algn="ctr" indent="0" marL="0">
              <a:buNone/>
            </a:pPr>
            <a:r>
              <a:rPr lang="en-US" sz="800" dirty="0">
                <a:solidFill>
                  <a:srgbClr val="B0BEC5"/>
                </a:solidFill>
                <a:latin typeface="Arial" pitchFamily="34" charset="0"/>
                <a:ea typeface="Arial" pitchFamily="34" charset="-122"/>
                <a:cs typeface="Arial" pitchFamily="34" charset="-120"/>
              </a:rPr>
              <a:t>NSTC 2026</a:t>
            </a:r>
            <a:endParaRPr lang="en-US" sz="800" dirty="0"/>
          </a:p>
          <a:p>
            <a:pPr algn="ctr" indent="0" marL="0">
              <a:buNone/>
            </a:pPr>
            <a:r>
              <a:rPr lang="en-US" sz="800" dirty="0">
                <a:solidFill>
                  <a:srgbClr val="B0BEC5"/>
                </a:solidFill>
                <a:latin typeface="Arial" pitchFamily="34" charset="0"/>
                <a:ea typeface="Arial" pitchFamily="34" charset="-122"/>
                <a:cs typeface="Arial" pitchFamily="34" charset="-120"/>
              </a:rPr>
              <a:t>4 modules · 80%</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50A1E"/>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9B59B6"/>
          </a:solidFill>
          <a:ln/>
        </p:spPr>
        <p:txBody>
          <a:bodyPr wrap="square" rtlCol="0" anchor="ctr"/>
          <a:lstStyle/>
          <a:p>
            <a:pPr indent="0" marL="0">
              <a:buNone/>
            </a:pPr>
            <a:endParaRPr lang="en-US" dirty="0"/>
          </a:p>
        </p:txBody>
      </p:sp>
      <p:sp>
        <p:nvSpPr>
          <p:cNvPr id="3" name="Text 1"/>
          <p:cNvSpPr/>
          <p:nvPr/>
        </p:nvSpPr>
        <p:spPr>
          <a:xfrm>
            <a:off x="355550" y="1006227"/>
            <a:ext cx="4015689" cy="142875"/>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9B59B6"/>
                </a:solidFill>
                <a:latin typeface="Arial" pitchFamily="34" charset="0"/>
                <a:ea typeface="Arial" pitchFamily="34" charset="-122"/>
                <a:cs typeface="Arial" pitchFamily="34" charset="-120"/>
              </a:rPr>
              <a:t>CASE STUDY 1</a:t>
            </a:r>
            <a:endParaRPr lang="en-US" sz="1000" dirty="0"/>
          </a:p>
        </p:txBody>
      </p:sp>
      <p:sp>
        <p:nvSpPr>
          <p:cNvPr id="4" name="Text 2"/>
          <p:cNvSpPr/>
          <p:nvPr/>
        </p:nvSpPr>
        <p:spPr>
          <a:xfrm>
            <a:off x="355550" y="1276052"/>
            <a:ext cx="4015689" cy="670322"/>
          </a:xfrm>
          <a:prstGeom prst="rect">
            <a:avLst/>
          </a:prstGeom>
          <a:noFill/>
          <a:ln/>
        </p:spPr>
        <p:txBody>
          <a:bodyPr wrap="square" lIns="0" tIns="0" rIns="0" bIns="0" rtlCol="0" anchor="t"/>
          <a:lstStyle/>
          <a:p>
            <a:pPr algn="l" indent="0" marL="0">
              <a:lnSpc>
                <a:spcPts val="2640"/>
              </a:lnSpc>
              <a:spcAft>
                <a:spcPts val="1000"/>
              </a:spcAft>
              <a:buNone/>
            </a:pPr>
            <a:r>
              <a:rPr lang="en-US" sz="2200" dirty="0">
                <a:solidFill>
                  <a:srgbClr val="FFFFFF"/>
                </a:solidFill>
                <a:latin typeface="Arial" pitchFamily="34" charset="0"/>
                <a:ea typeface="Arial" pitchFamily="34" charset="-122"/>
                <a:cs typeface="Arial" pitchFamily="34" charset="-120"/>
              </a:rPr>
              <a:t>The </a:t>
            </a:r>
            <a:pPr algn="l" indent="0" marL="0">
              <a:lnSpc>
                <a:spcPts val="2640"/>
              </a:lnSpc>
              <a:spcAft>
                <a:spcPts val="1000"/>
              </a:spcAft>
              <a:buNone/>
            </a:pPr>
            <a:r>
              <a:rPr lang="en-US" sz="2200" b="1" dirty="0">
                <a:solidFill>
                  <a:srgbClr val="9B59B6"/>
                </a:solidFill>
                <a:latin typeface="Arial" pitchFamily="34" charset="0"/>
                <a:ea typeface="Arial" pitchFamily="34" charset="-122"/>
                <a:cs typeface="Arial" pitchFamily="34" charset="-120"/>
              </a:rPr>
              <a:t>Microbiology Course</a:t>
            </a:r>
            <a:pPr algn="l" indent="0" marL="0">
              <a:lnSpc>
                <a:spcPts val="2640"/>
              </a:lnSpc>
              <a:spcAft>
                <a:spcPts val="1000"/>
              </a:spcAft>
              <a:buNone/>
            </a:pPr>
            <a:endParaRPr lang="en-US" sz="2200" dirty="0"/>
          </a:p>
          <a:p>
            <a:pPr algn="l" indent="0" marL="0">
              <a:lnSpc>
                <a:spcPts val="2640"/>
              </a:lnSpc>
              <a:spcAft>
                <a:spcPts val="1000"/>
              </a:spcAft>
              <a:buNone/>
            </a:pPr>
            <a:r>
              <a:rPr lang="en-US" sz="2200" dirty="0">
                <a:solidFill>
                  <a:srgbClr val="FFFFFF"/>
                </a:solidFill>
                <a:latin typeface="Arial" pitchFamily="34" charset="0"/>
                <a:ea typeface="Arial" pitchFamily="34" charset="-122"/>
                <a:cs typeface="Arial" pitchFamily="34" charset="-120"/>
              </a:rPr>
              <a:t>Built by Agents</a:t>
            </a:r>
            <a:endParaRPr lang="en-US" sz="2200" dirty="0"/>
          </a:p>
        </p:txBody>
      </p:sp>
      <p:sp>
        <p:nvSpPr>
          <p:cNvPr id="5" name="Text 3"/>
          <p:cNvSpPr/>
          <p:nvPr/>
        </p:nvSpPr>
        <p:spPr>
          <a:xfrm>
            <a:off x="355550" y="2212925"/>
            <a:ext cx="4015689" cy="670620"/>
          </a:xfrm>
          <a:prstGeom prst="rect">
            <a:avLst/>
          </a:prstGeom>
          <a:noFill/>
          <a:ln/>
        </p:spPr>
        <p:txBody>
          <a:bodyPr wrap="square" lIns="0" tIns="0" rIns="0" bIns="0" rtlCol="0" anchor="t"/>
          <a:lstStyle/>
          <a:p>
            <a:pPr algn="l" indent="0" marL="0">
              <a:lnSpc>
                <a:spcPts val="1760"/>
              </a:lnSpc>
              <a:spcBef>
                <a:spcPts val="1100"/>
              </a:spcBef>
              <a:spcAft>
                <a:spcPts val="1400"/>
              </a:spcAft>
              <a:buNone/>
            </a:pPr>
            <a:r>
              <a:rPr lang="en-US" sz="1100" dirty="0">
                <a:solidFill>
                  <a:srgbClr val="B0BEC5"/>
                </a:solidFill>
                <a:latin typeface="Arial" pitchFamily="34" charset="0"/>
                <a:ea typeface="Arial" pitchFamily="34" charset="-122"/>
                <a:cs typeface="Arial" pitchFamily="34" charset="-120"/>
              </a:rPr>
              <a:t>16 weeks of detective-style clinical microbiology cases. Created, reviewed, and deployed — almost entirely by AI agents running scheduled tasks overnight.</a:t>
            </a:r>
            <a:endParaRPr lang="en-US" sz="1100" dirty="0"/>
          </a:p>
        </p:txBody>
      </p:sp>
      <p:sp>
        <p:nvSpPr>
          <p:cNvPr id="6" name="Text 4"/>
          <p:cNvSpPr/>
          <p:nvPr/>
        </p:nvSpPr>
        <p:spPr>
          <a:xfrm>
            <a:off x="355550" y="3061246"/>
            <a:ext cx="3936950" cy="364927"/>
          </a:xfrm>
          <a:prstGeom prst="rect">
            <a:avLst/>
          </a:prstGeom>
          <a:solidFill>
            <a:srgbClr val="0D1117"/>
          </a:solidFill>
          <a:ln w="9525">
            <a:solidFill>
              <a:srgbClr val="9B59B6"/>
            </a:solidFill>
          </a:ln>
        </p:spPr>
        <p:txBody>
          <a:bodyPr wrap="square" rtlCol="0" anchor="ctr"/>
          <a:lstStyle/>
          <a:p>
            <a:pPr indent="0" marL="0">
              <a:buNone/>
            </a:pPr>
            <a:endParaRPr lang="en-US" dirty="0"/>
          </a:p>
        </p:txBody>
      </p:sp>
      <p:sp>
        <p:nvSpPr>
          <p:cNvPr id="7" name="Text 5"/>
          <p:cNvSpPr/>
          <p:nvPr/>
        </p:nvSpPr>
        <p:spPr>
          <a:xfrm>
            <a:off x="517475" y="3172271"/>
            <a:ext cx="3685362" cy="142875"/>
          </a:xfrm>
          <a:prstGeom prst="rect">
            <a:avLst/>
          </a:prstGeom>
          <a:noFill/>
          <a:ln/>
        </p:spPr>
        <p:txBody>
          <a:bodyPr wrap="square" lIns="0" tIns="0" rIns="0" bIns="0" rtlCol="0" anchor="t"/>
          <a:lstStyle/>
          <a:p>
            <a:pPr algn="l" indent="0" marL="0">
              <a:buNone/>
            </a:pPr>
            <a:r>
              <a:rPr lang="en-US" sz="1000" dirty="0">
                <a:solidFill>
                  <a:srgbClr val="9B59B6"/>
                </a:solidFill>
                <a:latin typeface="Courier New" pitchFamily="34" charset="0"/>
                <a:ea typeface="Courier New" pitchFamily="34" charset="-122"/>
                <a:cs typeface="Courier New" pitchFamily="34" charset="-120"/>
              </a:rPr>
              <a:t>clinical-ai-course.yuanuro.com</a:t>
            </a:r>
            <a:endParaRPr lang="en-US" sz="1000" dirty="0"/>
          </a:p>
        </p:txBody>
      </p:sp>
      <p:sp>
        <p:nvSpPr>
          <p:cNvPr id="8" name="Text 6"/>
          <p:cNvSpPr/>
          <p:nvPr/>
        </p:nvSpPr>
        <p:spPr>
          <a:xfrm>
            <a:off x="355550" y="3578572"/>
            <a:ext cx="3936950" cy="685502"/>
          </a:xfrm>
          <a:prstGeom prst="rect">
            <a:avLst/>
          </a:prstGeom>
          <a:solidFill>
            <a:srgbClr val="00D4FF">
              <a:alpha val="8000"/>
            </a:srgbClr>
          </a:solidFill>
          <a:ln w="9525">
            <a:solidFill>
              <a:srgbClr val="00D4FF"/>
            </a:solidFill>
          </a:ln>
        </p:spPr>
        <p:txBody>
          <a:bodyPr wrap="square" rtlCol="0" anchor="ctr"/>
          <a:lstStyle/>
          <a:p>
            <a:pPr indent="0" marL="0">
              <a:buNone/>
            </a:pPr>
            <a:endParaRPr lang="en-US" dirty="0"/>
          </a:p>
        </p:txBody>
      </p:sp>
      <p:sp>
        <p:nvSpPr>
          <p:cNvPr id="9" name="Text 7"/>
          <p:cNvSpPr/>
          <p:nvPr/>
        </p:nvSpPr>
        <p:spPr>
          <a:xfrm>
            <a:off x="517475" y="3816548"/>
            <a:ext cx="3685362" cy="209550"/>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00D4FF"/>
                </a:solidFill>
                <a:latin typeface="Arial" pitchFamily="34" charset="0"/>
                <a:ea typeface="Arial" pitchFamily="34" charset="-122"/>
                <a:cs typeface="Arial" pitchFamily="34" charset="-120"/>
              </a:rPr>
              <a:t>📦 github.com/lunhsiangyuan/case-based-microbiology</a:t>
            </a:r>
            <a:endParaRPr lang="en-US" sz="1000" dirty="0"/>
          </a:p>
        </p:txBody>
      </p:sp>
      <p:sp>
        <p:nvSpPr>
          <p:cNvPr id="10" name="Shape 8"/>
          <p:cNvSpPr/>
          <p:nvPr/>
        </p:nvSpPr>
        <p:spPr>
          <a:xfrm>
            <a:off x="4657576" y="0"/>
            <a:ext cx="0" cy="5143500"/>
          </a:xfrm>
          <a:prstGeom prst="line">
            <a:avLst/>
          </a:prstGeom>
          <a:noFill/>
          <a:ln w="19050">
            <a:solidFill>
              <a:srgbClr val="9B59B6"/>
            </a:solidFill>
            <a:prstDash val="solid"/>
          </a:ln>
        </p:spPr>
      </p:sp>
      <p:sp>
        <p:nvSpPr>
          <p:cNvPr id="11" name="Text 9"/>
          <p:cNvSpPr/>
          <p:nvPr/>
        </p:nvSpPr>
        <p:spPr>
          <a:xfrm>
            <a:off x="4946452" y="477292"/>
            <a:ext cx="3996562" cy="133350"/>
          </a:xfrm>
          <a:prstGeom prst="rect">
            <a:avLst/>
          </a:prstGeom>
          <a:noFill/>
          <a:ln/>
        </p:spPr>
        <p:txBody>
          <a:bodyPr wrap="square" lIns="0" tIns="0" rIns="0" bIns="0" rtlCol="0" anchor="t"/>
          <a:lstStyle/>
          <a:p>
            <a:pPr algn="l" indent="0" marL="0">
              <a:spcBef>
                <a:spcPts val="900"/>
              </a:spcBef>
              <a:spcAft>
                <a:spcPts val="1000"/>
              </a:spcAft>
              <a:buNone/>
            </a:pPr>
            <a:r>
              <a:rPr lang="en-US" sz="900" dirty="0">
                <a:solidFill>
                  <a:srgbClr val="8B8B8B"/>
                </a:solidFill>
                <a:latin typeface="Arial" pitchFamily="34" charset="0"/>
                <a:ea typeface="Arial" pitchFamily="34" charset="-122"/>
                <a:cs typeface="Arial" pitchFamily="34" charset="-120"/>
              </a:rPr>
              <a:t>HOW IT WAS BUILT</a:t>
            </a:r>
            <a:endParaRPr lang="en-US" sz="900" dirty="0"/>
          </a:p>
        </p:txBody>
      </p:sp>
      <p:sp>
        <p:nvSpPr>
          <p:cNvPr id="12" name="Text 10"/>
          <p:cNvSpPr/>
          <p:nvPr/>
        </p:nvSpPr>
        <p:spPr>
          <a:xfrm>
            <a:off x="4946452" y="737592"/>
            <a:ext cx="3918198" cy="901303"/>
          </a:xfrm>
          <a:prstGeom prst="rect">
            <a:avLst/>
          </a:prstGeom>
          <a:solidFill>
            <a:srgbClr val="9B59B6">
              <a:alpha val="7000"/>
            </a:srgbClr>
          </a:solidFill>
          <a:ln w="9525">
            <a:solidFill>
              <a:srgbClr val="9B59B6"/>
            </a:solidFill>
          </a:ln>
        </p:spPr>
        <p:txBody>
          <a:bodyPr wrap="square" rtlCol="0" anchor="ctr"/>
          <a:lstStyle/>
          <a:p>
            <a:pPr indent="0" marL="0">
              <a:buNone/>
            </a:pPr>
            <a:endParaRPr lang="en-US" dirty="0"/>
          </a:p>
        </p:txBody>
      </p:sp>
      <p:sp>
        <p:nvSpPr>
          <p:cNvPr id="13" name="Text 11"/>
          <p:cNvSpPr/>
          <p:nvPr/>
        </p:nvSpPr>
        <p:spPr>
          <a:xfrm>
            <a:off x="5108377" y="1013668"/>
            <a:ext cx="233172" cy="200025"/>
          </a:xfrm>
          <a:prstGeom prst="rect">
            <a:avLst/>
          </a:prstGeom>
          <a:noFill/>
          <a:ln/>
        </p:spPr>
        <p:txBody>
          <a:bodyPr wrap="square" lIns="0" tIns="0" rIns="0" bIns="0" rtlCol="0" anchor="t"/>
          <a:lstStyle/>
          <a:p>
            <a:pPr algn="l" indent="0" marL="0">
              <a:spcBef>
                <a:spcPts val="1300"/>
              </a:spcBef>
              <a:spcAft>
                <a:spcPts val="1300"/>
              </a:spcAft>
              <a:buNone/>
            </a:pPr>
            <a:r>
              <a:rPr lang="en-US" sz="1300" dirty="0">
                <a:solidFill>
                  <a:srgbClr val="9B59B6"/>
                </a:solidFill>
                <a:latin typeface="Arial" pitchFamily="34" charset="0"/>
                <a:ea typeface="Arial" pitchFamily="34" charset="-122"/>
                <a:cs typeface="Arial" pitchFamily="34" charset="-120"/>
              </a:rPr>
              <a:t>1</a:t>
            </a:r>
            <a:endParaRPr lang="en-US" sz="1300" dirty="0"/>
          </a:p>
        </p:txBody>
      </p:sp>
      <p:sp>
        <p:nvSpPr>
          <p:cNvPr id="14" name="Text 12"/>
          <p:cNvSpPr/>
          <p:nvPr/>
        </p:nvSpPr>
        <p:spPr>
          <a:xfrm>
            <a:off x="5463927" y="988219"/>
            <a:ext cx="3119435" cy="152400"/>
          </a:xfrm>
          <a:prstGeom prst="rect">
            <a:avLst/>
          </a:prstGeom>
          <a:noFill/>
          <a:ln/>
        </p:spPr>
        <p:txBody>
          <a:bodyPr wrap="square" lIns="0" tIns="0" rIns="0" bIns="0" rtlCol="0" anchor="t"/>
          <a:lstStyle/>
          <a:p>
            <a:pPr algn="l" indent="0" marL="0">
              <a:spcBef>
                <a:spcPts val="1100"/>
              </a:spcBef>
              <a:spcAft>
                <a:spcPts val="1100"/>
              </a:spcAft>
              <a:buNone/>
            </a:pPr>
            <a:r>
              <a:rPr lang="en-US" sz="1100" b="1" dirty="0">
                <a:solidFill>
                  <a:srgbClr val="E0E0E0"/>
                </a:solidFill>
                <a:latin typeface="Arial" pitchFamily="34" charset="0"/>
                <a:ea typeface="Arial" pitchFamily="34" charset="-122"/>
                <a:cs typeface="Arial" pitchFamily="34" charset="-120"/>
              </a:rPr>
              <a:t>Serie agent</a:t>
            </a:r>
            <a:pPr algn="l" indent="0" marL="0">
              <a:spcBef>
                <a:spcPts val="1100"/>
              </a:spcBef>
              <a:spcAft>
                <a:spcPts val="1100"/>
              </a:spcAft>
              <a:buNone/>
            </a:pPr>
            <a:r>
              <a:rPr lang="en-US" sz="1100" dirty="0">
                <a:solidFill>
                  <a:srgbClr val="E0E0E0"/>
                </a:solidFill>
                <a:latin typeface="Arial" pitchFamily="34" charset="0"/>
                <a:ea typeface="Arial" pitchFamily="34" charset="-122"/>
                <a:cs typeface="Arial" pitchFamily="34" charset="-120"/>
              </a:rPr>
              <a:t> researched each organism overnight</a:t>
            </a:r>
            <a:endParaRPr lang="en-US" sz="1100" dirty="0"/>
          </a:p>
        </p:txBody>
      </p:sp>
      <p:sp>
        <p:nvSpPr>
          <p:cNvPr id="15" name="Text 13"/>
          <p:cNvSpPr/>
          <p:nvPr/>
        </p:nvSpPr>
        <p:spPr>
          <a:xfrm>
            <a:off x="5463927" y="1280220"/>
            <a:ext cx="3119435" cy="133350"/>
          </a:xfrm>
          <a:prstGeom prst="rect">
            <a:avLst/>
          </a:prstGeom>
          <a:noFill/>
          <a:ln/>
        </p:spPr>
        <p:txBody>
          <a:bodyPr wrap="square" lIns="0" tIns="0" rIns="0" bIns="0" rtlCol="0" anchor="t"/>
          <a:lstStyle/>
          <a:p>
            <a:pPr algn="l" indent="0" marL="0">
              <a:spcBef>
                <a:spcPts val="200"/>
              </a:spcBef>
              <a:spcAft>
                <a:spcPts val="900"/>
              </a:spcAft>
              <a:buNone/>
            </a:pPr>
            <a:r>
              <a:rPr lang="en-US" sz="900" dirty="0">
                <a:solidFill>
                  <a:srgbClr val="8B8B8B"/>
                </a:solidFill>
                <a:latin typeface="Arial" pitchFamily="34" charset="0"/>
                <a:ea typeface="Arial" pitchFamily="34" charset="-122"/>
                <a:cs typeface="Arial" pitchFamily="34" charset="-120"/>
              </a:rPr>
              <a:t>PubMed queries → case vignette drafts → bilingual content</a:t>
            </a:r>
            <a:endParaRPr lang="en-US" sz="900" dirty="0"/>
          </a:p>
        </p:txBody>
      </p:sp>
      <p:sp>
        <p:nvSpPr>
          <p:cNvPr id="16" name="Text 14"/>
          <p:cNvSpPr/>
          <p:nvPr/>
        </p:nvSpPr>
        <p:spPr>
          <a:xfrm>
            <a:off x="4946452" y="1740396"/>
            <a:ext cx="3918198" cy="901303"/>
          </a:xfrm>
          <a:prstGeom prst="rect">
            <a:avLst/>
          </a:prstGeom>
          <a:solidFill>
            <a:srgbClr val="9B59B6">
              <a:alpha val="7000"/>
            </a:srgbClr>
          </a:solidFill>
          <a:ln w="9525">
            <a:solidFill>
              <a:srgbClr val="9B59B6"/>
            </a:solidFill>
          </a:ln>
        </p:spPr>
        <p:txBody>
          <a:bodyPr wrap="square" rtlCol="0" anchor="ctr"/>
          <a:lstStyle/>
          <a:p>
            <a:pPr indent="0" marL="0">
              <a:buNone/>
            </a:pPr>
            <a:endParaRPr lang="en-US" dirty="0"/>
          </a:p>
        </p:txBody>
      </p:sp>
      <p:sp>
        <p:nvSpPr>
          <p:cNvPr id="17" name="Text 15"/>
          <p:cNvSpPr/>
          <p:nvPr/>
        </p:nvSpPr>
        <p:spPr>
          <a:xfrm>
            <a:off x="5108377" y="2016472"/>
            <a:ext cx="233172" cy="200025"/>
          </a:xfrm>
          <a:prstGeom prst="rect">
            <a:avLst/>
          </a:prstGeom>
          <a:noFill/>
          <a:ln/>
        </p:spPr>
        <p:txBody>
          <a:bodyPr wrap="square" lIns="0" tIns="0" rIns="0" bIns="0" rtlCol="0" anchor="t"/>
          <a:lstStyle/>
          <a:p>
            <a:pPr algn="l" indent="0" marL="0">
              <a:spcBef>
                <a:spcPts val="1300"/>
              </a:spcBef>
              <a:spcAft>
                <a:spcPts val="1300"/>
              </a:spcAft>
              <a:buNone/>
            </a:pPr>
            <a:r>
              <a:rPr lang="en-US" sz="1300" dirty="0">
                <a:solidFill>
                  <a:srgbClr val="9B59B6"/>
                </a:solidFill>
                <a:latin typeface="Arial" pitchFamily="34" charset="0"/>
                <a:ea typeface="Arial" pitchFamily="34" charset="-122"/>
                <a:cs typeface="Arial" pitchFamily="34" charset="-120"/>
              </a:rPr>
              <a:t>2</a:t>
            </a:r>
            <a:endParaRPr lang="en-US" sz="1300" dirty="0"/>
          </a:p>
        </p:txBody>
      </p:sp>
      <p:sp>
        <p:nvSpPr>
          <p:cNvPr id="18" name="Text 16"/>
          <p:cNvSpPr/>
          <p:nvPr/>
        </p:nvSpPr>
        <p:spPr>
          <a:xfrm>
            <a:off x="5463927" y="1991023"/>
            <a:ext cx="3266078" cy="152400"/>
          </a:xfrm>
          <a:prstGeom prst="rect">
            <a:avLst/>
          </a:prstGeom>
          <a:noFill/>
          <a:ln/>
        </p:spPr>
        <p:txBody>
          <a:bodyPr wrap="square" lIns="0" tIns="0" rIns="0" bIns="0" rtlCol="0" anchor="t"/>
          <a:lstStyle/>
          <a:p>
            <a:pPr algn="l" indent="0" marL="0">
              <a:spcBef>
                <a:spcPts val="1100"/>
              </a:spcBef>
              <a:spcAft>
                <a:spcPts val="1100"/>
              </a:spcAft>
              <a:buNone/>
            </a:pPr>
            <a:r>
              <a:rPr lang="en-US" sz="1100" b="1" dirty="0">
                <a:solidFill>
                  <a:srgbClr val="E0E0E0"/>
                </a:solidFill>
                <a:latin typeface="Arial" pitchFamily="34" charset="0"/>
                <a:ea typeface="Arial" pitchFamily="34" charset="-122"/>
                <a:cs typeface="Arial" pitchFamily="34" charset="-120"/>
              </a:rPr>
              <a:t>Scheduled tasks</a:t>
            </a:r>
            <a:pPr algn="l" indent="0" marL="0">
              <a:spcBef>
                <a:spcPts val="1100"/>
              </a:spcBef>
              <a:spcAft>
                <a:spcPts val="1100"/>
              </a:spcAft>
              <a:buNone/>
            </a:pPr>
            <a:r>
              <a:rPr lang="en-US" sz="1100" dirty="0">
                <a:solidFill>
                  <a:srgbClr val="E0E0E0"/>
                </a:solidFill>
                <a:latin typeface="Arial" pitchFamily="34" charset="0"/>
                <a:ea typeface="Arial" pitchFamily="34" charset="-122"/>
                <a:cs typeface="Arial" pitchFamily="34" charset="-120"/>
              </a:rPr>
              <a:t> ran 15 weeks of content creation</a:t>
            </a:r>
            <a:endParaRPr lang="en-US" sz="1100" dirty="0"/>
          </a:p>
        </p:txBody>
      </p:sp>
      <p:sp>
        <p:nvSpPr>
          <p:cNvPr id="19" name="Text 17"/>
          <p:cNvSpPr/>
          <p:nvPr/>
        </p:nvSpPr>
        <p:spPr>
          <a:xfrm>
            <a:off x="5463927" y="2283023"/>
            <a:ext cx="3266078" cy="133350"/>
          </a:xfrm>
          <a:prstGeom prst="rect">
            <a:avLst/>
          </a:prstGeom>
          <a:noFill/>
          <a:ln/>
        </p:spPr>
        <p:txBody>
          <a:bodyPr wrap="square" lIns="0" tIns="0" rIns="0" bIns="0" rtlCol="0" anchor="t"/>
          <a:lstStyle/>
          <a:p>
            <a:pPr algn="l" indent="0" marL="0">
              <a:spcBef>
                <a:spcPts val="200"/>
              </a:spcBef>
              <a:spcAft>
                <a:spcPts val="900"/>
              </a:spcAft>
              <a:buNone/>
            </a:pPr>
            <a:r>
              <a:rPr lang="en-US" sz="900" dirty="0">
                <a:solidFill>
                  <a:srgbClr val="8B8B8B"/>
                </a:solidFill>
                <a:latin typeface="Arial" pitchFamily="34" charset="0"/>
                <a:ea typeface="Arial" pitchFamily="34" charset="-122"/>
                <a:cs typeface="Arial" pitchFamily="34" charset="-120"/>
              </a:rPr>
              <a:t>Cron jobs → parallel generation → automatic saves to Dropbox</a:t>
            </a:r>
            <a:endParaRPr lang="en-US" sz="900" dirty="0"/>
          </a:p>
        </p:txBody>
      </p:sp>
      <p:sp>
        <p:nvSpPr>
          <p:cNvPr id="20" name="Text 18"/>
          <p:cNvSpPr/>
          <p:nvPr/>
        </p:nvSpPr>
        <p:spPr>
          <a:xfrm>
            <a:off x="4946452" y="2743200"/>
            <a:ext cx="3918198" cy="1034653"/>
          </a:xfrm>
          <a:prstGeom prst="rect">
            <a:avLst/>
          </a:prstGeom>
          <a:solidFill>
            <a:srgbClr val="9B59B6">
              <a:alpha val="7000"/>
            </a:srgbClr>
          </a:solidFill>
          <a:ln w="9525">
            <a:solidFill>
              <a:srgbClr val="9B59B6"/>
            </a:solidFill>
          </a:ln>
        </p:spPr>
        <p:txBody>
          <a:bodyPr wrap="square" rtlCol="0" anchor="ctr"/>
          <a:lstStyle/>
          <a:p>
            <a:pPr indent="0" marL="0">
              <a:buNone/>
            </a:pPr>
            <a:endParaRPr lang="en-US" dirty="0"/>
          </a:p>
        </p:txBody>
      </p:sp>
      <p:sp>
        <p:nvSpPr>
          <p:cNvPr id="21" name="Text 19"/>
          <p:cNvSpPr/>
          <p:nvPr/>
        </p:nvSpPr>
        <p:spPr>
          <a:xfrm>
            <a:off x="5108377" y="3019276"/>
            <a:ext cx="233172" cy="200025"/>
          </a:xfrm>
          <a:prstGeom prst="rect">
            <a:avLst/>
          </a:prstGeom>
          <a:noFill/>
          <a:ln/>
        </p:spPr>
        <p:txBody>
          <a:bodyPr wrap="square" lIns="0" tIns="0" rIns="0" bIns="0" rtlCol="0" anchor="t"/>
          <a:lstStyle/>
          <a:p>
            <a:pPr algn="l" indent="0" marL="0">
              <a:spcBef>
                <a:spcPts val="1300"/>
              </a:spcBef>
              <a:spcAft>
                <a:spcPts val="1300"/>
              </a:spcAft>
              <a:buNone/>
            </a:pPr>
            <a:r>
              <a:rPr lang="en-US" sz="1300" dirty="0">
                <a:solidFill>
                  <a:srgbClr val="9B59B6"/>
                </a:solidFill>
                <a:latin typeface="Arial" pitchFamily="34" charset="0"/>
                <a:ea typeface="Arial" pitchFamily="34" charset="-122"/>
                <a:cs typeface="Arial" pitchFamily="34" charset="-120"/>
              </a:rPr>
              <a:t>3</a:t>
            </a:r>
            <a:endParaRPr lang="en-US" sz="1300" dirty="0"/>
          </a:p>
        </p:txBody>
      </p:sp>
      <p:sp>
        <p:nvSpPr>
          <p:cNvPr id="22" name="Text 20"/>
          <p:cNvSpPr/>
          <p:nvPr/>
        </p:nvSpPr>
        <p:spPr>
          <a:xfrm>
            <a:off x="5463927" y="2993827"/>
            <a:ext cx="3303574" cy="152400"/>
          </a:xfrm>
          <a:prstGeom prst="rect">
            <a:avLst/>
          </a:prstGeom>
          <a:noFill/>
          <a:ln/>
        </p:spPr>
        <p:txBody>
          <a:bodyPr wrap="square" lIns="0" tIns="0" rIns="0" bIns="0" rtlCol="0" anchor="t"/>
          <a:lstStyle/>
          <a:p>
            <a:pPr algn="l" indent="0" marL="0">
              <a:spcBef>
                <a:spcPts val="1100"/>
              </a:spcBef>
              <a:spcAft>
                <a:spcPts val="1100"/>
              </a:spcAft>
              <a:buNone/>
            </a:pPr>
            <a:r>
              <a:rPr lang="en-US" sz="1100" b="1" dirty="0">
                <a:solidFill>
                  <a:srgbClr val="E0E0E0"/>
                </a:solidFill>
                <a:latin typeface="Arial" pitchFamily="34" charset="0"/>
                <a:ea typeface="Arial" pitchFamily="34" charset="-122"/>
                <a:cs typeface="Arial" pitchFamily="34" charset="-120"/>
              </a:rPr>
              <a:t>6 parallel review agents</a:t>
            </a:r>
            <a:pPr algn="l" indent="0" marL="0">
              <a:spcBef>
                <a:spcPts val="1100"/>
              </a:spcBef>
              <a:spcAft>
                <a:spcPts val="1100"/>
              </a:spcAft>
              <a:buNone/>
            </a:pPr>
            <a:r>
              <a:rPr lang="en-US" sz="1100" dirty="0">
                <a:solidFill>
                  <a:srgbClr val="E0E0E0"/>
                </a:solidFill>
                <a:latin typeface="Arial" pitchFamily="34" charset="0"/>
                <a:ea typeface="Arial" pitchFamily="34" charset="-122"/>
                <a:cs typeface="Arial" pitchFamily="34" charset="-120"/>
              </a:rPr>
              <a:t> critiqued every case</a:t>
            </a:r>
            <a:endParaRPr lang="en-US" sz="1100" dirty="0"/>
          </a:p>
        </p:txBody>
      </p:sp>
      <p:sp>
        <p:nvSpPr>
          <p:cNvPr id="23" name="Text 21"/>
          <p:cNvSpPr/>
          <p:nvPr/>
        </p:nvSpPr>
        <p:spPr>
          <a:xfrm>
            <a:off x="5463927" y="3285827"/>
            <a:ext cx="3303574" cy="266700"/>
          </a:xfrm>
          <a:prstGeom prst="rect">
            <a:avLst/>
          </a:prstGeom>
          <a:noFill/>
          <a:ln/>
        </p:spPr>
        <p:txBody>
          <a:bodyPr wrap="square" lIns="0" tIns="0" rIns="0" bIns="0" rtlCol="0" anchor="t"/>
          <a:lstStyle/>
          <a:p>
            <a:pPr algn="l" indent="0" marL="0">
              <a:spcBef>
                <a:spcPts val="200"/>
              </a:spcBef>
              <a:spcAft>
                <a:spcPts val="900"/>
              </a:spcAft>
              <a:buNone/>
            </a:pPr>
            <a:r>
              <a:rPr lang="en-US" sz="900" dirty="0">
                <a:solidFill>
                  <a:srgbClr val="8B8B8B"/>
                </a:solidFill>
                <a:latin typeface="Arial" pitchFamily="34" charset="0"/>
                <a:ea typeface="Arial" pitchFamily="34" charset="-122"/>
                <a:cs typeface="Arial" pitchFamily="34" charset="-120"/>
              </a:rPr>
              <a:t>Accuracy · Pedagogy · Language · Clinical relevance · Format · Difficulty</a:t>
            </a:r>
            <a:endParaRPr lang="en-US" sz="900" dirty="0"/>
          </a:p>
        </p:txBody>
      </p:sp>
      <p:sp>
        <p:nvSpPr>
          <p:cNvPr id="24" name="Text 22"/>
          <p:cNvSpPr/>
          <p:nvPr/>
        </p:nvSpPr>
        <p:spPr>
          <a:xfrm>
            <a:off x="4946452" y="3879354"/>
            <a:ext cx="3918198" cy="901303"/>
          </a:xfrm>
          <a:prstGeom prst="rect">
            <a:avLst/>
          </a:prstGeom>
          <a:solidFill>
            <a:srgbClr val="9B59B6">
              <a:alpha val="7000"/>
            </a:srgbClr>
          </a:solidFill>
          <a:ln w="9525">
            <a:solidFill>
              <a:srgbClr val="9B59B6"/>
            </a:solidFill>
          </a:ln>
        </p:spPr>
        <p:txBody>
          <a:bodyPr wrap="square" rtlCol="0" anchor="ctr"/>
          <a:lstStyle/>
          <a:p>
            <a:pPr indent="0" marL="0">
              <a:buNone/>
            </a:pPr>
            <a:endParaRPr lang="en-US" dirty="0"/>
          </a:p>
        </p:txBody>
      </p:sp>
      <p:sp>
        <p:nvSpPr>
          <p:cNvPr id="25" name="Text 23"/>
          <p:cNvSpPr/>
          <p:nvPr/>
        </p:nvSpPr>
        <p:spPr>
          <a:xfrm>
            <a:off x="5108377" y="4155430"/>
            <a:ext cx="233172" cy="200025"/>
          </a:xfrm>
          <a:prstGeom prst="rect">
            <a:avLst/>
          </a:prstGeom>
          <a:noFill/>
          <a:ln/>
        </p:spPr>
        <p:txBody>
          <a:bodyPr wrap="square" lIns="0" tIns="0" rIns="0" bIns="0" rtlCol="0" anchor="t"/>
          <a:lstStyle/>
          <a:p>
            <a:pPr algn="l" indent="0" marL="0">
              <a:spcBef>
                <a:spcPts val="1300"/>
              </a:spcBef>
              <a:spcAft>
                <a:spcPts val="1300"/>
              </a:spcAft>
              <a:buNone/>
            </a:pPr>
            <a:r>
              <a:rPr lang="en-US" sz="1300" dirty="0">
                <a:solidFill>
                  <a:srgbClr val="9B59B6"/>
                </a:solidFill>
                <a:latin typeface="Arial" pitchFamily="34" charset="0"/>
                <a:ea typeface="Arial" pitchFamily="34" charset="-122"/>
                <a:cs typeface="Arial" pitchFamily="34" charset="-120"/>
              </a:rPr>
              <a:t>4</a:t>
            </a:r>
            <a:endParaRPr lang="en-US" sz="1300" dirty="0"/>
          </a:p>
        </p:txBody>
      </p:sp>
      <p:sp>
        <p:nvSpPr>
          <p:cNvPr id="26" name="Text 24"/>
          <p:cNvSpPr/>
          <p:nvPr/>
        </p:nvSpPr>
        <p:spPr>
          <a:xfrm>
            <a:off x="5463927" y="4129980"/>
            <a:ext cx="3108353" cy="152400"/>
          </a:xfrm>
          <a:prstGeom prst="rect">
            <a:avLst/>
          </a:prstGeom>
          <a:noFill/>
          <a:ln/>
        </p:spPr>
        <p:txBody>
          <a:bodyPr wrap="square" lIns="0" tIns="0" rIns="0" bIns="0" rtlCol="0" anchor="t"/>
          <a:lstStyle/>
          <a:p>
            <a:pPr algn="l" indent="0" marL="0">
              <a:spcBef>
                <a:spcPts val="1100"/>
              </a:spcBef>
              <a:spcAft>
                <a:spcPts val="1100"/>
              </a:spcAft>
              <a:buNone/>
            </a:pPr>
            <a:r>
              <a:rPr lang="en-US" sz="1100" b="1" dirty="0">
                <a:solidFill>
                  <a:srgbClr val="E0E0E0"/>
                </a:solidFill>
                <a:latin typeface="Arial" pitchFamily="34" charset="0"/>
                <a:ea typeface="Arial" pitchFamily="34" charset="-122"/>
                <a:cs typeface="Arial" pitchFamily="34" charset="-120"/>
              </a:rPr>
              <a:t>Website built and deployed</a:t>
            </a:r>
            <a:pPr algn="l" indent="0" marL="0">
              <a:spcBef>
                <a:spcPts val="1100"/>
              </a:spcBef>
              <a:spcAft>
                <a:spcPts val="1100"/>
              </a:spcAft>
              <a:buNone/>
            </a:pPr>
            <a:r>
              <a:rPr lang="en-US" sz="1100" dirty="0">
                <a:solidFill>
                  <a:srgbClr val="E0E0E0"/>
                </a:solidFill>
                <a:latin typeface="Arial" pitchFamily="34" charset="0"/>
                <a:ea typeface="Arial" pitchFamily="34" charset="-122"/>
                <a:cs typeface="Arial" pitchFamily="34" charset="-120"/>
              </a:rPr>
              <a:t> by a frontend agent</a:t>
            </a:r>
            <a:endParaRPr lang="en-US" sz="1100" dirty="0"/>
          </a:p>
        </p:txBody>
      </p:sp>
      <p:sp>
        <p:nvSpPr>
          <p:cNvPr id="27" name="Text 25"/>
          <p:cNvSpPr/>
          <p:nvPr/>
        </p:nvSpPr>
        <p:spPr>
          <a:xfrm>
            <a:off x="5463927" y="4421981"/>
            <a:ext cx="3108353" cy="133350"/>
          </a:xfrm>
          <a:prstGeom prst="rect">
            <a:avLst/>
          </a:prstGeom>
          <a:noFill/>
          <a:ln/>
        </p:spPr>
        <p:txBody>
          <a:bodyPr wrap="square" lIns="0" tIns="0" rIns="0" bIns="0" rtlCol="0" anchor="t"/>
          <a:lstStyle/>
          <a:p>
            <a:pPr algn="l" indent="0" marL="0">
              <a:spcBef>
                <a:spcPts val="200"/>
              </a:spcBef>
              <a:spcAft>
                <a:spcPts val="900"/>
              </a:spcAft>
              <a:buNone/>
            </a:pPr>
            <a:r>
              <a:rPr lang="en-US" sz="900" dirty="0">
                <a:solidFill>
                  <a:srgbClr val="8B8B8B"/>
                </a:solidFill>
                <a:latin typeface="Arial" pitchFamily="34" charset="0"/>
                <a:ea typeface="Arial" pitchFamily="34" charset="-122"/>
                <a:cs typeface="Arial" pitchFamily="34" charset="-120"/>
              </a:rPr>
              <a:t>Next.js + Vercel — live site, no manual coding</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50A1E"/>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2ECC71"/>
          </a:solidFill>
          <a:ln/>
        </p:spPr>
        <p:txBody>
          <a:bodyPr wrap="square" rtlCol="0" anchor="ctr"/>
          <a:lstStyle/>
          <a:p>
            <a:pPr indent="0" marL="0">
              <a:buNone/>
            </a:pPr>
            <a:endParaRPr lang="en-US" dirty="0"/>
          </a:p>
        </p:txBody>
      </p:sp>
      <p:sp>
        <p:nvSpPr>
          <p:cNvPr id="3" name="Text 1"/>
          <p:cNvSpPr/>
          <p:nvPr/>
        </p:nvSpPr>
        <p:spPr>
          <a:xfrm>
            <a:off x="355550" y="203597"/>
            <a:ext cx="3886200" cy="142875"/>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2ECC71"/>
                </a:solidFill>
                <a:latin typeface="Arial" pitchFamily="34" charset="0"/>
                <a:ea typeface="Arial" pitchFamily="34" charset="-122"/>
                <a:cs typeface="Arial" pitchFamily="34" charset="-120"/>
              </a:rPr>
              <a:t>CASE STUDY 2</a:t>
            </a:r>
            <a:endParaRPr lang="en-US" sz="1000" dirty="0"/>
          </a:p>
        </p:txBody>
      </p:sp>
      <p:sp>
        <p:nvSpPr>
          <p:cNvPr id="4" name="Text 2"/>
          <p:cNvSpPr/>
          <p:nvPr/>
        </p:nvSpPr>
        <p:spPr>
          <a:xfrm>
            <a:off x="355550" y="473422"/>
            <a:ext cx="3886200" cy="670322"/>
          </a:xfrm>
          <a:prstGeom prst="rect">
            <a:avLst/>
          </a:prstGeom>
          <a:noFill/>
          <a:ln/>
        </p:spPr>
        <p:txBody>
          <a:bodyPr wrap="square" lIns="0" tIns="0" rIns="0" bIns="0" rtlCol="0" anchor="t"/>
          <a:lstStyle/>
          <a:p>
            <a:pPr algn="l" indent="0" marL="0">
              <a:lnSpc>
                <a:spcPts val="2640"/>
              </a:lnSpc>
              <a:spcAft>
                <a:spcPts val="1000"/>
              </a:spcAft>
              <a:buNone/>
            </a:pPr>
            <a:r>
              <a:rPr lang="en-US" sz="2200" dirty="0">
                <a:solidFill>
                  <a:srgbClr val="FFFFFF"/>
                </a:solidFill>
                <a:latin typeface="Arial" pitchFamily="34" charset="0"/>
                <a:ea typeface="Arial" pitchFamily="34" charset="-122"/>
                <a:cs typeface="Arial" pitchFamily="34" charset="-120"/>
              </a:rPr>
              <a:t>PCA </a:t>
            </a:r>
            <a:pPr algn="l" indent="0" marL="0">
              <a:lnSpc>
                <a:spcPts val="2640"/>
              </a:lnSpc>
              <a:spcAft>
                <a:spcPts val="1000"/>
              </a:spcAft>
              <a:buNone/>
            </a:pPr>
            <a:r>
              <a:rPr lang="en-US" sz="2200" b="1" dirty="0">
                <a:solidFill>
                  <a:srgbClr val="2ECC71"/>
                </a:solidFill>
                <a:latin typeface="Arial" pitchFamily="34" charset="0"/>
                <a:ea typeface="Arial" pitchFamily="34" charset="-122"/>
                <a:cs typeface="Arial" pitchFamily="34" charset="-120"/>
              </a:rPr>
              <a:t>Tumor Board</a:t>
            </a:r>
            <a:pPr algn="l" indent="0" marL="0">
              <a:lnSpc>
                <a:spcPts val="2640"/>
              </a:lnSpc>
              <a:spcAft>
                <a:spcPts val="1000"/>
              </a:spcAft>
              <a:buNone/>
            </a:pPr>
            <a:endParaRPr lang="en-US" sz="2200" dirty="0"/>
          </a:p>
          <a:p>
            <a:pPr algn="l" indent="0" marL="0">
              <a:lnSpc>
                <a:spcPts val="2640"/>
              </a:lnSpc>
              <a:spcAft>
                <a:spcPts val="1000"/>
              </a:spcAft>
              <a:buNone/>
            </a:pPr>
            <a:r>
              <a:rPr lang="en-US" sz="2200" dirty="0">
                <a:solidFill>
                  <a:srgbClr val="FFFFFF"/>
                </a:solidFill>
                <a:latin typeface="Arial" pitchFamily="34" charset="0"/>
                <a:ea typeface="Arial" pitchFamily="34" charset="-122"/>
                <a:cs typeface="Arial" pitchFamily="34" charset="-120"/>
              </a:rPr>
              <a:t>— 5 Specialist Agents</a:t>
            </a:r>
            <a:endParaRPr lang="en-US" sz="2200" dirty="0"/>
          </a:p>
        </p:txBody>
      </p:sp>
      <p:sp>
        <p:nvSpPr>
          <p:cNvPr id="5" name="Text 3"/>
          <p:cNvSpPr/>
          <p:nvPr/>
        </p:nvSpPr>
        <p:spPr>
          <a:xfrm>
            <a:off x="355550" y="1410295"/>
            <a:ext cx="3886200" cy="670620"/>
          </a:xfrm>
          <a:prstGeom prst="rect">
            <a:avLst/>
          </a:prstGeom>
          <a:noFill/>
          <a:ln/>
        </p:spPr>
        <p:txBody>
          <a:bodyPr wrap="square" lIns="0" tIns="0" rIns="0" bIns="0" rtlCol="0" anchor="t"/>
          <a:lstStyle/>
          <a:p>
            <a:pPr algn="l" indent="0" marL="0">
              <a:lnSpc>
                <a:spcPts val="1760"/>
              </a:lnSpc>
              <a:spcBef>
                <a:spcPts val="1100"/>
              </a:spcBef>
              <a:spcAft>
                <a:spcPts val="1400"/>
              </a:spcAft>
              <a:buNone/>
            </a:pPr>
            <a:r>
              <a:rPr lang="en-US" sz="1100" dirty="0">
                <a:solidFill>
                  <a:srgbClr val="B0BEC5"/>
                </a:solidFill>
                <a:latin typeface="Arial" pitchFamily="34" charset="0"/>
                <a:ea typeface="Arial" pitchFamily="34" charset="-122"/>
                <a:cs typeface="Arial" pitchFamily="34" charset="-120"/>
              </a:rPr>
              <a:t>Simulating a real multidisciplinary prostate cancer tumor board with AI specialists — each with a distinct clinical perspective and evidence base.</a:t>
            </a:r>
            <a:endParaRPr lang="en-US" sz="1100" dirty="0"/>
          </a:p>
        </p:txBody>
      </p:sp>
      <p:sp>
        <p:nvSpPr>
          <p:cNvPr id="6" name="Text 4"/>
          <p:cNvSpPr/>
          <p:nvPr/>
        </p:nvSpPr>
        <p:spPr>
          <a:xfrm>
            <a:off x="355550" y="2258616"/>
            <a:ext cx="1669852" cy="809179"/>
          </a:xfrm>
          <a:prstGeom prst="rect">
            <a:avLst/>
          </a:prstGeom>
          <a:solidFill>
            <a:srgbClr val="E74C3C">
              <a:alpha val="10000"/>
            </a:srgbClr>
          </a:solidFill>
          <a:ln w="9525">
            <a:solidFill>
              <a:srgbClr val="E74C3C"/>
            </a:solidFill>
          </a:ln>
        </p:spPr>
        <p:txBody>
          <a:bodyPr wrap="square" rtlCol="0" anchor="ctr"/>
          <a:lstStyle/>
          <a:p>
            <a:pPr indent="0" marL="0">
              <a:buNone/>
            </a:pPr>
            <a:endParaRPr lang="en-US" dirty="0"/>
          </a:p>
        </p:txBody>
      </p:sp>
      <p:sp>
        <p:nvSpPr>
          <p:cNvPr id="7" name="Text 5"/>
          <p:cNvSpPr/>
          <p:nvPr/>
        </p:nvSpPr>
        <p:spPr>
          <a:xfrm>
            <a:off x="492026" y="2496592"/>
            <a:ext cx="1424839" cy="142875"/>
          </a:xfrm>
          <a:prstGeom prst="rect">
            <a:avLst/>
          </a:prstGeom>
          <a:noFill/>
          <a:ln/>
        </p:spPr>
        <p:txBody>
          <a:bodyPr wrap="square" lIns="0" tIns="0" rIns="0" bIns="0" rtlCol="0" anchor="t"/>
          <a:lstStyle/>
          <a:p>
            <a:pPr algn="l" indent="0" marL="0">
              <a:spcBef>
                <a:spcPts val="1000"/>
              </a:spcBef>
              <a:spcAft>
                <a:spcPts val="200"/>
              </a:spcAft>
              <a:buNone/>
            </a:pPr>
            <a:r>
              <a:rPr lang="en-US" sz="1000" b="1" dirty="0">
                <a:solidFill>
                  <a:srgbClr val="E74C3C"/>
                </a:solidFill>
                <a:latin typeface="Arial" pitchFamily="34" charset="0"/>
                <a:ea typeface="Arial" pitchFamily="34" charset="-122"/>
                <a:cs typeface="Arial" pitchFamily="34" charset="-120"/>
              </a:rPr>
              <a:t>UROLOGIST</a:t>
            </a:r>
            <a:endParaRPr lang="en-US" sz="1000" dirty="0"/>
          </a:p>
        </p:txBody>
      </p:sp>
      <p:sp>
        <p:nvSpPr>
          <p:cNvPr id="8" name="Text 6"/>
          <p:cNvSpPr/>
          <p:nvPr/>
        </p:nvSpPr>
        <p:spPr>
          <a:xfrm>
            <a:off x="492026" y="2740968"/>
            <a:ext cx="1424839" cy="114300"/>
          </a:xfrm>
          <a:prstGeom prst="rect">
            <a:avLst/>
          </a:prstGeom>
          <a:noFill/>
          <a:ln/>
        </p:spPr>
        <p:txBody>
          <a:bodyPr wrap="square" lIns="0" tIns="0" rIns="0" bIns="0" rtlCol="0" anchor="t"/>
          <a:lstStyle/>
          <a:p>
            <a:pPr algn="l" indent="0" marL="0">
              <a:spcBef>
                <a:spcPts val="800"/>
              </a:spcBef>
              <a:spcAft>
                <a:spcPts val="800"/>
              </a:spcAft>
              <a:buNone/>
            </a:pPr>
            <a:r>
              <a:rPr lang="en-US" sz="800" dirty="0">
                <a:solidFill>
                  <a:srgbClr val="B0BEC5"/>
                </a:solidFill>
                <a:latin typeface="Arial" pitchFamily="34" charset="0"/>
                <a:ea typeface="Arial" pitchFamily="34" charset="-122"/>
                <a:cs typeface="Arial" pitchFamily="34" charset="-120"/>
              </a:rPr>
              <a:t>Surgical indications, staging</a:t>
            </a:r>
            <a:endParaRPr lang="en-US" sz="800" dirty="0"/>
          </a:p>
        </p:txBody>
      </p:sp>
      <p:sp>
        <p:nvSpPr>
          <p:cNvPr id="9" name="Text 7"/>
          <p:cNvSpPr/>
          <p:nvPr/>
        </p:nvSpPr>
        <p:spPr>
          <a:xfrm>
            <a:off x="2126903" y="2258616"/>
            <a:ext cx="1669852" cy="809179"/>
          </a:xfrm>
          <a:prstGeom prst="rect">
            <a:avLst/>
          </a:prstGeom>
          <a:solidFill>
            <a:srgbClr val="3498DB">
              <a:alpha val="10000"/>
            </a:srgbClr>
          </a:solidFill>
          <a:ln w="9525">
            <a:solidFill>
              <a:srgbClr val="3498DB"/>
            </a:solidFill>
          </a:ln>
        </p:spPr>
        <p:txBody>
          <a:bodyPr wrap="square" rtlCol="0" anchor="ctr"/>
          <a:lstStyle/>
          <a:p>
            <a:pPr indent="0" marL="0">
              <a:buNone/>
            </a:pPr>
            <a:endParaRPr lang="en-US" dirty="0"/>
          </a:p>
        </p:txBody>
      </p:sp>
      <p:sp>
        <p:nvSpPr>
          <p:cNvPr id="10" name="Text 8"/>
          <p:cNvSpPr/>
          <p:nvPr/>
        </p:nvSpPr>
        <p:spPr>
          <a:xfrm>
            <a:off x="2263378" y="2496592"/>
            <a:ext cx="1424839" cy="142875"/>
          </a:xfrm>
          <a:prstGeom prst="rect">
            <a:avLst/>
          </a:prstGeom>
          <a:noFill/>
          <a:ln/>
        </p:spPr>
        <p:txBody>
          <a:bodyPr wrap="square" lIns="0" tIns="0" rIns="0" bIns="0" rtlCol="0" anchor="t"/>
          <a:lstStyle/>
          <a:p>
            <a:pPr algn="l" indent="0" marL="0">
              <a:spcBef>
                <a:spcPts val="1000"/>
              </a:spcBef>
              <a:spcAft>
                <a:spcPts val="200"/>
              </a:spcAft>
              <a:buNone/>
            </a:pPr>
            <a:r>
              <a:rPr lang="en-US" sz="1000" b="1" dirty="0">
                <a:solidFill>
                  <a:srgbClr val="3498DB"/>
                </a:solidFill>
                <a:latin typeface="Arial" pitchFamily="34" charset="0"/>
                <a:ea typeface="Arial" pitchFamily="34" charset="-122"/>
                <a:cs typeface="Arial" pitchFamily="34" charset="-120"/>
              </a:rPr>
              <a:t>ONCOLOGIST</a:t>
            </a:r>
            <a:endParaRPr lang="en-US" sz="1000" dirty="0"/>
          </a:p>
        </p:txBody>
      </p:sp>
      <p:sp>
        <p:nvSpPr>
          <p:cNvPr id="11" name="Text 9"/>
          <p:cNvSpPr/>
          <p:nvPr/>
        </p:nvSpPr>
        <p:spPr>
          <a:xfrm>
            <a:off x="2263378" y="2740968"/>
            <a:ext cx="1424839" cy="114300"/>
          </a:xfrm>
          <a:prstGeom prst="rect">
            <a:avLst/>
          </a:prstGeom>
          <a:noFill/>
          <a:ln/>
        </p:spPr>
        <p:txBody>
          <a:bodyPr wrap="square" lIns="0" tIns="0" rIns="0" bIns="0" rtlCol="0" anchor="t"/>
          <a:lstStyle/>
          <a:p>
            <a:pPr algn="l" indent="0" marL="0">
              <a:spcBef>
                <a:spcPts val="800"/>
              </a:spcBef>
              <a:spcAft>
                <a:spcPts val="800"/>
              </a:spcAft>
              <a:buNone/>
            </a:pPr>
            <a:r>
              <a:rPr lang="en-US" sz="800" dirty="0">
                <a:solidFill>
                  <a:srgbClr val="B0BEC5"/>
                </a:solidFill>
                <a:latin typeface="Arial" pitchFamily="34" charset="0"/>
                <a:ea typeface="Arial" pitchFamily="34" charset="-122"/>
                <a:cs typeface="Arial" pitchFamily="34" charset="-120"/>
              </a:rPr>
              <a:t>Systemic therapy, ADT</a:t>
            </a:r>
            <a:endParaRPr lang="en-US" sz="800" dirty="0"/>
          </a:p>
        </p:txBody>
      </p:sp>
      <p:sp>
        <p:nvSpPr>
          <p:cNvPr id="12" name="Text 10"/>
          <p:cNvSpPr/>
          <p:nvPr/>
        </p:nvSpPr>
        <p:spPr>
          <a:xfrm>
            <a:off x="355550" y="3169295"/>
            <a:ext cx="1669852" cy="809179"/>
          </a:xfrm>
          <a:prstGeom prst="rect">
            <a:avLst/>
          </a:prstGeom>
          <a:solidFill>
            <a:srgbClr val="9B59B6">
              <a:alpha val="10000"/>
            </a:srgbClr>
          </a:solidFill>
          <a:ln w="9525">
            <a:solidFill>
              <a:srgbClr val="9B59B6"/>
            </a:solidFill>
          </a:ln>
        </p:spPr>
        <p:txBody>
          <a:bodyPr wrap="square" rtlCol="0" anchor="ctr"/>
          <a:lstStyle/>
          <a:p>
            <a:pPr indent="0" marL="0">
              <a:buNone/>
            </a:pPr>
            <a:endParaRPr lang="en-US" dirty="0"/>
          </a:p>
        </p:txBody>
      </p:sp>
      <p:sp>
        <p:nvSpPr>
          <p:cNvPr id="13" name="Text 11"/>
          <p:cNvSpPr/>
          <p:nvPr/>
        </p:nvSpPr>
        <p:spPr>
          <a:xfrm>
            <a:off x="492026" y="3407271"/>
            <a:ext cx="1424839" cy="142875"/>
          </a:xfrm>
          <a:prstGeom prst="rect">
            <a:avLst/>
          </a:prstGeom>
          <a:noFill/>
          <a:ln/>
        </p:spPr>
        <p:txBody>
          <a:bodyPr wrap="square" lIns="0" tIns="0" rIns="0" bIns="0" rtlCol="0" anchor="t"/>
          <a:lstStyle/>
          <a:p>
            <a:pPr algn="l" indent="0" marL="0">
              <a:spcBef>
                <a:spcPts val="1000"/>
              </a:spcBef>
              <a:spcAft>
                <a:spcPts val="200"/>
              </a:spcAft>
              <a:buNone/>
            </a:pPr>
            <a:r>
              <a:rPr lang="en-US" sz="1000" b="1" dirty="0">
                <a:solidFill>
                  <a:srgbClr val="9B59B6"/>
                </a:solidFill>
                <a:latin typeface="Arial" pitchFamily="34" charset="0"/>
                <a:ea typeface="Arial" pitchFamily="34" charset="-122"/>
                <a:cs typeface="Arial" pitchFamily="34" charset="-120"/>
              </a:rPr>
              <a:t>RADIOLOGIST</a:t>
            </a:r>
            <a:endParaRPr lang="en-US" sz="1000" dirty="0"/>
          </a:p>
        </p:txBody>
      </p:sp>
      <p:sp>
        <p:nvSpPr>
          <p:cNvPr id="14" name="Text 12"/>
          <p:cNvSpPr/>
          <p:nvPr/>
        </p:nvSpPr>
        <p:spPr>
          <a:xfrm>
            <a:off x="492026" y="3651647"/>
            <a:ext cx="1424839" cy="114300"/>
          </a:xfrm>
          <a:prstGeom prst="rect">
            <a:avLst/>
          </a:prstGeom>
          <a:noFill/>
          <a:ln/>
        </p:spPr>
        <p:txBody>
          <a:bodyPr wrap="square" lIns="0" tIns="0" rIns="0" bIns="0" rtlCol="0" anchor="t"/>
          <a:lstStyle/>
          <a:p>
            <a:pPr algn="l" indent="0" marL="0">
              <a:spcBef>
                <a:spcPts val="800"/>
              </a:spcBef>
              <a:spcAft>
                <a:spcPts val="800"/>
              </a:spcAft>
              <a:buNone/>
            </a:pPr>
            <a:r>
              <a:rPr lang="en-US" sz="800" dirty="0">
                <a:solidFill>
                  <a:srgbClr val="B0BEC5"/>
                </a:solidFill>
                <a:latin typeface="Arial" pitchFamily="34" charset="0"/>
                <a:ea typeface="Arial" pitchFamily="34" charset="-122"/>
                <a:cs typeface="Arial" pitchFamily="34" charset="-120"/>
              </a:rPr>
              <a:t>PSMA PET, MRI reads</a:t>
            </a:r>
            <a:endParaRPr lang="en-US" sz="800" dirty="0"/>
          </a:p>
        </p:txBody>
      </p:sp>
      <p:sp>
        <p:nvSpPr>
          <p:cNvPr id="15" name="Text 13"/>
          <p:cNvSpPr/>
          <p:nvPr/>
        </p:nvSpPr>
        <p:spPr>
          <a:xfrm>
            <a:off x="2126903" y="3169295"/>
            <a:ext cx="1669852" cy="809179"/>
          </a:xfrm>
          <a:prstGeom prst="rect">
            <a:avLst/>
          </a:prstGeom>
          <a:solidFill>
            <a:srgbClr val="F39C12">
              <a:alpha val="10000"/>
            </a:srgbClr>
          </a:solidFill>
          <a:ln w="9525">
            <a:solidFill>
              <a:srgbClr val="F39C12"/>
            </a:solidFill>
          </a:ln>
        </p:spPr>
        <p:txBody>
          <a:bodyPr wrap="square" rtlCol="0" anchor="ctr"/>
          <a:lstStyle/>
          <a:p>
            <a:pPr indent="0" marL="0">
              <a:buNone/>
            </a:pPr>
            <a:endParaRPr lang="en-US" dirty="0"/>
          </a:p>
        </p:txBody>
      </p:sp>
      <p:sp>
        <p:nvSpPr>
          <p:cNvPr id="16" name="Text 14"/>
          <p:cNvSpPr/>
          <p:nvPr/>
        </p:nvSpPr>
        <p:spPr>
          <a:xfrm>
            <a:off x="2263378" y="3407271"/>
            <a:ext cx="1424839" cy="142875"/>
          </a:xfrm>
          <a:prstGeom prst="rect">
            <a:avLst/>
          </a:prstGeom>
          <a:noFill/>
          <a:ln/>
        </p:spPr>
        <p:txBody>
          <a:bodyPr wrap="square" lIns="0" tIns="0" rIns="0" bIns="0" rtlCol="0" anchor="t"/>
          <a:lstStyle/>
          <a:p>
            <a:pPr algn="l" indent="0" marL="0">
              <a:spcBef>
                <a:spcPts val="1000"/>
              </a:spcBef>
              <a:spcAft>
                <a:spcPts val="200"/>
              </a:spcAft>
              <a:buNone/>
            </a:pPr>
            <a:r>
              <a:rPr lang="en-US" sz="1000" b="1" dirty="0">
                <a:solidFill>
                  <a:srgbClr val="F39C12"/>
                </a:solidFill>
                <a:latin typeface="Arial" pitchFamily="34" charset="0"/>
                <a:ea typeface="Arial" pitchFamily="34" charset="-122"/>
                <a:cs typeface="Arial" pitchFamily="34" charset="-120"/>
              </a:rPr>
              <a:t>PATHOLOGIST</a:t>
            </a:r>
            <a:endParaRPr lang="en-US" sz="1000" dirty="0"/>
          </a:p>
        </p:txBody>
      </p:sp>
      <p:sp>
        <p:nvSpPr>
          <p:cNvPr id="17" name="Text 15"/>
          <p:cNvSpPr/>
          <p:nvPr/>
        </p:nvSpPr>
        <p:spPr>
          <a:xfrm>
            <a:off x="2263378" y="3651647"/>
            <a:ext cx="1424839" cy="114300"/>
          </a:xfrm>
          <a:prstGeom prst="rect">
            <a:avLst/>
          </a:prstGeom>
          <a:noFill/>
          <a:ln/>
        </p:spPr>
        <p:txBody>
          <a:bodyPr wrap="square" lIns="0" tIns="0" rIns="0" bIns="0" rtlCol="0" anchor="t"/>
          <a:lstStyle/>
          <a:p>
            <a:pPr algn="l" indent="0" marL="0">
              <a:spcBef>
                <a:spcPts val="800"/>
              </a:spcBef>
              <a:spcAft>
                <a:spcPts val="800"/>
              </a:spcAft>
              <a:buNone/>
            </a:pPr>
            <a:r>
              <a:rPr lang="en-US" sz="800" dirty="0">
                <a:solidFill>
                  <a:srgbClr val="B0BEC5"/>
                </a:solidFill>
                <a:latin typeface="Arial" pitchFamily="34" charset="0"/>
                <a:ea typeface="Arial" pitchFamily="34" charset="-122"/>
                <a:cs typeface="Arial" pitchFamily="34" charset="-120"/>
              </a:rPr>
              <a:t>Gleason grading, genomics</a:t>
            </a:r>
            <a:endParaRPr lang="en-US" sz="800" dirty="0"/>
          </a:p>
        </p:txBody>
      </p:sp>
      <p:sp>
        <p:nvSpPr>
          <p:cNvPr id="18" name="Text 16"/>
          <p:cNvSpPr/>
          <p:nvPr/>
        </p:nvSpPr>
        <p:spPr>
          <a:xfrm>
            <a:off x="355550" y="4079974"/>
            <a:ext cx="1669852" cy="809179"/>
          </a:xfrm>
          <a:prstGeom prst="rect">
            <a:avLst/>
          </a:prstGeom>
          <a:solidFill>
            <a:srgbClr val="2ECC71">
              <a:alpha val="10000"/>
            </a:srgbClr>
          </a:solidFill>
          <a:ln w="9525">
            <a:solidFill>
              <a:srgbClr val="2ECC71"/>
            </a:solidFill>
          </a:ln>
        </p:spPr>
        <p:txBody>
          <a:bodyPr wrap="square" rtlCol="0" anchor="ctr"/>
          <a:lstStyle/>
          <a:p>
            <a:pPr indent="0" marL="0">
              <a:buNone/>
            </a:pPr>
            <a:endParaRPr lang="en-US" dirty="0"/>
          </a:p>
        </p:txBody>
      </p:sp>
      <p:sp>
        <p:nvSpPr>
          <p:cNvPr id="19" name="Text 17"/>
          <p:cNvSpPr/>
          <p:nvPr/>
        </p:nvSpPr>
        <p:spPr>
          <a:xfrm>
            <a:off x="492026" y="4317950"/>
            <a:ext cx="1424839" cy="142875"/>
          </a:xfrm>
          <a:prstGeom prst="rect">
            <a:avLst/>
          </a:prstGeom>
          <a:noFill/>
          <a:ln/>
        </p:spPr>
        <p:txBody>
          <a:bodyPr wrap="square" lIns="0" tIns="0" rIns="0" bIns="0" rtlCol="0" anchor="t"/>
          <a:lstStyle/>
          <a:p>
            <a:pPr algn="l" indent="0" marL="0">
              <a:spcBef>
                <a:spcPts val="1000"/>
              </a:spcBef>
              <a:spcAft>
                <a:spcPts val="200"/>
              </a:spcAft>
              <a:buNone/>
            </a:pPr>
            <a:r>
              <a:rPr lang="en-US" sz="1000" b="1" dirty="0">
                <a:solidFill>
                  <a:srgbClr val="2ECC71"/>
                </a:solidFill>
                <a:latin typeface="Arial" pitchFamily="34" charset="0"/>
                <a:ea typeface="Arial" pitchFamily="34" charset="-122"/>
                <a:cs typeface="Arial" pitchFamily="34" charset="-120"/>
              </a:rPr>
              <a:t>CHAIR</a:t>
            </a:r>
            <a:endParaRPr lang="en-US" sz="1000" dirty="0"/>
          </a:p>
        </p:txBody>
      </p:sp>
      <p:sp>
        <p:nvSpPr>
          <p:cNvPr id="20" name="Text 18"/>
          <p:cNvSpPr/>
          <p:nvPr/>
        </p:nvSpPr>
        <p:spPr>
          <a:xfrm>
            <a:off x="492026" y="4562326"/>
            <a:ext cx="1424839" cy="114300"/>
          </a:xfrm>
          <a:prstGeom prst="rect">
            <a:avLst/>
          </a:prstGeom>
          <a:noFill/>
          <a:ln/>
        </p:spPr>
        <p:txBody>
          <a:bodyPr wrap="square" lIns="0" tIns="0" rIns="0" bIns="0" rtlCol="0" anchor="t"/>
          <a:lstStyle/>
          <a:p>
            <a:pPr algn="l" indent="0" marL="0">
              <a:spcBef>
                <a:spcPts val="800"/>
              </a:spcBef>
              <a:spcAft>
                <a:spcPts val="800"/>
              </a:spcAft>
              <a:buNone/>
            </a:pPr>
            <a:r>
              <a:rPr lang="en-US" sz="800" dirty="0">
                <a:solidFill>
                  <a:srgbClr val="B0BEC5"/>
                </a:solidFill>
                <a:latin typeface="Arial" pitchFamily="34" charset="0"/>
                <a:ea typeface="Arial" pitchFamily="34" charset="-122"/>
                <a:cs typeface="Arial" pitchFamily="34" charset="-120"/>
              </a:rPr>
              <a:t>Synthesizes consensus</a:t>
            </a:r>
            <a:endParaRPr lang="en-US" sz="800" dirty="0"/>
          </a:p>
        </p:txBody>
      </p:sp>
      <p:sp>
        <p:nvSpPr>
          <p:cNvPr id="21" name="Shape 19"/>
          <p:cNvSpPr/>
          <p:nvPr/>
        </p:nvSpPr>
        <p:spPr>
          <a:xfrm>
            <a:off x="4530626" y="0"/>
            <a:ext cx="0" cy="5143500"/>
          </a:xfrm>
          <a:prstGeom prst="line">
            <a:avLst/>
          </a:prstGeom>
          <a:noFill/>
          <a:ln w="19050">
            <a:solidFill>
              <a:srgbClr val="2ECC71"/>
            </a:solidFill>
            <a:prstDash val="solid"/>
          </a:ln>
        </p:spPr>
      </p:sp>
      <p:sp>
        <p:nvSpPr>
          <p:cNvPr id="22" name="Text 20"/>
          <p:cNvSpPr/>
          <p:nvPr/>
        </p:nvSpPr>
        <p:spPr>
          <a:xfrm>
            <a:off x="4819501" y="277267"/>
            <a:ext cx="4126051" cy="133350"/>
          </a:xfrm>
          <a:prstGeom prst="rect">
            <a:avLst/>
          </a:prstGeom>
          <a:noFill/>
          <a:ln/>
        </p:spPr>
        <p:txBody>
          <a:bodyPr wrap="square" lIns="0" tIns="0" rIns="0" bIns="0" rtlCol="0" anchor="t"/>
          <a:lstStyle/>
          <a:p>
            <a:pPr algn="l" indent="0" marL="0">
              <a:spcBef>
                <a:spcPts val="900"/>
              </a:spcBef>
              <a:spcAft>
                <a:spcPts val="1000"/>
              </a:spcAft>
              <a:buNone/>
            </a:pPr>
            <a:r>
              <a:rPr lang="en-US" sz="900" dirty="0">
                <a:solidFill>
                  <a:srgbClr val="8B8B8B"/>
                </a:solidFill>
                <a:latin typeface="Arial" pitchFamily="34" charset="0"/>
                <a:ea typeface="Arial" pitchFamily="34" charset="-122"/>
                <a:cs typeface="Arial" pitchFamily="34" charset="-120"/>
              </a:rPr>
              <a:t>HOW IT WORKS</a:t>
            </a:r>
            <a:endParaRPr lang="en-US" sz="900" dirty="0"/>
          </a:p>
        </p:txBody>
      </p:sp>
      <p:sp>
        <p:nvSpPr>
          <p:cNvPr id="23" name="Text 21"/>
          <p:cNvSpPr/>
          <p:nvPr/>
        </p:nvSpPr>
        <p:spPr>
          <a:xfrm>
            <a:off x="4819501" y="702618"/>
            <a:ext cx="258979" cy="200025"/>
          </a:xfrm>
          <a:prstGeom prst="rect">
            <a:avLst/>
          </a:prstGeom>
          <a:noFill/>
          <a:ln/>
        </p:spPr>
        <p:txBody>
          <a:bodyPr wrap="square" lIns="0" tIns="0" rIns="0" bIns="0" rtlCol="0" anchor="t"/>
          <a:lstStyle/>
          <a:p>
            <a:pPr algn="l" indent="0" marL="0">
              <a:spcBef>
                <a:spcPts val="1300"/>
              </a:spcBef>
              <a:spcAft>
                <a:spcPts val="1300"/>
              </a:spcAft>
              <a:buNone/>
            </a:pPr>
            <a:r>
              <a:rPr lang="en-US" sz="1300" b="1" dirty="0">
                <a:solidFill>
                  <a:srgbClr val="2ECC71"/>
                </a:solidFill>
                <a:latin typeface="Arial" pitchFamily="34" charset="0"/>
                <a:ea typeface="Arial" pitchFamily="34" charset="-122"/>
                <a:cs typeface="Arial" pitchFamily="34" charset="-120"/>
              </a:rPr>
              <a:t>1</a:t>
            </a:r>
            <a:endParaRPr lang="en-US" sz="1300" dirty="0"/>
          </a:p>
        </p:txBody>
      </p:sp>
      <p:sp>
        <p:nvSpPr>
          <p:cNvPr id="24" name="Text 22"/>
          <p:cNvSpPr/>
          <p:nvPr/>
        </p:nvSpPr>
        <p:spPr>
          <a:xfrm>
            <a:off x="5200352" y="677168"/>
            <a:ext cx="3638455" cy="195560"/>
          </a:xfrm>
          <a:prstGeom prst="rect">
            <a:avLst/>
          </a:prstGeom>
          <a:noFill/>
          <a:ln/>
        </p:spPr>
        <p:txBody>
          <a:bodyPr wrap="square" lIns="0" tIns="0" rIns="0" bIns="0" rtlCol="0" anchor="t"/>
          <a:lstStyle/>
          <a:p>
            <a:pPr algn="l" indent="0" marL="0">
              <a:lnSpc>
                <a:spcPts val="1540"/>
              </a:lnSpc>
              <a:spcBef>
                <a:spcPts val="1100"/>
              </a:spcBef>
              <a:spcAft>
                <a:spcPts val="1100"/>
              </a:spcAft>
              <a:buNone/>
            </a:pPr>
            <a:r>
              <a:rPr lang="en-US" sz="1100" b="1" dirty="0">
                <a:solidFill>
                  <a:srgbClr val="E0E0E0"/>
                </a:solidFill>
                <a:latin typeface="Arial" pitchFamily="34" charset="0"/>
                <a:ea typeface="Arial" pitchFamily="34" charset="-122"/>
                <a:cs typeface="Arial" pitchFamily="34" charset="-120"/>
              </a:rPr>
              <a:t>Input:</a:t>
            </a:r>
            <a:pPr algn="l" indent="0" marL="0">
              <a:lnSpc>
                <a:spcPts val="1540"/>
              </a:lnSpc>
              <a:spcBef>
                <a:spcPts val="1100"/>
              </a:spcBef>
              <a:spcAft>
                <a:spcPts val="1100"/>
              </a:spcAft>
              <a:buNone/>
            </a:pPr>
            <a:r>
              <a:rPr lang="en-US" sz="1100" dirty="0">
                <a:solidFill>
                  <a:srgbClr val="E0E0E0"/>
                </a:solidFill>
                <a:latin typeface="Arial" pitchFamily="34" charset="0"/>
                <a:ea typeface="Arial" pitchFamily="34" charset="-122"/>
                <a:cs typeface="Arial" pitchFamily="34" charset="-120"/>
              </a:rPr>
              <a:t> Patient case summary (age, PSA, biopsy, imaging)</a:t>
            </a:r>
            <a:endParaRPr lang="en-US" sz="1100" dirty="0"/>
          </a:p>
        </p:txBody>
      </p:sp>
      <p:sp>
        <p:nvSpPr>
          <p:cNvPr id="25" name="Text 23"/>
          <p:cNvSpPr/>
          <p:nvPr/>
        </p:nvSpPr>
        <p:spPr>
          <a:xfrm>
            <a:off x="5200352" y="1012329"/>
            <a:ext cx="3638455" cy="133350"/>
          </a:xfrm>
          <a:prstGeom prst="rect">
            <a:avLst/>
          </a:prstGeom>
          <a:noFill/>
          <a:ln/>
        </p:spPr>
        <p:txBody>
          <a:bodyPr wrap="square" lIns="0" tIns="0" rIns="0" bIns="0" rtlCol="0" anchor="t"/>
          <a:lstStyle/>
          <a:p>
            <a:pPr algn="l" indent="0" marL="0">
              <a:spcBef>
                <a:spcPts val="900"/>
              </a:spcBef>
              <a:spcAft>
                <a:spcPts val="900"/>
              </a:spcAft>
              <a:buNone/>
            </a:pPr>
            <a:r>
              <a:rPr lang="en-US" sz="900" dirty="0">
                <a:solidFill>
                  <a:srgbClr val="8B8B8B"/>
                </a:solidFill>
                <a:latin typeface="Arial" pitchFamily="34" charset="0"/>
                <a:ea typeface="Arial" pitchFamily="34" charset="-122"/>
                <a:cs typeface="Arial" pitchFamily="34" charset="-120"/>
              </a:rPr>
              <a:t>Paste in plain text or upload structured JSON</a:t>
            </a:r>
            <a:endParaRPr lang="en-US" sz="900" dirty="0"/>
          </a:p>
        </p:txBody>
      </p:sp>
      <p:sp>
        <p:nvSpPr>
          <p:cNvPr id="26" name="Text 24"/>
          <p:cNvSpPr/>
          <p:nvPr/>
        </p:nvSpPr>
        <p:spPr>
          <a:xfrm>
            <a:off x="4819501" y="1551980"/>
            <a:ext cx="258979" cy="200025"/>
          </a:xfrm>
          <a:prstGeom prst="rect">
            <a:avLst/>
          </a:prstGeom>
          <a:noFill/>
          <a:ln/>
        </p:spPr>
        <p:txBody>
          <a:bodyPr wrap="square" lIns="0" tIns="0" rIns="0" bIns="0" rtlCol="0" anchor="t"/>
          <a:lstStyle/>
          <a:p>
            <a:pPr algn="l" indent="0" marL="0">
              <a:spcBef>
                <a:spcPts val="1300"/>
              </a:spcBef>
              <a:spcAft>
                <a:spcPts val="1300"/>
              </a:spcAft>
              <a:buNone/>
            </a:pPr>
            <a:r>
              <a:rPr lang="en-US" sz="1300" b="1" dirty="0">
                <a:solidFill>
                  <a:srgbClr val="2ECC71"/>
                </a:solidFill>
                <a:latin typeface="Arial" pitchFamily="34" charset="0"/>
                <a:ea typeface="Arial" pitchFamily="34" charset="-122"/>
                <a:cs typeface="Arial" pitchFamily="34" charset="-120"/>
              </a:rPr>
              <a:t>2</a:t>
            </a:r>
            <a:endParaRPr lang="en-US" sz="1300" dirty="0"/>
          </a:p>
        </p:txBody>
      </p:sp>
      <p:sp>
        <p:nvSpPr>
          <p:cNvPr id="27" name="Text 25"/>
          <p:cNvSpPr/>
          <p:nvPr/>
        </p:nvSpPr>
        <p:spPr>
          <a:xfrm>
            <a:off x="5200352" y="1526530"/>
            <a:ext cx="3737583" cy="195560"/>
          </a:xfrm>
          <a:prstGeom prst="rect">
            <a:avLst/>
          </a:prstGeom>
          <a:noFill/>
          <a:ln/>
        </p:spPr>
        <p:txBody>
          <a:bodyPr wrap="square" lIns="0" tIns="0" rIns="0" bIns="0" rtlCol="0" anchor="t"/>
          <a:lstStyle/>
          <a:p>
            <a:pPr algn="l" indent="0" marL="0">
              <a:lnSpc>
                <a:spcPts val="1540"/>
              </a:lnSpc>
              <a:spcBef>
                <a:spcPts val="1100"/>
              </a:spcBef>
              <a:spcAft>
                <a:spcPts val="1100"/>
              </a:spcAft>
              <a:buNone/>
            </a:pPr>
            <a:r>
              <a:rPr lang="en-US" sz="1100" b="1" dirty="0">
                <a:solidFill>
                  <a:srgbClr val="E0E0E0"/>
                </a:solidFill>
                <a:latin typeface="Arial" pitchFamily="34" charset="0"/>
                <a:ea typeface="Arial" pitchFamily="34" charset="-122"/>
                <a:cs typeface="Arial" pitchFamily="34" charset="-120"/>
              </a:rPr>
              <a:t>Parallel:</a:t>
            </a:r>
            <a:pPr algn="l" indent="0" marL="0">
              <a:lnSpc>
                <a:spcPts val="1540"/>
              </a:lnSpc>
              <a:spcBef>
                <a:spcPts val="1100"/>
              </a:spcBef>
              <a:spcAft>
                <a:spcPts val="1100"/>
              </a:spcAft>
              <a:buNone/>
            </a:pPr>
            <a:r>
              <a:rPr lang="en-US" sz="1100" dirty="0">
                <a:solidFill>
                  <a:srgbClr val="E0E0E0"/>
                </a:solidFill>
                <a:latin typeface="Arial" pitchFamily="34" charset="0"/>
                <a:ea typeface="Arial" pitchFamily="34" charset="-122"/>
                <a:cs typeface="Arial" pitchFamily="34" charset="-120"/>
              </a:rPr>
              <a:t> 5 agents analyze simultaneously</a:t>
            </a:r>
            <a:endParaRPr lang="en-US" sz="1100" dirty="0"/>
          </a:p>
        </p:txBody>
      </p:sp>
      <p:sp>
        <p:nvSpPr>
          <p:cNvPr id="28" name="Text 26"/>
          <p:cNvSpPr/>
          <p:nvPr/>
        </p:nvSpPr>
        <p:spPr>
          <a:xfrm>
            <a:off x="5200352" y="1861691"/>
            <a:ext cx="3737583" cy="266700"/>
          </a:xfrm>
          <a:prstGeom prst="rect">
            <a:avLst/>
          </a:prstGeom>
          <a:noFill/>
          <a:ln/>
        </p:spPr>
        <p:txBody>
          <a:bodyPr wrap="square" lIns="0" tIns="0" rIns="0" bIns="0" rtlCol="0" anchor="t"/>
          <a:lstStyle/>
          <a:p>
            <a:pPr algn="l" indent="0" marL="0">
              <a:spcBef>
                <a:spcPts val="900"/>
              </a:spcBef>
              <a:spcAft>
                <a:spcPts val="900"/>
              </a:spcAft>
              <a:buNone/>
            </a:pPr>
            <a:r>
              <a:rPr lang="en-US" sz="900" dirty="0">
                <a:solidFill>
                  <a:srgbClr val="8B8B8B"/>
                </a:solidFill>
                <a:latin typeface="Arial" pitchFamily="34" charset="0"/>
                <a:ea typeface="Arial" pitchFamily="34" charset="-122"/>
                <a:cs typeface="Arial" pitchFamily="34" charset="-120"/>
              </a:rPr>
              <a:t>Each agent has specialized system prompt + guidelines (EAU, NCCN, AUA)</a:t>
            </a:r>
            <a:endParaRPr lang="en-US" sz="900" dirty="0"/>
          </a:p>
        </p:txBody>
      </p:sp>
      <p:sp>
        <p:nvSpPr>
          <p:cNvPr id="29" name="Text 27"/>
          <p:cNvSpPr/>
          <p:nvPr/>
        </p:nvSpPr>
        <p:spPr>
          <a:xfrm>
            <a:off x="4819501" y="2534692"/>
            <a:ext cx="258979" cy="200025"/>
          </a:xfrm>
          <a:prstGeom prst="rect">
            <a:avLst/>
          </a:prstGeom>
          <a:noFill/>
          <a:ln/>
        </p:spPr>
        <p:txBody>
          <a:bodyPr wrap="square" lIns="0" tIns="0" rIns="0" bIns="0" rtlCol="0" anchor="t"/>
          <a:lstStyle/>
          <a:p>
            <a:pPr algn="l" indent="0" marL="0">
              <a:spcBef>
                <a:spcPts val="1300"/>
              </a:spcBef>
              <a:spcAft>
                <a:spcPts val="1300"/>
              </a:spcAft>
              <a:buNone/>
            </a:pPr>
            <a:r>
              <a:rPr lang="en-US" sz="1300" b="1" dirty="0">
                <a:solidFill>
                  <a:srgbClr val="2ECC71"/>
                </a:solidFill>
                <a:latin typeface="Arial" pitchFamily="34" charset="0"/>
                <a:ea typeface="Arial" pitchFamily="34" charset="-122"/>
                <a:cs typeface="Arial" pitchFamily="34" charset="-120"/>
              </a:rPr>
              <a:t>3</a:t>
            </a:r>
            <a:endParaRPr lang="en-US" sz="1300" dirty="0"/>
          </a:p>
        </p:txBody>
      </p:sp>
      <p:sp>
        <p:nvSpPr>
          <p:cNvPr id="30" name="Text 28"/>
          <p:cNvSpPr/>
          <p:nvPr/>
        </p:nvSpPr>
        <p:spPr>
          <a:xfrm>
            <a:off x="5200352" y="2509242"/>
            <a:ext cx="3356553" cy="195560"/>
          </a:xfrm>
          <a:prstGeom prst="rect">
            <a:avLst/>
          </a:prstGeom>
          <a:noFill/>
          <a:ln/>
        </p:spPr>
        <p:txBody>
          <a:bodyPr wrap="square" lIns="0" tIns="0" rIns="0" bIns="0" rtlCol="0" anchor="t"/>
          <a:lstStyle/>
          <a:p>
            <a:pPr algn="l" indent="0" marL="0">
              <a:lnSpc>
                <a:spcPts val="1540"/>
              </a:lnSpc>
              <a:spcBef>
                <a:spcPts val="1100"/>
              </a:spcBef>
              <a:spcAft>
                <a:spcPts val="1100"/>
              </a:spcAft>
              <a:buNone/>
            </a:pPr>
            <a:r>
              <a:rPr lang="en-US" sz="1100" b="1" dirty="0">
                <a:solidFill>
                  <a:srgbClr val="E0E0E0"/>
                </a:solidFill>
                <a:latin typeface="Arial" pitchFamily="34" charset="0"/>
                <a:ea typeface="Arial" pitchFamily="34" charset="-122"/>
                <a:cs typeface="Arial" pitchFamily="34" charset="-120"/>
              </a:rPr>
              <a:t>Debate:</a:t>
            </a:r>
            <a:pPr algn="l" indent="0" marL="0">
              <a:lnSpc>
                <a:spcPts val="1540"/>
              </a:lnSpc>
              <a:spcBef>
                <a:spcPts val="1100"/>
              </a:spcBef>
              <a:spcAft>
                <a:spcPts val="1100"/>
              </a:spcAft>
              <a:buNone/>
            </a:pPr>
            <a:r>
              <a:rPr lang="en-US" sz="1100" dirty="0">
                <a:solidFill>
                  <a:srgbClr val="E0E0E0"/>
                </a:solidFill>
                <a:latin typeface="Arial" pitchFamily="34" charset="0"/>
                <a:ea typeface="Arial" pitchFamily="34" charset="-122"/>
                <a:cs typeface="Arial" pitchFamily="34" charset="-120"/>
              </a:rPr>
              <a:t> Agents discuss conflicting recommendations</a:t>
            </a:r>
            <a:endParaRPr lang="en-US" sz="1100" dirty="0"/>
          </a:p>
        </p:txBody>
      </p:sp>
      <p:sp>
        <p:nvSpPr>
          <p:cNvPr id="31" name="Text 29"/>
          <p:cNvSpPr/>
          <p:nvPr/>
        </p:nvSpPr>
        <p:spPr>
          <a:xfrm>
            <a:off x="5200352" y="2844403"/>
            <a:ext cx="3356553" cy="133350"/>
          </a:xfrm>
          <a:prstGeom prst="rect">
            <a:avLst/>
          </a:prstGeom>
          <a:noFill/>
          <a:ln/>
        </p:spPr>
        <p:txBody>
          <a:bodyPr wrap="square" lIns="0" tIns="0" rIns="0" bIns="0" rtlCol="0" anchor="t"/>
          <a:lstStyle/>
          <a:p>
            <a:pPr algn="l" indent="0" marL="0">
              <a:spcBef>
                <a:spcPts val="900"/>
              </a:spcBef>
              <a:spcAft>
                <a:spcPts val="900"/>
              </a:spcAft>
              <a:buNone/>
            </a:pPr>
            <a:r>
              <a:rPr lang="en-US" sz="900" dirty="0">
                <a:solidFill>
                  <a:srgbClr val="8B8B8B"/>
                </a:solidFill>
                <a:latin typeface="Arial" pitchFamily="34" charset="0"/>
                <a:ea typeface="Arial" pitchFamily="34" charset="-122"/>
                <a:cs typeface="Arial" pitchFamily="34" charset="-120"/>
              </a:rPr>
              <a:t>Structured rounds of evidence-based argumentation</a:t>
            </a:r>
            <a:endParaRPr lang="en-US" sz="900" dirty="0"/>
          </a:p>
        </p:txBody>
      </p:sp>
      <p:sp>
        <p:nvSpPr>
          <p:cNvPr id="32" name="Text 30"/>
          <p:cNvSpPr/>
          <p:nvPr/>
        </p:nvSpPr>
        <p:spPr>
          <a:xfrm>
            <a:off x="4819501" y="3384054"/>
            <a:ext cx="258979" cy="200025"/>
          </a:xfrm>
          <a:prstGeom prst="rect">
            <a:avLst/>
          </a:prstGeom>
          <a:noFill/>
          <a:ln/>
        </p:spPr>
        <p:txBody>
          <a:bodyPr wrap="square" lIns="0" tIns="0" rIns="0" bIns="0" rtlCol="0" anchor="t"/>
          <a:lstStyle/>
          <a:p>
            <a:pPr algn="l" indent="0" marL="0">
              <a:spcBef>
                <a:spcPts val="1300"/>
              </a:spcBef>
              <a:spcAft>
                <a:spcPts val="1300"/>
              </a:spcAft>
              <a:buNone/>
            </a:pPr>
            <a:r>
              <a:rPr lang="en-US" sz="1300" b="1" dirty="0">
                <a:solidFill>
                  <a:srgbClr val="2ECC71"/>
                </a:solidFill>
                <a:latin typeface="Arial" pitchFamily="34" charset="0"/>
                <a:ea typeface="Arial" pitchFamily="34" charset="-122"/>
                <a:cs typeface="Arial" pitchFamily="34" charset="-120"/>
              </a:rPr>
              <a:t>4</a:t>
            </a:r>
            <a:endParaRPr lang="en-US" sz="1300" dirty="0"/>
          </a:p>
        </p:txBody>
      </p:sp>
      <p:sp>
        <p:nvSpPr>
          <p:cNvPr id="33" name="Text 31"/>
          <p:cNvSpPr/>
          <p:nvPr/>
        </p:nvSpPr>
        <p:spPr>
          <a:xfrm>
            <a:off x="5200352" y="3358604"/>
            <a:ext cx="3095146" cy="195560"/>
          </a:xfrm>
          <a:prstGeom prst="rect">
            <a:avLst/>
          </a:prstGeom>
          <a:noFill/>
          <a:ln/>
        </p:spPr>
        <p:txBody>
          <a:bodyPr wrap="square" lIns="0" tIns="0" rIns="0" bIns="0" rtlCol="0" anchor="t"/>
          <a:lstStyle/>
          <a:p>
            <a:pPr algn="l" indent="0" marL="0">
              <a:lnSpc>
                <a:spcPts val="1540"/>
              </a:lnSpc>
              <a:spcBef>
                <a:spcPts val="1100"/>
              </a:spcBef>
              <a:spcAft>
                <a:spcPts val="1100"/>
              </a:spcAft>
              <a:buNone/>
            </a:pPr>
            <a:r>
              <a:rPr lang="en-US" sz="1100" b="1" dirty="0">
                <a:solidFill>
                  <a:srgbClr val="E0E0E0"/>
                </a:solidFill>
                <a:latin typeface="Arial" pitchFamily="34" charset="0"/>
                <a:ea typeface="Arial" pitchFamily="34" charset="-122"/>
                <a:cs typeface="Arial" pitchFamily="34" charset="-120"/>
              </a:rPr>
              <a:t>Output:</a:t>
            </a:r>
            <a:pPr algn="l" indent="0" marL="0">
              <a:lnSpc>
                <a:spcPts val="1540"/>
              </a:lnSpc>
              <a:spcBef>
                <a:spcPts val="1100"/>
              </a:spcBef>
              <a:spcAft>
                <a:spcPts val="1100"/>
              </a:spcAft>
              <a:buNone/>
            </a:pPr>
            <a:r>
              <a:rPr lang="en-US" sz="1100" dirty="0">
                <a:solidFill>
                  <a:srgbClr val="E0E0E0"/>
                </a:solidFill>
                <a:latin typeface="Arial" pitchFamily="34" charset="0"/>
                <a:ea typeface="Arial" pitchFamily="34" charset="-122"/>
                <a:cs typeface="Arial" pitchFamily="34" charset="-120"/>
              </a:rPr>
              <a:t> Consensus treatment plan with rationale</a:t>
            </a:r>
            <a:endParaRPr lang="en-US" sz="1100" dirty="0"/>
          </a:p>
        </p:txBody>
      </p:sp>
      <p:sp>
        <p:nvSpPr>
          <p:cNvPr id="34" name="Text 32"/>
          <p:cNvSpPr/>
          <p:nvPr/>
        </p:nvSpPr>
        <p:spPr>
          <a:xfrm>
            <a:off x="4819501" y="3876080"/>
            <a:ext cx="4045148" cy="1104602"/>
          </a:xfrm>
          <a:prstGeom prst="rect">
            <a:avLst/>
          </a:prstGeom>
          <a:solidFill>
            <a:srgbClr val="2ECC71">
              <a:alpha val="10000"/>
            </a:srgbClr>
          </a:solidFill>
          <a:ln w="9525">
            <a:solidFill>
              <a:srgbClr val="2ECC71"/>
            </a:solidFill>
          </a:ln>
        </p:spPr>
        <p:txBody>
          <a:bodyPr wrap="square" rtlCol="0" anchor="ctr"/>
          <a:lstStyle/>
          <a:p>
            <a:pPr indent="0" marL="0">
              <a:buNone/>
            </a:pPr>
            <a:endParaRPr lang="en-US" dirty="0"/>
          </a:p>
        </p:txBody>
      </p:sp>
      <p:sp>
        <p:nvSpPr>
          <p:cNvPr id="35" name="Text 33"/>
          <p:cNvSpPr/>
          <p:nvPr/>
        </p:nvSpPr>
        <p:spPr>
          <a:xfrm>
            <a:off x="5006727" y="4126855"/>
            <a:ext cx="3744111" cy="133350"/>
          </a:xfrm>
          <a:prstGeom prst="rect">
            <a:avLst/>
          </a:prstGeom>
          <a:noFill/>
          <a:ln/>
        </p:spPr>
        <p:txBody>
          <a:bodyPr wrap="square" lIns="0" tIns="0" rIns="0" bIns="0" rtlCol="0" anchor="t"/>
          <a:lstStyle/>
          <a:p>
            <a:pPr algn="l" indent="0" marL="0">
              <a:spcBef>
                <a:spcPts val="900"/>
              </a:spcBef>
              <a:spcAft>
                <a:spcPts val="400"/>
              </a:spcAft>
              <a:buNone/>
            </a:pPr>
            <a:r>
              <a:rPr lang="en-US" sz="900" dirty="0">
                <a:solidFill>
                  <a:srgbClr val="2ECC71"/>
                </a:solidFill>
                <a:latin typeface="Arial" pitchFamily="34" charset="0"/>
                <a:ea typeface="Arial" pitchFamily="34" charset="-122"/>
                <a:cs typeface="Arial" pitchFamily="34" charset="-120"/>
              </a:rPr>
              <a:t>RESULT</a:t>
            </a:r>
            <a:endParaRPr lang="en-US" sz="900" dirty="0"/>
          </a:p>
        </p:txBody>
      </p:sp>
      <p:sp>
        <p:nvSpPr>
          <p:cNvPr id="36" name="Text 34"/>
          <p:cNvSpPr/>
          <p:nvPr/>
        </p:nvSpPr>
        <p:spPr>
          <a:xfrm>
            <a:off x="5006727" y="4399806"/>
            <a:ext cx="3744111" cy="304800"/>
          </a:xfrm>
          <a:prstGeom prst="rect">
            <a:avLst/>
          </a:prstGeom>
          <a:noFill/>
          <a:ln/>
        </p:spPr>
        <p:txBody>
          <a:bodyPr wrap="square" lIns="0" tIns="0" rIns="0" bIns="0" rtlCol="0" anchor="t"/>
          <a:lstStyle/>
          <a:p>
            <a:pPr algn="l" indent="0" marL="0">
              <a:spcBef>
                <a:spcPts val="1100"/>
              </a:spcBef>
              <a:spcAft>
                <a:spcPts val="1100"/>
              </a:spcAft>
              <a:buNone/>
            </a:pPr>
            <a:r>
              <a:rPr lang="en-US" sz="1100" dirty="0">
                <a:solidFill>
                  <a:srgbClr val="E0E0E0"/>
                </a:solidFill>
                <a:latin typeface="Arial" pitchFamily="34" charset="0"/>
                <a:ea typeface="Arial" pitchFamily="34" charset="-122"/>
                <a:cs typeface="Arial" pitchFamily="34" charset="-120"/>
              </a:rPr>
              <a:t>Realistic board simulation in &lt;5 minutes. Cited EAU 2024 guidelines in every output.</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50A1E"/>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F1C40F"/>
          </a:solidFill>
          <a:ln/>
        </p:spPr>
        <p:txBody>
          <a:bodyPr wrap="square" rtlCol="0" anchor="ctr"/>
          <a:lstStyle/>
          <a:p>
            <a:pPr indent="0" marL="0">
              <a:buNone/>
            </a:pPr>
            <a:endParaRPr lang="en-US" dirty="0"/>
          </a:p>
        </p:txBody>
      </p:sp>
      <p:sp>
        <p:nvSpPr>
          <p:cNvPr id="3" name="Text 1"/>
          <p:cNvSpPr/>
          <p:nvPr/>
        </p:nvSpPr>
        <p:spPr>
          <a:xfrm>
            <a:off x="3391495" y="-12650"/>
            <a:ext cx="2361009" cy="279202"/>
          </a:xfrm>
          <a:prstGeom prst="rect">
            <a:avLst/>
          </a:prstGeom>
          <a:solidFill>
            <a:srgbClr val="F1C40F"/>
          </a:solidFill>
          <a:ln/>
        </p:spPr>
        <p:txBody>
          <a:bodyPr wrap="square" rtlCol="0" anchor="ctr"/>
          <a:lstStyle/>
          <a:p>
            <a:pPr indent="0" marL="0">
              <a:buNone/>
            </a:pPr>
            <a:endParaRPr lang="en-US" dirty="0"/>
          </a:p>
        </p:txBody>
      </p:sp>
      <p:sp>
        <p:nvSpPr>
          <p:cNvPr id="4" name="Text 2"/>
          <p:cNvSpPr/>
          <p:nvPr/>
        </p:nvSpPr>
        <p:spPr>
          <a:xfrm>
            <a:off x="3594646" y="50750"/>
            <a:ext cx="1993803" cy="152400"/>
          </a:xfrm>
          <a:prstGeom prst="rect">
            <a:avLst/>
          </a:prstGeom>
          <a:noFill/>
          <a:ln/>
        </p:spPr>
        <p:txBody>
          <a:bodyPr wrap="square" lIns="0" tIns="0" rIns="0" bIns="0" rtlCol="0" anchor="t"/>
          <a:lstStyle/>
          <a:p>
            <a:pPr algn="l" indent="0" marL="0">
              <a:buNone/>
            </a:pPr>
            <a:r>
              <a:rPr lang="en-US" sz="1100" b="1" dirty="0">
                <a:solidFill>
                  <a:srgbClr val="050A1E"/>
                </a:solidFill>
                <a:latin typeface="Arial" pitchFamily="34" charset="0"/>
                <a:ea typeface="Arial" pitchFamily="34" charset="-122"/>
                <a:cs typeface="Arial" pitchFamily="34" charset="-120"/>
              </a:rPr>
              <a:t>DEMO 3 — 4 MINUTES</a:t>
            </a:r>
            <a:endParaRPr lang="en-US" sz="1100" dirty="0"/>
          </a:p>
        </p:txBody>
      </p:sp>
      <p:sp>
        <p:nvSpPr>
          <p:cNvPr id="5" name="Text 3"/>
          <p:cNvSpPr/>
          <p:nvPr/>
        </p:nvSpPr>
        <p:spPr>
          <a:xfrm>
            <a:off x="2002404" y="418951"/>
            <a:ext cx="5139044" cy="371475"/>
          </a:xfrm>
          <a:prstGeom prst="rect">
            <a:avLst/>
          </a:prstGeom>
          <a:noFill/>
          <a:ln/>
        </p:spPr>
        <p:txBody>
          <a:bodyPr wrap="square" lIns="0" tIns="0" rIns="0" bIns="0" rtlCol="0" anchor="t"/>
          <a:lstStyle/>
          <a:p>
            <a:pPr algn="ctr" indent="0" marL="0">
              <a:spcAft>
                <a:spcPts val="800"/>
              </a:spcAft>
              <a:buNone/>
            </a:pPr>
            <a:r>
              <a:rPr lang="en-US" sz="2600" dirty="0">
                <a:solidFill>
                  <a:srgbClr val="FFFFFF"/>
                </a:solidFill>
                <a:latin typeface="Arial" pitchFamily="34" charset="0"/>
                <a:ea typeface="Arial" pitchFamily="34" charset="-122"/>
                <a:cs typeface="Arial" pitchFamily="34" charset="-120"/>
              </a:rPr>
              <a:t>Launch a </a:t>
            </a:r>
            <a:pPr algn="ctr" indent="0" marL="0">
              <a:spcAft>
                <a:spcPts val="800"/>
              </a:spcAft>
              <a:buNone/>
            </a:pPr>
            <a:r>
              <a:rPr lang="en-US" sz="2600" b="1" dirty="0">
                <a:solidFill>
                  <a:srgbClr val="F1C40F"/>
                </a:solidFill>
                <a:latin typeface="Arial" pitchFamily="34" charset="0"/>
                <a:ea typeface="Arial" pitchFamily="34" charset="-122"/>
                <a:cs typeface="Arial" pitchFamily="34" charset="-120"/>
              </a:rPr>
              <a:t>Multi-Agent Team</a:t>
            </a:r>
            <a:pPr algn="ctr" indent="0" marL="0">
              <a:spcAft>
                <a:spcPts val="800"/>
              </a:spcAft>
              <a:buNone/>
            </a:pPr>
            <a:r>
              <a:rPr lang="en-US" sz="2600" dirty="0">
                <a:solidFill>
                  <a:srgbClr val="FFFFFF"/>
                </a:solidFill>
                <a:latin typeface="Arial" pitchFamily="34" charset="0"/>
                <a:ea typeface="Arial" pitchFamily="34" charset="-122"/>
                <a:cs typeface="Arial" pitchFamily="34" charset="-120"/>
              </a:rPr>
              <a:t> Live</a:t>
            </a:r>
            <a:endParaRPr lang="en-US" sz="2600" dirty="0"/>
          </a:p>
        </p:txBody>
      </p:sp>
      <p:sp>
        <p:nvSpPr>
          <p:cNvPr id="6" name="Text 4"/>
          <p:cNvSpPr/>
          <p:nvPr/>
        </p:nvSpPr>
        <p:spPr>
          <a:xfrm>
            <a:off x="2103504" y="1044327"/>
            <a:ext cx="4936992" cy="171450"/>
          </a:xfrm>
          <a:prstGeom prst="rect">
            <a:avLst/>
          </a:prstGeom>
          <a:noFill/>
          <a:ln/>
        </p:spPr>
        <p:txBody>
          <a:bodyPr wrap="square" lIns="0" tIns="0" rIns="0" bIns="0" rtlCol="0" anchor="t"/>
          <a:lstStyle/>
          <a:p>
            <a:pPr algn="ctr" indent="0" marL="0">
              <a:spcBef>
                <a:spcPts val="1200"/>
              </a:spcBef>
              <a:spcAft>
                <a:spcPts val="2200"/>
              </a:spcAft>
              <a:buNone/>
            </a:pPr>
            <a:r>
              <a:rPr lang="en-US" sz="1200" dirty="0">
                <a:solidFill>
                  <a:srgbClr val="B0BEC5"/>
                </a:solidFill>
                <a:latin typeface="Arial" pitchFamily="34" charset="0"/>
                <a:ea typeface="Arial" pitchFamily="34" charset="-122"/>
                <a:cs typeface="Arial" pitchFamily="34" charset="-120"/>
              </a:rPr>
              <a:t>Watch parallel agents spin up and execute independently — in real time</a:t>
            </a:r>
            <a:endParaRPr lang="en-US" sz="1200" dirty="0"/>
          </a:p>
        </p:txBody>
      </p:sp>
      <p:sp>
        <p:nvSpPr>
          <p:cNvPr id="7" name="Text 5"/>
          <p:cNvSpPr/>
          <p:nvPr/>
        </p:nvSpPr>
        <p:spPr>
          <a:xfrm>
            <a:off x="692200" y="1495127"/>
            <a:ext cx="7759601" cy="2334220"/>
          </a:xfrm>
          <a:prstGeom prst="rect">
            <a:avLst/>
          </a:prstGeom>
          <a:solidFill>
            <a:srgbClr val="0D1117"/>
          </a:solidFill>
          <a:ln w="19050">
            <a:solidFill>
              <a:srgbClr val="F1C40F"/>
            </a:solidFill>
          </a:ln>
        </p:spPr>
        <p:txBody>
          <a:bodyPr wrap="square" rtlCol="0" anchor="ctr"/>
          <a:lstStyle/>
          <a:p>
            <a:pPr indent="0" marL="0">
              <a:buNone/>
            </a:pPr>
            <a:endParaRPr lang="en-US" dirty="0"/>
          </a:p>
        </p:txBody>
      </p:sp>
      <p:sp>
        <p:nvSpPr>
          <p:cNvPr id="8" name="Text 6"/>
          <p:cNvSpPr/>
          <p:nvPr/>
        </p:nvSpPr>
        <p:spPr>
          <a:xfrm>
            <a:off x="914400" y="1361777"/>
            <a:ext cx="1483668" cy="183952"/>
          </a:xfrm>
          <a:prstGeom prst="rect">
            <a:avLst/>
          </a:prstGeom>
          <a:solidFill>
            <a:srgbClr val="F1C40F"/>
          </a:solidFill>
          <a:ln/>
        </p:spPr>
        <p:txBody>
          <a:bodyPr wrap="square" rtlCol="0" anchor="ctr"/>
          <a:lstStyle/>
          <a:p>
            <a:pPr indent="0" marL="0">
              <a:buNone/>
            </a:pPr>
            <a:endParaRPr lang="en-US" dirty="0"/>
          </a:p>
        </p:txBody>
      </p:sp>
      <p:sp>
        <p:nvSpPr>
          <p:cNvPr id="9" name="Text 7"/>
          <p:cNvSpPr/>
          <p:nvPr/>
        </p:nvSpPr>
        <p:spPr>
          <a:xfrm>
            <a:off x="1041350" y="1387078"/>
            <a:ext cx="1254362" cy="133350"/>
          </a:xfrm>
          <a:prstGeom prst="rect">
            <a:avLst/>
          </a:prstGeom>
          <a:noFill/>
          <a:ln/>
        </p:spPr>
        <p:txBody>
          <a:bodyPr wrap="square" lIns="0" tIns="0" rIns="0" bIns="0" rtlCol="0" anchor="t"/>
          <a:lstStyle/>
          <a:p>
            <a:pPr algn="l" indent="0" marL="0">
              <a:buNone/>
            </a:pPr>
            <a:r>
              <a:rPr lang="en-US" sz="900" b="1" dirty="0">
                <a:solidFill>
                  <a:srgbClr val="050A1E"/>
                </a:solidFill>
                <a:latin typeface="Arial" pitchFamily="34" charset="0"/>
                <a:ea typeface="Arial" pitchFamily="34" charset="-122"/>
                <a:cs typeface="Arial" pitchFamily="34" charset="-120"/>
              </a:rPr>
              <a:t>TERMINAL COMMAND</a:t>
            </a:r>
            <a:endParaRPr lang="en-US" sz="900" dirty="0"/>
          </a:p>
        </p:txBody>
      </p:sp>
      <p:sp>
        <p:nvSpPr>
          <p:cNvPr id="10" name="Text 8"/>
          <p:cNvSpPr/>
          <p:nvPr/>
        </p:nvSpPr>
        <p:spPr>
          <a:xfrm>
            <a:off x="1016050" y="1882378"/>
            <a:ext cx="7254139" cy="304800"/>
          </a:xfrm>
          <a:prstGeom prst="rect">
            <a:avLst/>
          </a:prstGeom>
          <a:noFill/>
          <a:ln/>
        </p:spPr>
        <p:txBody>
          <a:bodyPr wrap="square" lIns="0" tIns="0" rIns="0" bIns="0" rtlCol="0" anchor="t"/>
          <a:lstStyle/>
          <a:p>
            <a:pPr algn="l" indent="0" marL="0">
              <a:spcBef>
                <a:spcPts val="1100"/>
              </a:spcBef>
              <a:spcAft>
                <a:spcPts val="1000"/>
              </a:spcAft>
              <a:buNone/>
            </a:pPr>
            <a:r>
              <a:rPr lang="en-US" sz="1100" dirty="0">
                <a:solidFill>
                  <a:srgbClr val="7EE787"/>
                </a:solidFill>
                <a:latin typeface="Courier New" pitchFamily="34" charset="0"/>
                <a:ea typeface="Courier New" pitchFamily="34" charset="-122"/>
                <a:cs typeface="Courier New" pitchFamily="34" charset="-120"/>
              </a:rPr>
              <a:t>$ claude "Use 3 parallel agents to: (1) summarize this paper's methods, (2) critique the statistics, (3) suggest follow-up studies. Run simultaneously."</a:t>
            </a:r>
            <a:endParaRPr lang="en-US" sz="1100" dirty="0"/>
          </a:p>
        </p:txBody>
      </p:sp>
      <p:sp>
        <p:nvSpPr>
          <p:cNvPr id="11" name="Text 9"/>
          <p:cNvSpPr/>
          <p:nvPr/>
        </p:nvSpPr>
        <p:spPr>
          <a:xfrm>
            <a:off x="1016050" y="2314129"/>
            <a:ext cx="7254139" cy="731044"/>
          </a:xfrm>
          <a:prstGeom prst="rect">
            <a:avLst/>
          </a:prstGeom>
          <a:noFill/>
          <a:ln/>
        </p:spPr>
        <p:txBody>
          <a:bodyPr wrap="square" lIns="0" tIns="0" rIns="0" bIns="0" rtlCol="0" anchor="t"/>
          <a:lstStyle/>
          <a:p>
            <a:pPr algn="l" indent="0" marL="0">
              <a:lnSpc>
                <a:spcPts val="1440"/>
              </a:lnSpc>
              <a:spcBef>
                <a:spcPts val="900"/>
              </a:spcBef>
              <a:spcAft>
                <a:spcPts val="900"/>
              </a:spcAft>
              <a:buNone/>
            </a:pPr>
            <a:r>
              <a:rPr lang="en-US" sz="900" dirty="0">
                <a:solidFill>
                  <a:srgbClr val="8B949E"/>
                </a:solidFill>
                <a:latin typeface="Courier New" pitchFamily="34" charset="0"/>
                <a:ea typeface="Courier New" pitchFamily="34" charset="-122"/>
                <a:cs typeface="Courier New" pitchFamily="34" charset="-120"/>
              </a:rPr>
              <a:t>✦ Spawning Agent-1: Methods Summarizer...</a:t>
            </a:r>
            <a:endParaRPr lang="en-US" sz="900" dirty="0"/>
          </a:p>
          <a:p>
            <a:pPr algn="l" indent="0" marL="0">
              <a:lnSpc>
                <a:spcPts val="1440"/>
              </a:lnSpc>
              <a:spcBef>
                <a:spcPts val="900"/>
              </a:spcBef>
              <a:spcAft>
                <a:spcPts val="900"/>
              </a:spcAft>
              <a:buNone/>
            </a:pPr>
            <a:r>
              <a:rPr lang="en-US" sz="900" dirty="0">
                <a:solidFill>
                  <a:srgbClr val="8B949E"/>
                </a:solidFill>
                <a:latin typeface="Courier New" pitchFamily="34" charset="0"/>
                <a:ea typeface="Courier New" pitchFamily="34" charset="-122"/>
                <a:cs typeface="Courier New" pitchFamily="34" charset="-120"/>
              </a:rPr>
              <a:t> ✦ Spawning Agent-2: Statistics Critic...</a:t>
            </a:r>
            <a:endParaRPr lang="en-US" sz="900" dirty="0"/>
          </a:p>
          <a:p>
            <a:pPr algn="l" indent="0" marL="0">
              <a:lnSpc>
                <a:spcPts val="1440"/>
              </a:lnSpc>
              <a:spcBef>
                <a:spcPts val="900"/>
              </a:spcBef>
              <a:spcAft>
                <a:spcPts val="900"/>
              </a:spcAft>
              <a:buNone/>
            </a:pPr>
            <a:r>
              <a:rPr lang="en-US" sz="900" dirty="0">
                <a:solidFill>
                  <a:srgbClr val="8B949E"/>
                </a:solidFill>
                <a:latin typeface="Courier New" pitchFamily="34" charset="0"/>
                <a:ea typeface="Courier New" pitchFamily="34" charset="-122"/>
                <a:cs typeface="Courier New" pitchFamily="34" charset="-120"/>
              </a:rPr>
              <a:t> ✦ Spawning Agent-3: Future Research Scout...</a:t>
            </a:r>
            <a:endParaRPr lang="en-US" sz="900" dirty="0"/>
          </a:p>
          <a:p>
            <a:pPr algn="l" indent="0" marL="0">
              <a:lnSpc>
                <a:spcPts val="1440"/>
              </a:lnSpc>
              <a:spcBef>
                <a:spcPts val="900"/>
              </a:spcBef>
              <a:spcAft>
                <a:spcPts val="900"/>
              </a:spcAft>
              <a:buNone/>
            </a:pPr>
            <a:r>
              <a:rPr lang="en-US" sz="900" dirty="0">
                <a:solidFill>
                  <a:srgbClr val="8B949E"/>
                </a:solidFill>
                <a:latin typeface="Courier New" pitchFamily="34" charset="0"/>
                <a:ea typeface="Courier New" pitchFamily="34" charset="-122"/>
                <a:cs typeface="Courier New" pitchFamily="34" charset="-120"/>
              </a:rPr>
              <a:t> ✦ All 3 agents running in parallel...</a:t>
            </a:r>
            <a:endParaRPr lang="en-US" sz="900" dirty="0"/>
          </a:p>
        </p:txBody>
      </p:sp>
      <p:sp>
        <p:nvSpPr>
          <p:cNvPr id="12" name="Text 10"/>
          <p:cNvSpPr/>
          <p:nvPr/>
        </p:nvSpPr>
        <p:spPr>
          <a:xfrm>
            <a:off x="1016050" y="3159472"/>
            <a:ext cx="7254139" cy="295275"/>
          </a:xfrm>
          <a:prstGeom prst="rect">
            <a:avLst/>
          </a:prstGeom>
          <a:noFill/>
          <a:ln/>
        </p:spPr>
        <p:txBody>
          <a:bodyPr wrap="square" lIns="0" tIns="0" rIns="0" bIns="0" rtlCol="0" anchor="t"/>
          <a:lstStyle/>
          <a:p>
            <a:pPr algn="l" indent="0" marL="0">
              <a:spcBef>
                <a:spcPts val="800"/>
              </a:spcBef>
              <a:spcAft>
                <a:spcPts val="1000"/>
              </a:spcAft>
              <a:buNone/>
            </a:pPr>
            <a:r>
              <a:rPr lang="en-US" sz="1000" dirty="0">
                <a:solidFill>
                  <a:srgbClr val="00D4FF"/>
                </a:solidFill>
                <a:latin typeface="Courier New" pitchFamily="34" charset="0"/>
                <a:ea typeface="Courier New" pitchFamily="34" charset="-122"/>
                <a:cs typeface="Courier New" pitchFamily="34" charset="-120"/>
              </a:rPr>
              <a:t>✓ Agent-1 complete (47s) · ✓ Agent-2 complete (52s) · ✓ Agent-3 complete (44s)</a:t>
            </a:r>
            <a:endParaRPr lang="en-US" sz="1000" dirty="0"/>
          </a:p>
          <a:p>
            <a:pPr algn="l" indent="0" marL="0">
              <a:spcBef>
                <a:spcPts val="800"/>
              </a:spcBef>
              <a:spcAft>
                <a:spcPts val="1000"/>
              </a:spcAft>
              <a:buNone/>
            </a:pPr>
            <a:r>
              <a:rPr lang="en-US" sz="1000" dirty="0">
                <a:solidFill>
                  <a:srgbClr val="00D4FF"/>
                </a:solidFill>
                <a:latin typeface="Courier New" pitchFamily="34" charset="0"/>
                <a:ea typeface="Courier New" pitchFamily="34" charset="-122"/>
                <a:cs typeface="Courier New" pitchFamily="34" charset="-120"/>
              </a:rPr>
              <a:t> Final synthesis report saved → paper_review_complete.md</a:t>
            </a:r>
            <a:endParaRPr lang="en-US" sz="1000" dirty="0"/>
          </a:p>
        </p:txBody>
      </p:sp>
      <p:sp>
        <p:nvSpPr>
          <p:cNvPr id="13" name="Text 11"/>
          <p:cNvSpPr/>
          <p:nvPr/>
        </p:nvSpPr>
        <p:spPr>
          <a:xfrm>
            <a:off x="2394496" y="3956298"/>
            <a:ext cx="1228576" cy="1199852"/>
          </a:xfrm>
          <a:prstGeom prst="rect">
            <a:avLst/>
          </a:prstGeom>
          <a:solidFill>
            <a:srgbClr val="F1C40F">
              <a:alpha val="8000"/>
            </a:srgbClr>
          </a:solidFill>
          <a:ln w="9525">
            <a:solidFill>
              <a:srgbClr val="F1C40F"/>
            </a:solidFill>
          </a:ln>
        </p:spPr>
        <p:txBody>
          <a:bodyPr wrap="square" rtlCol="0" anchor="ctr"/>
          <a:lstStyle/>
          <a:p>
            <a:pPr indent="0" marL="0">
              <a:buNone/>
            </a:pPr>
            <a:endParaRPr lang="en-US" dirty="0"/>
          </a:p>
        </p:txBody>
      </p:sp>
      <p:sp>
        <p:nvSpPr>
          <p:cNvPr id="14" name="Text 12"/>
          <p:cNvSpPr/>
          <p:nvPr/>
        </p:nvSpPr>
        <p:spPr>
          <a:xfrm>
            <a:off x="2573180" y="4270474"/>
            <a:ext cx="871207" cy="209550"/>
          </a:xfrm>
          <a:prstGeom prst="rect">
            <a:avLst/>
          </a:prstGeom>
          <a:noFill/>
          <a:ln/>
        </p:spPr>
        <p:txBody>
          <a:bodyPr wrap="square" lIns="0" tIns="0" rIns="0" bIns="0" rtlCol="0" anchor="t"/>
          <a:lstStyle/>
          <a:p>
            <a:pPr algn="ctr" indent="0" marL="0">
              <a:spcBef>
                <a:spcPts val="1400"/>
              </a:spcBef>
              <a:spcAft>
                <a:spcPts val="400"/>
              </a:spcAft>
              <a:buNone/>
            </a:pPr>
            <a:r>
              <a:rPr lang="en-US" sz="1400" b="1" dirty="0">
                <a:solidFill>
                  <a:srgbClr val="F1C40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2573180" y="4606975"/>
            <a:ext cx="871207" cy="285750"/>
          </a:xfrm>
          <a:prstGeom prst="rect">
            <a:avLst/>
          </a:prstGeom>
          <a:noFill/>
          <a:ln/>
        </p:spPr>
        <p:txBody>
          <a:bodyPr wrap="square" lIns="0" tIns="0" rIns="0" bIns="0" rtlCol="0" anchor="t"/>
          <a:lstStyle/>
          <a:p>
            <a:pPr algn="ctr" indent="0" marL="0">
              <a:spcBef>
                <a:spcPts val="1000"/>
              </a:spcBef>
              <a:spcAft>
                <a:spcPts val="1000"/>
              </a:spcAft>
              <a:buNone/>
            </a:pPr>
            <a:r>
              <a:rPr lang="en-US" sz="1000" dirty="0">
                <a:solidFill>
                  <a:srgbClr val="E0E0E0"/>
                </a:solidFill>
                <a:latin typeface="Arial" pitchFamily="34" charset="0"/>
                <a:ea typeface="Arial" pitchFamily="34" charset="-122"/>
                <a:cs typeface="Arial" pitchFamily="34" charset="-120"/>
              </a:rPr>
              <a:t>Agents running</a:t>
            </a:r>
            <a:endParaRPr lang="en-US" sz="1000" dirty="0"/>
          </a:p>
          <a:p>
            <a:pPr algn="ctr" indent="0" marL="0">
              <a:spcBef>
                <a:spcPts val="1000"/>
              </a:spcBef>
              <a:spcAft>
                <a:spcPts val="1000"/>
              </a:spcAft>
              <a:buNone/>
            </a:pPr>
            <a:r>
              <a:rPr lang="en-US" sz="1000" dirty="0">
                <a:solidFill>
                  <a:srgbClr val="E0E0E0"/>
                </a:solidFill>
                <a:latin typeface="Arial" pitchFamily="34" charset="0"/>
                <a:ea typeface="Arial" pitchFamily="34" charset="-122"/>
                <a:cs typeface="Arial" pitchFamily="34" charset="-120"/>
              </a:rPr>
              <a:t>simultaneously</a:t>
            </a:r>
            <a:endParaRPr lang="en-US" sz="1000" dirty="0"/>
          </a:p>
        </p:txBody>
      </p:sp>
      <p:sp>
        <p:nvSpPr>
          <p:cNvPr id="16" name="Text 14"/>
          <p:cNvSpPr/>
          <p:nvPr/>
        </p:nvSpPr>
        <p:spPr>
          <a:xfrm>
            <a:off x="3800773" y="3956298"/>
            <a:ext cx="1620143" cy="1199852"/>
          </a:xfrm>
          <a:prstGeom prst="rect">
            <a:avLst/>
          </a:prstGeom>
          <a:solidFill>
            <a:srgbClr val="F1C40F">
              <a:alpha val="8000"/>
            </a:srgbClr>
          </a:solidFill>
          <a:ln w="9525">
            <a:solidFill>
              <a:srgbClr val="F1C40F"/>
            </a:solidFill>
          </a:ln>
        </p:spPr>
        <p:txBody>
          <a:bodyPr wrap="square" rtlCol="0" anchor="ctr"/>
          <a:lstStyle/>
          <a:p>
            <a:pPr indent="0" marL="0">
              <a:buNone/>
            </a:pPr>
            <a:endParaRPr lang="en-US" dirty="0"/>
          </a:p>
        </p:txBody>
      </p:sp>
      <p:sp>
        <p:nvSpPr>
          <p:cNvPr id="17" name="Text 15"/>
          <p:cNvSpPr/>
          <p:nvPr/>
        </p:nvSpPr>
        <p:spPr>
          <a:xfrm>
            <a:off x="3975542" y="4270474"/>
            <a:ext cx="1270605" cy="209550"/>
          </a:xfrm>
          <a:prstGeom prst="rect">
            <a:avLst/>
          </a:prstGeom>
          <a:noFill/>
          <a:ln/>
        </p:spPr>
        <p:txBody>
          <a:bodyPr wrap="square" lIns="0" tIns="0" rIns="0" bIns="0" rtlCol="0" anchor="t"/>
          <a:lstStyle/>
          <a:p>
            <a:pPr algn="ctr" indent="0" marL="0">
              <a:spcBef>
                <a:spcPts val="1400"/>
              </a:spcBef>
              <a:spcAft>
                <a:spcPts val="400"/>
              </a:spcAft>
              <a:buNone/>
            </a:pPr>
            <a:r>
              <a:rPr lang="en-US" sz="1400" b="1" dirty="0">
                <a:solidFill>
                  <a:srgbClr val="F1C40F"/>
                </a:solidFill>
                <a:latin typeface="Arial" pitchFamily="34" charset="0"/>
                <a:ea typeface="Arial" pitchFamily="34" charset="-122"/>
                <a:cs typeface="Arial" pitchFamily="34" charset="-120"/>
              </a:rPr>
              <a:t>52s</a:t>
            </a:r>
            <a:endParaRPr lang="en-US" sz="1400" dirty="0"/>
          </a:p>
        </p:txBody>
      </p:sp>
      <p:sp>
        <p:nvSpPr>
          <p:cNvPr id="18" name="Text 16"/>
          <p:cNvSpPr/>
          <p:nvPr/>
        </p:nvSpPr>
        <p:spPr>
          <a:xfrm>
            <a:off x="3975542" y="4606975"/>
            <a:ext cx="1270605" cy="285750"/>
          </a:xfrm>
          <a:prstGeom prst="rect">
            <a:avLst/>
          </a:prstGeom>
          <a:noFill/>
          <a:ln/>
        </p:spPr>
        <p:txBody>
          <a:bodyPr wrap="square" lIns="0" tIns="0" rIns="0" bIns="0" rtlCol="0" anchor="t"/>
          <a:lstStyle/>
          <a:p>
            <a:pPr algn="ctr" indent="0" marL="0">
              <a:spcBef>
                <a:spcPts val="1000"/>
              </a:spcBef>
              <a:spcAft>
                <a:spcPts val="1000"/>
              </a:spcAft>
              <a:buNone/>
            </a:pPr>
            <a:r>
              <a:rPr lang="en-US" sz="1000" dirty="0">
                <a:solidFill>
                  <a:srgbClr val="E0E0E0"/>
                </a:solidFill>
                <a:latin typeface="Arial" pitchFamily="34" charset="0"/>
                <a:ea typeface="Arial" pitchFamily="34" charset="-122"/>
                <a:cs typeface="Arial" pitchFamily="34" charset="-120"/>
              </a:rPr>
              <a:t>Total time</a:t>
            </a:r>
            <a:endParaRPr lang="en-US" sz="1000" dirty="0"/>
          </a:p>
          <a:p>
            <a:pPr algn="ctr" indent="0" marL="0">
              <a:spcBef>
                <a:spcPts val="1000"/>
              </a:spcBef>
              <a:spcAft>
                <a:spcPts val="1000"/>
              </a:spcAft>
              <a:buNone/>
            </a:pPr>
            <a:r>
              <a:rPr lang="en-US" sz="1000" dirty="0">
                <a:solidFill>
                  <a:srgbClr val="E0E0E0"/>
                </a:solidFill>
                <a:latin typeface="Arial" pitchFamily="34" charset="0"/>
                <a:ea typeface="Arial" pitchFamily="34" charset="-122"/>
                <a:cs typeface="Arial" pitchFamily="34" charset="-120"/>
              </a:rPr>
              <a:t>(vs ~4 min sequential)</a:t>
            </a:r>
            <a:endParaRPr lang="en-US" sz="1000" dirty="0"/>
          </a:p>
        </p:txBody>
      </p:sp>
      <p:sp>
        <p:nvSpPr>
          <p:cNvPr id="19" name="Text 17"/>
          <p:cNvSpPr/>
          <p:nvPr/>
        </p:nvSpPr>
        <p:spPr>
          <a:xfrm>
            <a:off x="5598616" y="3956298"/>
            <a:ext cx="1150888" cy="1199852"/>
          </a:xfrm>
          <a:prstGeom prst="rect">
            <a:avLst/>
          </a:prstGeom>
          <a:solidFill>
            <a:srgbClr val="F1C40F">
              <a:alpha val="8000"/>
            </a:srgbClr>
          </a:solidFill>
          <a:ln w="9525">
            <a:solidFill>
              <a:srgbClr val="F1C40F"/>
            </a:solidFill>
          </a:ln>
        </p:spPr>
        <p:txBody>
          <a:bodyPr wrap="square" rtlCol="0" anchor="ctr"/>
          <a:lstStyle/>
          <a:p>
            <a:pPr indent="0" marL="0">
              <a:buNone/>
            </a:pPr>
            <a:endParaRPr lang="en-US" dirty="0"/>
          </a:p>
        </p:txBody>
      </p:sp>
      <p:sp>
        <p:nvSpPr>
          <p:cNvPr id="20" name="Text 18"/>
          <p:cNvSpPr/>
          <p:nvPr/>
        </p:nvSpPr>
        <p:spPr>
          <a:xfrm>
            <a:off x="5778078" y="4270474"/>
            <a:ext cx="791965" cy="209550"/>
          </a:xfrm>
          <a:prstGeom prst="rect">
            <a:avLst/>
          </a:prstGeom>
          <a:noFill/>
          <a:ln/>
        </p:spPr>
        <p:txBody>
          <a:bodyPr wrap="square" lIns="0" tIns="0" rIns="0" bIns="0" rtlCol="0" anchor="t"/>
          <a:lstStyle/>
          <a:p>
            <a:pPr algn="ctr" indent="0" marL="0">
              <a:spcBef>
                <a:spcPts val="1400"/>
              </a:spcBef>
              <a:spcAft>
                <a:spcPts val="400"/>
              </a:spcAft>
              <a:buNone/>
            </a:pPr>
            <a:r>
              <a:rPr lang="en-US" sz="1400" b="1" dirty="0">
                <a:solidFill>
                  <a:srgbClr val="F1C40F"/>
                </a:solidFill>
                <a:latin typeface="Arial" pitchFamily="34" charset="0"/>
                <a:ea typeface="Arial" pitchFamily="34" charset="-122"/>
                <a:cs typeface="Arial" pitchFamily="34" charset="-120"/>
              </a:rPr>
              <a:t>1</a:t>
            </a:r>
            <a:endParaRPr lang="en-US" sz="1400" dirty="0"/>
          </a:p>
        </p:txBody>
      </p:sp>
      <p:sp>
        <p:nvSpPr>
          <p:cNvPr id="21" name="Text 19"/>
          <p:cNvSpPr/>
          <p:nvPr/>
        </p:nvSpPr>
        <p:spPr>
          <a:xfrm>
            <a:off x="5778078" y="4606975"/>
            <a:ext cx="791965" cy="285750"/>
          </a:xfrm>
          <a:prstGeom prst="rect">
            <a:avLst/>
          </a:prstGeom>
          <a:noFill/>
          <a:ln/>
        </p:spPr>
        <p:txBody>
          <a:bodyPr wrap="square" lIns="0" tIns="0" rIns="0" bIns="0" rtlCol="0" anchor="t"/>
          <a:lstStyle/>
          <a:p>
            <a:pPr algn="ctr" indent="0" marL="0">
              <a:spcBef>
                <a:spcPts val="1000"/>
              </a:spcBef>
              <a:spcAft>
                <a:spcPts val="1000"/>
              </a:spcAft>
              <a:buNone/>
            </a:pPr>
            <a:r>
              <a:rPr lang="en-US" sz="1000" dirty="0">
                <a:solidFill>
                  <a:srgbClr val="E0E0E0"/>
                </a:solidFill>
                <a:latin typeface="Arial" pitchFamily="34" charset="0"/>
                <a:ea typeface="Arial" pitchFamily="34" charset="-122"/>
                <a:cs typeface="Arial" pitchFamily="34" charset="-120"/>
              </a:rPr>
              <a:t>Command</a:t>
            </a:r>
            <a:endParaRPr lang="en-US" sz="1000" dirty="0"/>
          </a:p>
          <a:p>
            <a:pPr algn="ctr" indent="0" marL="0">
              <a:spcBef>
                <a:spcPts val="1000"/>
              </a:spcBef>
              <a:spcAft>
                <a:spcPts val="1000"/>
              </a:spcAft>
              <a:buNone/>
            </a:pPr>
            <a:r>
              <a:rPr lang="en-US" sz="1000" dirty="0">
                <a:solidFill>
                  <a:srgbClr val="E0E0E0"/>
                </a:solidFill>
                <a:latin typeface="Arial" pitchFamily="34" charset="0"/>
                <a:ea typeface="Arial" pitchFamily="34" charset="-122"/>
                <a:cs typeface="Arial" pitchFamily="34" charset="-120"/>
              </a:rPr>
              <a:t>to launch it all</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50A1E"/>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D4FF"/>
          </a:solidFill>
          <a:ln/>
        </p:spPr>
        <p:txBody>
          <a:bodyPr wrap="square" rtlCol="0" anchor="ctr"/>
          <a:lstStyle/>
          <a:p>
            <a:pPr indent="0" marL="0">
              <a:buNone/>
            </a:pPr>
            <a:endParaRPr lang="en-US" dirty="0"/>
          </a:p>
        </p:txBody>
      </p:sp>
      <p:sp>
        <p:nvSpPr>
          <p:cNvPr id="3" name="Text 1"/>
          <p:cNvSpPr/>
          <p:nvPr/>
        </p:nvSpPr>
        <p:spPr>
          <a:xfrm>
            <a:off x="381000" y="809774"/>
            <a:ext cx="8549640" cy="133350"/>
          </a:xfrm>
          <a:prstGeom prst="rect">
            <a:avLst/>
          </a:prstGeom>
          <a:noFill/>
          <a:ln/>
        </p:spPr>
        <p:txBody>
          <a:bodyPr wrap="square" lIns="0" tIns="0" rIns="0" bIns="0" rtlCol="0" anchor="t"/>
          <a:lstStyle/>
          <a:p>
            <a:pPr algn="l" indent="0" marL="0">
              <a:spcBef>
                <a:spcPts val="900"/>
              </a:spcBef>
              <a:spcAft>
                <a:spcPts val="600"/>
              </a:spcAft>
              <a:buNone/>
            </a:pPr>
            <a:r>
              <a:rPr lang="en-US" sz="900" dirty="0">
                <a:solidFill>
                  <a:srgbClr val="00D4FF"/>
                </a:solidFill>
                <a:latin typeface="Arial" pitchFamily="34" charset="0"/>
                <a:ea typeface="Arial" pitchFamily="34" charset="-122"/>
                <a:cs typeface="Arial" pitchFamily="34" charset="-120"/>
              </a:rPr>
              <a:t>AGENT DESIGN PATTERNS</a:t>
            </a:r>
            <a:endParaRPr lang="en-US" sz="900" dirty="0"/>
          </a:p>
        </p:txBody>
      </p:sp>
      <p:sp>
        <p:nvSpPr>
          <p:cNvPr id="4" name="Text 2"/>
          <p:cNvSpPr/>
          <p:nvPr/>
        </p:nvSpPr>
        <p:spPr>
          <a:xfrm>
            <a:off x="381000" y="1019324"/>
            <a:ext cx="8549640" cy="295275"/>
          </a:xfrm>
          <a:prstGeom prst="rect">
            <a:avLst/>
          </a:prstGeom>
          <a:noFill/>
          <a:ln/>
        </p:spPr>
        <p:txBody>
          <a:bodyPr wrap="square" lIns="0" tIns="0" rIns="0" bIns="0" rtlCol="0" anchor="t"/>
          <a:lstStyle/>
          <a:p>
            <a:pPr algn="l" indent="0" marL="0">
              <a:spcAft>
                <a:spcPts val="1200"/>
              </a:spcAft>
              <a:buNone/>
            </a:pPr>
            <a:r>
              <a:rPr lang="en-US" sz="2000" dirty="0">
                <a:solidFill>
                  <a:srgbClr val="FFFFFF"/>
                </a:solidFill>
                <a:latin typeface="Arial" pitchFamily="34" charset="0"/>
                <a:ea typeface="Arial" pitchFamily="34" charset="-122"/>
                <a:cs typeface="Arial" pitchFamily="34" charset="-120"/>
              </a:rPr>
              <a:t>How to </a:t>
            </a:r>
            <a:pPr algn="l" indent="0" marL="0">
              <a:spcAft>
                <a:spcPts val="1200"/>
              </a:spcAft>
              <a:buNone/>
            </a:pPr>
            <a:r>
              <a:rPr lang="en-US" sz="2000" b="1" dirty="0">
                <a:solidFill>
                  <a:srgbClr val="00D4FF"/>
                </a:solidFill>
                <a:latin typeface="Arial" pitchFamily="34" charset="0"/>
                <a:ea typeface="Arial" pitchFamily="34" charset="-122"/>
                <a:cs typeface="Arial" pitchFamily="34" charset="-120"/>
              </a:rPr>
              <a:t>Architect</a:t>
            </a:r>
            <a:pPr algn="l" indent="0" marL="0">
              <a:spcAft>
                <a:spcPts val="1200"/>
              </a:spcAft>
              <a:buNone/>
            </a:pPr>
            <a:r>
              <a:rPr lang="en-US" sz="2000" dirty="0">
                <a:solidFill>
                  <a:srgbClr val="FFFFFF"/>
                </a:solidFill>
                <a:latin typeface="Arial" pitchFamily="34" charset="0"/>
                <a:ea typeface="Arial" pitchFamily="34" charset="-122"/>
                <a:cs typeface="Arial" pitchFamily="34" charset="-120"/>
              </a:rPr>
              <a:t> an Agent System</a:t>
            </a:r>
            <a:endParaRPr lang="en-US" sz="2000" dirty="0"/>
          </a:p>
        </p:txBody>
      </p:sp>
      <p:sp>
        <p:nvSpPr>
          <p:cNvPr id="5" name="Text 3"/>
          <p:cNvSpPr/>
          <p:nvPr/>
        </p:nvSpPr>
        <p:spPr>
          <a:xfrm>
            <a:off x="381000" y="1466999"/>
            <a:ext cx="2000250" cy="1806625"/>
          </a:xfrm>
          <a:prstGeom prst="rect">
            <a:avLst/>
          </a:prstGeom>
          <a:solidFill>
            <a:srgbClr val="00D4FF">
              <a:alpha val="7000"/>
            </a:srgbClr>
          </a:solidFill>
          <a:ln w="9525">
            <a:solidFill>
              <a:srgbClr val="00D4FF"/>
            </a:solidFill>
          </a:ln>
        </p:spPr>
        <p:txBody>
          <a:bodyPr wrap="square" rtlCol="0" anchor="ctr"/>
          <a:lstStyle/>
          <a:p>
            <a:pPr indent="0" marL="0">
              <a:buNone/>
            </a:pPr>
            <a:endParaRPr lang="en-US" dirty="0"/>
          </a:p>
        </p:txBody>
      </p:sp>
      <p:sp>
        <p:nvSpPr>
          <p:cNvPr id="6" name="Text 4"/>
          <p:cNvSpPr/>
          <p:nvPr/>
        </p:nvSpPr>
        <p:spPr>
          <a:xfrm>
            <a:off x="517475" y="1704975"/>
            <a:ext cx="1761845" cy="114300"/>
          </a:xfrm>
          <a:prstGeom prst="rect">
            <a:avLst/>
          </a:prstGeom>
          <a:noFill/>
          <a:ln/>
        </p:spPr>
        <p:txBody>
          <a:bodyPr wrap="square" lIns="0" tIns="0" rIns="0" bIns="0" rtlCol="0" anchor="t"/>
          <a:lstStyle/>
          <a:p>
            <a:pPr algn="l" indent="0" marL="0">
              <a:spcBef>
                <a:spcPts val="800"/>
              </a:spcBef>
              <a:spcAft>
                <a:spcPts val="400"/>
              </a:spcAft>
              <a:buNone/>
            </a:pPr>
            <a:r>
              <a:rPr lang="en-US" sz="800" dirty="0">
                <a:solidFill>
                  <a:srgbClr val="00D4FF"/>
                </a:solidFill>
                <a:latin typeface="Arial" pitchFamily="34" charset="0"/>
                <a:ea typeface="Arial" pitchFamily="34" charset="-122"/>
                <a:cs typeface="Arial" pitchFamily="34" charset="-120"/>
              </a:rPr>
              <a:t>PATTERN 1</a:t>
            </a:r>
            <a:endParaRPr lang="en-US" sz="800" dirty="0"/>
          </a:p>
        </p:txBody>
      </p:sp>
      <p:sp>
        <p:nvSpPr>
          <p:cNvPr id="7" name="Text 5"/>
          <p:cNvSpPr/>
          <p:nvPr/>
        </p:nvSpPr>
        <p:spPr>
          <a:xfrm>
            <a:off x="517475" y="1958876"/>
            <a:ext cx="1761845" cy="152400"/>
          </a:xfrm>
          <a:prstGeom prst="rect">
            <a:avLst/>
          </a:prstGeom>
          <a:noFill/>
          <a:ln/>
        </p:spPr>
        <p:txBody>
          <a:bodyPr wrap="square" lIns="0" tIns="0" rIns="0" bIns="0" rtlCol="0" anchor="t"/>
          <a:lstStyle/>
          <a:p>
            <a:pPr algn="l" indent="0" marL="0">
              <a:spcBef>
                <a:spcPts val="1100"/>
              </a:spcBef>
              <a:spcAft>
                <a:spcPts val="400"/>
              </a:spcAft>
              <a:buNone/>
            </a:pPr>
            <a:r>
              <a:rPr lang="en-US" sz="1100" b="1" dirty="0">
                <a:solidFill>
                  <a:srgbClr val="FFFFFF"/>
                </a:solidFill>
                <a:latin typeface="Arial" pitchFamily="34" charset="0"/>
                <a:ea typeface="Arial" pitchFamily="34" charset="-122"/>
                <a:cs typeface="Arial" pitchFamily="34" charset="-120"/>
              </a:rPr>
              <a:t>Single Agent Loop</a:t>
            </a:r>
            <a:endParaRPr lang="en-US" sz="1100" dirty="0"/>
          </a:p>
        </p:txBody>
      </p:sp>
      <p:sp>
        <p:nvSpPr>
          <p:cNvPr id="8" name="Text 6"/>
          <p:cNvSpPr/>
          <p:nvPr/>
        </p:nvSpPr>
        <p:spPr>
          <a:xfrm>
            <a:off x="517475" y="2225576"/>
            <a:ext cx="1761845" cy="479971"/>
          </a:xfrm>
          <a:prstGeom prst="rect">
            <a:avLst/>
          </a:prstGeom>
          <a:noFill/>
          <a:ln/>
        </p:spPr>
        <p:txBody>
          <a:bodyPr wrap="square" lIns="0" tIns="0" rIns="0" bIns="0" rtlCol="0" anchor="t"/>
          <a:lstStyle/>
          <a:p>
            <a:pPr algn="l" indent="0" marL="0">
              <a:lnSpc>
                <a:spcPts val="1260"/>
              </a:lnSpc>
              <a:spcBef>
                <a:spcPts val="900"/>
              </a:spcBef>
              <a:spcAft>
                <a:spcPts val="500"/>
              </a:spcAft>
              <a:buNone/>
            </a:pPr>
            <a:r>
              <a:rPr lang="en-US" sz="900" dirty="0">
                <a:solidFill>
                  <a:srgbClr val="B0BEC5"/>
                </a:solidFill>
                <a:latin typeface="Arial" pitchFamily="34" charset="0"/>
                <a:ea typeface="Arial" pitchFamily="34" charset="-122"/>
                <a:cs typeface="Arial" pitchFamily="34" charset="-120"/>
              </a:rPr>
              <a:t>One agent with tools. Loops until goal is met. Best for complex sequential tasks.</a:t>
            </a:r>
            <a:endParaRPr lang="en-US" sz="900" dirty="0"/>
          </a:p>
        </p:txBody>
      </p:sp>
      <p:sp>
        <p:nvSpPr>
          <p:cNvPr id="9" name="Text 7"/>
          <p:cNvSpPr/>
          <p:nvPr/>
        </p:nvSpPr>
        <p:spPr>
          <a:xfrm>
            <a:off x="517475" y="2807047"/>
            <a:ext cx="1761845" cy="228600"/>
          </a:xfrm>
          <a:prstGeom prst="rect">
            <a:avLst/>
          </a:prstGeom>
          <a:noFill/>
          <a:ln/>
        </p:spPr>
        <p:txBody>
          <a:bodyPr wrap="square" lIns="0" tIns="0" rIns="0" bIns="0" rtlCol="0" anchor="t"/>
          <a:lstStyle/>
          <a:p>
            <a:pPr algn="l" indent="0" marL="0">
              <a:spcBef>
                <a:spcPts val="800"/>
              </a:spcBef>
              <a:spcAft>
                <a:spcPts val="800"/>
              </a:spcAft>
              <a:buNone/>
            </a:pPr>
            <a:r>
              <a:rPr lang="en-US" sz="800" dirty="0">
                <a:solidFill>
                  <a:srgbClr val="7EE787"/>
                </a:solidFill>
                <a:latin typeface="Courier New" pitchFamily="34" charset="0"/>
                <a:ea typeface="Courier New" pitchFamily="34" charset="-122"/>
                <a:cs typeface="Courier New" pitchFamily="34" charset="-120"/>
              </a:rPr>
              <a:t>Serie: research → write → revise</a:t>
            </a:r>
            <a:endParaRPr lang="en-US" sz="800" dirty="0"/>
          </a:p>
        </p:txBody>
      </p:sp>
      <p:sp>
        <p:nvSpPr>
          <p:cNvPr id="10" name="Text 8"/>
          <p:cNvSpPr/>
          <p:nvPr/>
        </p:nvSpPr>
        <p:spPr>
          <a:xfrm>
            <a:off x="2508200" y="1466999"/>
            <a:ext cx="2000399" cy="1806625"/>
          </a:xfrm>
          <a:prstGeom prst="rect">
            <a:avLst/>
          </a:prstGeom>
          <a:solidFill>
            <a:srgbClr val="00D4FF">
              <a:alpha val="7000"/>
            </a:srgbClr>
          </a:solidFill>
          <a:ln w="9525">
            <a:solidFill>
              <a:srgbClr val="00D4FF"/>
            </a:solidFill>
          </a:ln>
        </p:spPr>
        <p:txBody>
          <a:bodyPr wrap="square" rtlCol="0" anchor="ctr"/>
          <a:lstStyle/>
          <a:p>
            <a:pPr indent="0" marL="0">
              <a:buNone/>
            </a:pPr>
            <a:endParaRPr lang="en-US" dirty="0"/>
          </a:p>
        </p:txBody>
      </p:sp>
      <p:sp>
        <p:nvSpPr>
          <p:cNvPr id="11" name="Text 9"/>
          <p:cNvSpPr/>
          <p:nvPr/>
        </p:nvSpPr>
        <p:spPr>
          <a:xfrm>
            <a:off x="2644676" y="1704975"/>
            <a:ext cx="1761997" cy="114300"/>
          </a:xfrm>
          <a:prstGeom prst="rect">
            <a:avLst/>
          </a:prstGeom>
          <a:noFill/>
          <a:ln/>
        </p:spPr>
        <p:txBody>
          <a:bodyPr wrap="square" lIns="0" tIns="0" rIns="0" bIns="0" rtlCol="0" anchor="t"/>
          <a:lstStyle/>
          <a:p>
            <a:pPr algn="l" indent="0" marL="0">
              <a:spcBef>
                <a:spcPts val="800"/>
              </a:spcBef>
              <a:spcAft>
                <a:spcPts val="400"/>
              </a:spcAft>
              <a:buNone/>
            </a:pPr>
            <a:r>
              <a:rPr lang="en-US" sz="800" dirty="0">
                <a:solidFill>
                  <a:srgbClr val="00D4FF"/>
                </a:solidFill>
                <a:latin typeface="Arial" pitchFamily="34" charset="0"/>
                <a:ea typeface="Arial" pitchFamily="34" charset="-122"/>
                <a:cs typeface="Arial" pitchFamily="34" charset="-120"/>
              </a:rPr>
              <a:t>PATTERN 2</a:t>
            </a:r>
            <a:endParaRPr lang="en-US" sz="800" dirty="0"/>
          </a:p>
        </p:txBody>
      </p:sp>
      <p:sp>
        <p:nvSpPr>
          <p:cNvPr id="12" name="Text 10"/>
          <p:cNvSpPr/>
          <p:nvPr/>
        </p:nvSpPr>
        <p:spPr>
          <a:xfrm>
            <a:off x="2644676" y="1958876"/>
            <a:ext cx="1761997" cy="152400"/>
          </a:xfrm>
          <a:prstGeom prst="rect">
            <a:avLst/>
          </a:prstGeom>
          <a:noFill/>
          <a:ln/>
        </p:spPr>
        <p:txBody>
          <a:bodyPr wrap="square" lIns="0" tIns="0" rIns="0" bIns="0" rtlCol="0" anchor="t"/>
          <a:lstStyle/>
          <a:p>
            <a:pPr algn="l" indent="0" marL="0">
              <a:spcBef>
                <a:spcPts val="1100"/>
              </a:spcBef>
              <a:spcAft>
                <a:spcPts val="400"/>
              </a:spcAft>
              <a:buNone/>
            </a:pPr>
            <a:r>
              <a:rPr lang="en-US" sz="1100" b="1" dirty="0">
                <a:solidFill>
                  <a:srgbClr val="FFFFFF"/>
                </a:solidFill>
                <a:latin typeface="Arial" pitchFamily="34" charset="0"/>
                <a:ea typeface="Arial" pitchFamily="34" charset="-122"/>
                <a:cs typeface="Arial" pitchFamily="34" charset="-120"/>
              </a:rPr>
              <a:t>Orchestrator + Workers</a:t>
            </a:r>
            <a:endParaRPr lang="en-US" sz="1100" dirty="0"/>
          </a:p>
        </p:txBody>
      </p:sp>
      <p:sp>
        <p:nvSpPr>
          <p:cNvPr id="13" name="Text 11"/>
          <p:cNvSpPr/>
          <p:nvPr/>
        </p:nvSpPr>
        <p:spPr>
          <a:xfrm>
            <a:off x="2644676" y="2225576"/>
            <a:ext cx="1761997" cy="479971"/>
          </a:xfrm>
          <a:prstGeom prst="rect">
            <a:avLst/>
          </a:prstGeom>
          <a:noFill/>
          <a:ln/>
        </p:spPr>
        <p:txBody>
          <a:bodyPr wrap="square" lIns="0" tIns="0" rIns="0" bIns="0" rtlCol="0" anchor="t"/>
          <a:lstStyle/>
          <a:p>
            <a:pPr algn="l" indent="0" marL="0">
              <a:lnSpc>
                <a:spcPts val="1260"/>
              </a:lnSpc>
              <a:spcBef>
                <a:spcPts val="900"/>
              </a:spcBef>
              <a:spcAft>
                <a:spcPts val="500"/>
              </a:spcAft>
              <a:buNone/>
            </a:pPr>
            <a:r>
              <a:rPr lang="en-US" sz="900" dirty="0">
                <a:solidFill>
                  <a:srgbClr val="B0BEC5"/>
                </a:solidFill>
                <a:latin typeface="Arial" pitchFamily="34" charset="0"/>
                <a:ea typeface="Arial" pitchFamily="34" charset="-122"/>
                <a:cs typeface="Arial" pitchFamily="34" charset="-120"/>
              </a:rPr>
              <a:t>Hermes delegates sub-tasks to specialists. Each returns results to orchestrator.</a:t>
            </a:r>
            <a:endParaRPr lang="en-US" sz="900" dirty="0"/>
          </a:p>
        </p:txBody>
      </p:sp>
      <p:sp>
        <p:nvSpPr>
          <p:cNvPr id="14" name="Text 12"/>
          <p:cNvSpPr/>
          <p:nvPr/>
        </p:nvSpPr>
        <p:spPr>
          <a:xfrm>
            <a:off x="2644676" y="2807047"/>
            <a:ext cx="1761997" cy="228600"/>
          </a:xfrm>
          <a:prstGeom prst="rect">
            <a:avLst/>
          </a:prstGeom>
          <a:noFill/>
          <a:ln/>
        </p:spPr>
        <p:txBody>
          <a:bodyPr wrap="square" lIns="0" tIns="0" rIns="0" bIns="0" rtlCol="0" anchor="t"/>
          <a:lstStyle/>
          <a:p>
            <a:pPr algn="l" indent="0" marL="0">
              <a:spcBef>
                <a:spcPts val="800"/>
              </a:spcBef>
              <a:spcAft>
                <a:spcPts val="800"/>
              </a:spcAft>
              <a:buNone/>
            </a:pPr>
            <a:r>
              <a:rPr lang="en-US" sz="800" dirty="0">
                <a:solidFill>
                  <a:srgbClr val="7EE787"/>
                </a:solidFill>
                <a:latin typeface="Courier New" pitchFamily="34" charset="0"/>
                <a:ea typeface="Courier New" pitchFamily="34" charset="-122"/>
                <a:cs typeface="Courier New" pitchFamily="34" charset="-120"/>
              </a:rPr>
              <a:t>Hermes → [Serie, Watchdog, Paper-bot]</a:t>
            </a:r>
            <a:endParaRPr lang="en-US" sz="800" dirty="0"/>
          </a:p>
        </p:txBody>
      </p:sp>
      <p:sp>
        <p:nvSpPr>
          <p:cNvPr id="15" name="Text 13"/>
          <p:cNvSpPr/>
          <p:nvPr/>
        </p:nvSpPr>
        <p:spPr>
          <a:xfrm>
            <a:off x="4635550" y="1466999"/>
            <a:ext cx="2000250" cy="1806625"/>
          </a:xfrm>
          <a:prstGeom prst="rect">
            <a:avLst/>
          </a:prstGeom>
          <a:solidFill>
            <a:srgbClr val="00D4FF">
              <a:alpha val="7000"/>
            </a:srgbClr>
          </a:solidFill>
          <a:ln w="9525">
            <a:solidFill>
              <a:srgbClr val="00D4FF"/>
            </a:solidFill>
          </a:ln>
        </p:spPr>
        <p:txBody>
          <a:bodyPr wrap="square" rtlCol="0" anchor="ctr"/>
          <a:lstStyle/>
          <a:p>
            <a:pPr indent="0" marL="0">
              <a:buNone/>
            </a:pPr>
            <a:endParaRPr lang="en-US" dirty="0"/>
          </a:p>
        </p:txBody>
      </p:sp>
      <p:sp>
        <p:nvSpPr>
          <p:cNvPr id="16" name="Text 14"/>
          <p:cNvSpPr/>
          <p:nvPr/>
        </p:nvSpPr>
        <p:spPr>
          <a:xfrm>
            <a:off x="4772025" y="1704975"/>
            <a:ext cx="1761845" cy="114300"/>
          </a:xfrm>
          <a:prstGeom prst="rect">
            <a:avLst/>
          </a:prstGeom>
          <a:noFill/>
          <a:ln/>
        </p:spPr>
        <p:txBody>
          <a:bodyPr wrap="square" lIns="0" tIns="0" rIns="0" bIns="0" rtlCol="0" anchor="t"/>
          <a:lstStyle/>
          <a:p>
            <a:pPr algn="l" indent="0" marL="0">
              <a:spcBef>
                <a:spcPts val="800"/>
              </a:spcBef>
              <a:spcAft>
                <a:spcPts val="400"/>
              </a:spcAft>
              <a:buNone/>
            </a:pPr>
            <a:r>
              <a:rPr lang="en-US" sz="800" dirty="0">
                <a:solidFill>
                  <a:srgbClr val="00D4FF"/>
                </a:solidFill>
                <a:latin typeface="Arial" pitchFamily="34" charset="0"/>
                <a:ea typeface="Arial" pitchFamily="34" charset="-122"/>
                <a:cs typeface="Arial" pitchFamily="34" charset="-120"/>
              </a:rPr>
              <a:t>PATTERN 3</a:t>
            </a:r>
            <a:endParaRPr lang="en-US" sz="800" dirty="0"/>
          </a:p>
        </p:txBody>
      </p:sp>
      <p:sp>
        <p:nvSpPr>
          <p:cNvPr id="17" name="Text 15"/>
          <p:cNvSpPr/>
          <p:nvPr/>
        </p:nvSpPr>
        <p:spPr>
          <a:xfrm>
            <a:off x="4772025" y="1958876"/>
            <a:ext cx="1761845" cy="152400"/>
          </a:xfrm>
          <a:prstGeom prst="rect">
            <a:avLst/>
          </a:prstGeom>
          <a:noFill/>
          <a:ln/>
        </p:spPr>
        <p:txBody>
          <a:bodyPr wrap="square" lIns="0" tIns="0" rIns="0" bIns="0" rtlCol="0" anchor="t"/>
          <a:lstStyle/>
          <a:p>
            <a:pPr algn="l" indent="0" marL="0">
              <a:spcBef>
                <a:spcPts val="1100"/>
              </a:spcBef>
              <a:spcAft>
                <a:spcPts val="400"/>
              </a:spcAft>
              <a:buNone/>
            </a:pPr>
            <a:r>
              <a:rPr lang="en-US" sz="1100" b="1" dirty="0">
                <a:solidFill>
                  <a:srgbClr val="FFFFFF"/>
                </a:solidFill>
                <a:latin typeface="Arial" pitchFamily="34" charset="0"/>
                <a:ea typeface="Arial" pitchFamily="34" charset="-122"/>
                <a:cs typeface="Arial" pitchFamily="34" charset="-120"/>
              </a:rPr>
              <a:t>Parallel Reviewers</a:t>
            </a:r>
            <a:endParaRPr lang="en-US" sz="1100" dirty="0"/>
          </a:p>
        </p:txBody>
      </p:sp>
      <p:sp>
        <p:nvSpPr>
          <p:cNvPr id="18" name="Text 16"/>
          <p:cNvSpPr/>
          <p:nvPr/>
        </p:nvSpPr>
        <p:spPr>
          <a:xfrm>
            <a:off x="4772025" y="2225576"/>
            <a:ext cx="1761845" cy="479971"/>
          </a:xfrm>
          <a:prstGeom prst="rect">
            <a:avLst/>
          </a:prstGeom>
          <a:noFill/>
          <a:ln/>
        </p:spPr>
        <p:txBody>
          <a:bodyPr wrap="square" lIns="0" tIns="0" rIns="0" bIns="0" rtlCol="0" anchor="t"/>
          <a:lstStyle/>
          <a:p>
            <a:pPr algn="l" indent="0" marL="0">
              <a:lnSpc>
                <a:spcPts val="1260"/>
              </a:lnSpc>
              <a:spcBef>
                <a:spcPts val="900"/>
              </a:spcBef>
              <a:spcAft>
                <a:spcPts val="500"/>
              </a:spcAft>
              <a:buNone/>
            </a:pPr>
            <a:r>
              <a:rPr lang="en-US" sz="900" dirty="0">
                <a:solidFill>
                  <a:srgbClr val="B0BEC5"/>
                </a:solidFill>
                <a:latin typeface="Arial" pitchFamily="34" charset="0"/>
                <a:ea typeface="Arial" pitchFamily="34" charset="-122"/>
                <a:cs typeface="Arial" pitchFamily="34" charset="-120"/>
              </a:rPr>
              <a:t>Multiple agents tackle the same input from different angles simultaneously.</a:t>
            </a:r>
            <a:endParaRPr lang="en-US" sz="900" dirty="0"/>
          </a:p>
        </p:txBody>
      </p:sp>
      <p:sp>
        <p:nvSpPr>
          <p:cNvPr id="19" name="Text 17"/>
          <p:cNvSpPr/>
          <p:nvPr/>
        </p:nvSpPr>
        <p:spPr>
          <a:xfrm>
            <a:off x="4772025" y="2807047"/>
            <a:ext cx="1761845" cy="228600"/>
          </a:xfrm>
          <a:prstGeom prst="rect">
            <a:avLst/>
          </a:prstGeom>
          <a:noFill/>
          <a:ln/>
        </p:spPr>
        <p:txBody>
          <a:bodyPr wrap="square" lIns="0" tIns="0" rIns="0" bIns="0" rtlCol="0" anchor="t"/>
          <a:lstStyle/>
          <a:p>
            <a:pPr algn="l" indent="0" marL="0">
              <a:spcBef>
                <a:spcPts val="800"/>
              </a:spcBef>
              <a:spcAft>
                <a:spcPts val="800"/>
              </a:spcAft>
              <a:buNone/>
            </a:pPr>
            <a:r>
              <a:rPr lang="en-US" sz="800" dirty="0">
                <a:solidFill>
                  <a:srgbClr val="7EE787"/>
                </a:solidFill>
                <a:latin typeface="Courier New" pitchFamily="34" charset="0"/>
                <a:ea typeface="Courier New" pitchFamily="34" charset="-122"/>
                <a:cs typeface="Courier New" pitchFamily="34" charset="-120"/>
              </a:rPr>
              <a:t>6 agents × 1 microbiology case</a:t>
            </a:r>
            <a:endParaRPr lang="en-US" sz="800" dirty="0"/>
          </a:p>
        </p:txBody>
      </p:sp>
      <p:sp>
        <p:nvSpPr>
          <p:cNvPr id="20" name="Text 18"/>
          <p:cNvSpPr/>
          <p:nvPr/>
        </p:nvSpPr>
        <p:spPr>
          <a:xfrm>
            <a:off x="6762750" y="1466999"/>
            <a:ext cx="2000250" cy="1806625"/>
          </a:xfrm>
          <a:prstGeom prst="rect">
            <a:avLst/>
          </a:prstGeom>
          <a:solidFill>
            <a:srgbClr val="00D4FF">
              <a:alpha val="7000"/>
            </a:srgbClr>
          </a:solidFill>
          <a:ln w="9525">
            <a:solidFill>
              <a:srgbClr val="00D4FF"/>
            </a:solidFill>
          </a:ln>
        </p:spPr>
        <p:txBody>
          <a:bodyPr wrap="square" rtlCol="0" anchor="ctr"/>
          <a:lstStyle/>
          <a:p>
            <a:pPr indent="0" marL="0">
              <a:buNone/>
            </a:pPr>
            <a:endParaRPr lang="en-US" dirty="0"/>
          </a:p>
        </p:txBody>
      </p:sp>
      <p:sp>
        <p:nvSpPr>
          <p:cNvPr id="21" name="Text 19"/>
          <p:cNvSpPr/>
          <p:nvPr/>
        </p:nvSpPr>
        <p:spPr>
          <a:xfrm>
            <a:off x="6899225" y="1704975"/>
            <a:ext cx="1761845" cy="114300"/>
          </a:xfrm>
          <a:prstGeom prst="rect">
            <a:avLst/>
          </a:prstGeom>
          <a:noFill/>
          <a:ln/>
        </p:spPr>
        <p:txBody>
          <a:bodyPr wrap="square" lIns="0" tIns="0" rIns="0" bIns="0" rtlCol="0" anchor="t"/>
          <a:lstStyle/>
          <a:p>
            <a:pPr algn="l" indent="0" marL="0">
              <a:spcBef>
                <a:spcPts val="800"/>
              </a:spcBef>
              <a:spcAft>
                <a:spcPts val="400"/>
              </a:spcAft>
              <a:buNone/>
            </a:pPr>
            <a:r>
              <a:rPr lang="en-US" sz="800" dirty="0">
                <a:solidFill>
                  <a:srgbClr val="00D4FF"/>
                </a:solidFill>
                <a:latin typeface="Arial" pitchFamily="34" charset="0"/>
                <a:ea typeface="Arial" pitchFamily="34" charset="-122"/>
                <a:cs typeface="Arial" pitchFamily="34" charset="-120"/>
              </a:rPr>
              <a:t>PATTERN 4</a:t>
            </a:r>
            <a:endParaRPr lang="en-US" sz="800" dirty="0"/>
          </a:p>
        </p:txBody>
      </p:sp>
      <p:sp>
        <p:nvSpPr>
          <p:cNvPr id="22" name="Text 20"/>
          <p:cNvSpPr/>
          <p:nvPr/>
        </p:nvSpPr>
        <p:spPr>
          <a:xfrm>
            <a:off x="6899225" y="1958876"/>
            <a:ext cx="1761845" cy="152400"/>
          </a:xfrm>
          <a:prstGeom prst="rect">
            <a:avLst/>
          </a:prstGeom>
          <a:noFill/>
          <a:ln/>
        </p:spPr>
        <p:txBody>
          <a:bodyPr wrap="square" lIns="0" tIns="0" rIns="0" bIns="0" rtlCol="0" anchor="t"/>
          <a:lstStyle/>
          <a:p>
            <a:pPr algn="l" indent="0" marL="0">
              <a:spcBef>
                <a:spcPts val="1100"/>
              </a:spcBef>
              <a:spcAft>
                <a:spcPts val="400"/>
              </a:spcAft>
              <a:buNone/>
            </a:pPr>
            <a:r>
              <a:rPr lang="en-US" sz="1100" b="1" dirty="0">
                <a:solidFill>
                  <a:srgbClr val="FFFFFF"/>
                </a:solidFill>
                <a:latin typeface="Arial" pitchFamily="34" charset="0"/>
                <a:ea typeface="Arial" pitchFamily="34" charset="-122"/>
                <a:cs typeface="Arial" pitchFamily="34" charset="-120"/>
              </a:rPr>
              <a:t>Debate / Consensus</a:t>
            </a:r>
            <a:endParaRPr lang="en-US" sz="1100" dirty="0"/>
          </a:p>
        </p:txBody>
      </p:sp>
      <p:sp>
        <p:nvSpPr>
          <p:cNvPr id="23" name="Text 21"/>
          <p:cNvSpPr/>
          <p:nvPr/>
        </p:nvSpPr>
        <p:spPr>
          <a:xfrm>
            <a:off x="6899225" y="2225576"/>
            <a:ext cx="1761845" cy="479971"/>
          </a:xfrm>
          <a:prstGeom prst="rect">
            <a:avLst/>
          </a:prstGeom>
          <a:noFill/>
          <a:ln/>
        </p:spPr>
        <p:txBody>
          <a:bodyPr wrap="square" lIns="0" tIns="0" rIns="0" bIns="0" rtlCol="0" anchor="t"/>
          <a:lstStyle/>
          <a:p>
            <a:pPr algn="l" indent="0" marL="0">
              <a:lnSpc>
                <a:spcPts val="1260"/>
              </a:lnSpc>
              <a:spcBef>
                <a:spcPts val="900"/>
              </a:spcBef>
              <a:spcAft>
                <a:spcPts val="500"/>
              </a:spcAft>
              <a:buNone/>
            </a:pPr>
            <a:r>
              <a:rPr lang="en-US" sz="900" dirty="0">
                <a:solidFill>
                  <a:srgbClr val="B0BEC5"/>
                </a:solidFill>
                <a:latin typeface="Arial" pitchFamily="34" charset="0"/>
                <a:ea typeface="Arial" pitchFamily="34" charset="-122"/>
                <a:cs typeface="Arial" pitchFamily="34" charset="-120"/>
              </a:rPr>
              <a:t>Agents argue with evidence and reach consensus — like an MDT discussion.</a:t>
            </a:r>
            <a:endParaRPr lang="en-US" sz="900" dirty="0"/>
          </a:p>
        </p:txBody>
      </p:sp>
      <p:sp>
        <p:nvSpPr>
          <p:cNvPr id="24" name="Text 22"/>
          <p:cNvSpPr/>
          <p:nvPr/>
        </p:nvSpPr>
        <p:spPr>
          <a:xfrm>
            <a:off x="6899225" y="2807047"/>
            <a:ext cx="1761845" cy="228600"/>
          </a:xfrm>
          <a:prstGeom prst="rect">
            <a:avLst/>
          </a:prstGeom>
          <a:noFill/>
          <a:ln/>
        </p:spPr>
        <p:txBody>
          <a:bodyPr wrap="square" lIns="0" tIns="0" rIns="0" bIns="0" rtlCol="0" anchor="t"/>
          <a:lstStyle/>
          <a:p>
            <a:pPr algn="l" indent="0" marL="0">
              <a:spcBef>
                <a:spcPts val="800"/>
              </a:spcBef>
              <a:spcAft>
                <a:spcPts val="800"/>
              </a:spcAft>
              <a:buNone/>
            </a:pPr>
            <a:r>
              <a:rPr lang="en-US" sz="800" dirty="0">
                <a:solidFill>
                  <a:srgbClr val="7EE787"/>
                </a:solidFill>
                <a:latin typeface="Courier New" pitchFamily="34" charset="0"/>
                <a:ea typeface="Courier New" pitchFamily="34" charset="-122"/>
                <a:cs typeface="Courier New" pitchFamily="34" charset="-120"/>
              </a:rPr>
              <a:t>PCA Tumor Board: 5 specialists</a:t>
            </a:r>
            <a:endParaRPr lang="en-US" sz="800" dirty="0"/>
          </a:p>
        </p:txBody>
      </p:sp>
      <p:sp>
        <p:nvSpPr>
          <p:cNvPr id="25" name="Text 23"/>
          <p:cNvSpPr/>
          <p:nvPr/>
        </p:nvSpPr>
        <p:spPr>
          <a:xfrm>
            <a:off x="381000" y="3426023"/>
            <a:ext cx="8382000" cy="1021854"/>
          </a:xfrm>
          <a:prstGeom prst="rect">
            <a:avLst/>
          </a:prstGeom>
          <a:solidFill>
            <a:srgbClr val="F1C40F">
              <a:alpha val="8000"/>
            </a:srgbClr>
          </a:solidFill>
          <a:ln w="9525">
            <a:solidFill>
              <a:srgbClr val="F1C40F"/>
            </a:solidFill>
          </a:ln>
        </p:spPr>
        <p:txBody>
          <a:bodyPr wrap="square" rtlCol="0" anchor="ctr"/>
          <a:lstStyle/>
          <a:p>
            <a:pPr indent="0" marL="0">
              <a:buNone/>
            </a:pPr>
            <a:endParaRPr lang="en-US" dirty="0"/>
          </a:p>
        </p:txBody>
      </p:sp>
      <p:sp>
        <p:nvSpPr>
          <p:cNvPr id="26" name="Text 24"/>
          <p:cNvSpPr/>
          <p:nvPr/>
        </p:nvSpPr>
        <p:spPr>
          <a:xfrm>
            <a:off x="568226" y="3638550"/>
            <a:ext cx="1937939" cy="114300"/>
          </a:xfrm>
          <a:prstGeom prst="rect">
            <a:avLst/>
          </a:prstGeom>
          <a:noFill/>
          <a:ln/>
        </p:spPr>
        <p:txBody>
          <a:bodyPr wrap="square" lIns="0" tIns="0" rIns="0" bIns="0" rtlCol="0" anchor="t"/>
          <a:lstStyle/>
          <a:p>
            <a:pPr algn="l" indent="0" marL="0">
              <a:spcBef>
                <a:spcPts val="800"/>
              </a:spcBef>
              <a:spcAft>
                <a:spcPts val="400"/>
              </a:spcAft>
              <a:buNone/>
            </a:pPr>
            <a:r>
              <a:rPr lang="en-US" sz="800" dirty="0">
                <a:solidFill>
                  <a:srgbClr val="F1C40F"/>
                </a:solidFill>
                <a:latin typeface="Arial" pitchFamily="34" charset="0"/>
                <a:ea typeface="Arial" pitchFamily="34" charset="-122"/>
                <a:cs typeface="Arial" pitchFamily="34" charset="-120"/>
              </a:rPr>
              <a:t>ALWAYS</a:t>
            </a:r>
            <a:endParaRPr lang="en-US" sz="800" dirty="0"/>
          </a:p>
        </p:txBody>
      </p:sp>
      <p:sp>
        <p:nvSpPr>
          <p:cNvPr id="27" name="Text 25"/>
          <p:cNvSpPr/>
          <p:nvPr/>
        </p:nvSpPr>
        <p:spPr>
          <a:xfrm>
            <a:off x="568226" y="3879800"/>
            <a:ext cx="1937939" cy="152400"/>
          </a:xfrm>
          <a:prstGeom prst="rect">
            <a:avLst/>
          </a:prstGeom>
          <a:noFill/>
          <a:ln/>
        </p:spPr>
        <p:txBody>
          <a:bodyPr wrap="square" lIns="0" tIns="0" rIns="0" bIns="0" rtlCol="0" anchor="t"/>
          <a:lstStyle/>
          <a:p>
            <a:pPr algn="l" indent="0" marL="0">
              <a:spcBef>
                <a:spcPts val="1000"/>
              </a:spcBef>
              <a:spcAft>
                <a:spcPts val="200"/>
              </a:spcAft>
              <a:buNone/>
            </a:pPr>
            <a:r>
              <a:rPr lang="en-US" sz="1000" dirty="0">
                <a:solidFill>
                  <a:srgbClr val="E0E0E0"/>
                </a:solidFill>
                <a:latin typeface="Arial" pitchFamily="34" charset="0"/>
                <a:ea typeface="Arial" pitchFamily="34" charset="-122"/>
                <a:cs typeface="Arial" pitchFamily="34" charset="-120"/>
              </a:rPr>
              <a:t>✓ Define each agent's role clearly</a:t>
            </a:r>
            <a:endParaRPr lang="en-US" sz="1000" dirty="0"/>
          </a:p>
        </p:txBody>
      </p:sp>
      <p:sp>
        <p:nvSpPr>
          <p:cNvPr id="28" name="Text 26"/>
          <p:cNvSpPr/>
          <p:nvPr/>
        </p:nvSpPr>
        <p:spPr>
          <a:xfrm>
            <a:off x="568226" y="4159151"/>
            <a:ext cx="1937939" cy="152400"/>
          </a:xfrm>
          <a:prstGeom prst="rect">
            <a:avLst/>
          </a:prstGeom>
          <a:noFill/>
          <a:ln/>
        </p:spPr>
        <p:txBody>
          <a:bodyPr wrap="square" lIns="0" tIns="0" rIns="0" bIns="0" rtlCol="0" anchor="t"/>
          <a:lstStyle/>
          <a:p>
            <a:pPr algn="l" indent="0" marL="0">
              <a:spcBef>
                <a:spcPts val="1000"/>
              </a:spcBef>
              <a:spcAft>
                <a:spcPts val="200"/>
              </a:spcAft>
              <a:buNone/>
            </a:pPr>
            <a:r>
              <a:rPr lang="en-US" sz="1000" dirty="0">
                <a:solidFill>
                  <a:srgbClr val="E0E0E0"/>
                </a:solidFill>
                <a:latin typeface="Arial" pitchFamily="34" charset="0"/>
                <a:ea typeface="Arial" pitchFamily="34" charset="-122"/>
                <a:cs typeface="Arial" pitchFamily="34" charset="-120"/>
              </a:rPr>
              <a:t>✓ Give agents memory + context</a:t>
            </a:r>
            <a:endParaRPr lang="en-US" sz="1000" dirty="0"/>
          </a:p>
        </p:txBody>
      </p:sp>
      <p:sp>
        <p:nvSpPr>
          <p:cNvPr id="29" name="Text 27"/>
          <p:cNvSpPr/>
          <p:nvPr/>
        </p:nvSpPr>
        <p:spPr>
          <a:xfrm>
            <a:off x="2772966" y="3638550"/>
            <a:ext cx="3011198" cy="114300"/>
          </a:xfrm>
          <a:prstGeom prst="rect">
            <a:avLst/>
          </a:prstGeom>
          <a:noFill/>
          <a:ln/>
        </p:spPr>
        <p:txBody>
          <a:bodyPr wrap="square" lIns="0" tIns="0" rIns="0" bIns="0" rtlCol="0" anchor="t"/>
          <a:lstStyle/>
          <a:p>
            <a:pPr algn="l" indent="0" marL="0">
              <a:spcBef>
                <a:spcPts val="800"/>
              </a:spcBef>
              <a:spcAft>
                <a:spcPts val="400"/>
              </a:spcAft>
              <a:buNone/>
            </a:pPr>
            <a:r>
              <a:rPr lang="en-US" sz="800" dirty="0">
                <a:solidFill>
                  <a:srgbClr val="F1C40F"/>
                </a:solidFill>
                <a:latin typeface="Arial" pitchFamily="34" charset="0"/>
                <a:ea typeface="Arial" pitchFamily="34" charset="-122"/>
                <a:cs typeface="Arial" pitchFamily="34" charset="-120"/>
              </a:rPr>
              <a:t>NEVER</a:t>
            </a:r>
            <a:endParaRPr lang="en-US" sz="800" dirty="0"/>
          </a:p>
        </p:txBody>
      </p:sp>
      <p:sp>
        <p:nvSpPr>
          <p:cNvPr id="30" name="Text 28"/>
          <p:cNvSpPr/>
          <p:nvPr/>
        </p:nvSpPr>
        <p:spPr>
          <a:xfrm>
            <a:off x="2772966" y="3879800"/>
            <a:ext cx="3011198" cy="142875"/>
          </a:xfrm>
          <a:prstGeom prst="rect">
            <a:avLst/>
          </a:prstGeom>
          <a:noFill/>
          <a:ln/>
        </p:spPr>
        <p:txBody>
          <a:bodyPr wrap="square" lIns="0" tIns="0" rIns="0" bIns="0" rtlCol="0" anchor="t"/>
          <a:lstStyle/>
          <a:p>
            <a:pPr algn="l" indent="0" marL="0">
              <a:spcBef>
                <a:spcPts val="1000"/>
              </a:spcBef>
              <a:spcAft>
                <a:spcPts val="200"/>
              </a:spcAft>
              <a:buNone/>
            </a:pPr>
            <a:r>
              <a:rPr lang="en-US" sz="1000" dirty="0">
                <a:solidFill>
                  <a:srgbClr val="E0E0E0"/>
                </a:solidFill>
                <a:latin typeface="Arial" pitchFamily="34" charset="0"/>
                <a:ea typeface="Arial" pitchFamily="34" charset="-122"/>
                <a:cs typeface="Arial" pitchFamily="34" charset="-120"/>
              </a:rPr>
              <a:t>✗ Let agents share write access without coordination</a:t>
            </a:r>
            <a:endParaRPr lang="en-US" sz="1000" dirty="0"/>
          </a:p>
        </p:txBody>
      </p:sp>
      <p:sp>
        <p:nvSpPr>
          <p:cNvPr id="31" name="Text 29"/>
          <p:cNvSpPr/>
          <p:nvPr/>
        </p:nvSpPr>
        <p:spPr>
          <a:xfrm>
            <a:off x="2772966" y="4149626"/>
            <a:ext cx="3011198" cy="142875"/>
          </a:xfrm>
          <a:prstGeom prst="rect">
            <a:avLst/>
          </a:prstGeom>
          <a:noFill/>
          <a:ln/>
        </p:spPr>
        <p:txBody>
          <a:bodyPr wrap="square" lIns="0" tIns="0" rIns="0" bIns="0" rtlCol="0" anchor="t"/>
          <a:lstStyle/>
          <a:p>
            <a:pPr algn="l" indent="0" marL="0">
              <a:spcBef>
                <a:spcPts val="1000"/>
              </a:spcBef>
              <a:spcAft>
                <a:spcPts val="200"/>
              </a:spcAft>
              <a:buNone/>
            </a:pPr>
            <a:r>
              <a:rPr lang="en-US" sz="1000" dirty="0">
                <a:solidFill>
                  <a:srgbClr val="E0E0E0"/>
                </a:solidFill>
                <a:latin typeface="Arial" pitchFamily="34" charset="0"/>
                <a:ea typeface="Arial" pitchFamily="34" charset="-122"/>
                <a:cs typeface="Arial" pitchFamily="34" charset="-120"/>
              </a:rPr>
              <a:t>✗ Run agents without output validation</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50A1E"/>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F1C40F"/>
          </a:solidFill>
          <a:ln/>
        </p:spPr>
        <p:txBody>
          <a:bodyPr wrap="square" rtlCol="0" anchor="ctr"/>
          <a:lstStyle/>
          <a:p>
            <a:pPr indent="0" marL="0">
              <a:buNone/>
            </a:pPr>
            <a:endParaRPr lang="en-US" dirty="0"/>
          </a:p>
        </p:txBody>
      </p:sp>
      <p:sp>
        <p:nvSpPr>
          <p:cNvPr id="3" name="Text 1"/>
          <p:cNvSpPr/>
          <p:nvPr/>
        </p:nvSpPr>
        <p:spPr>
          <a:xfrm>
            <a:off x="2955578" y="323106"/>
            <a:ext cx="3297501" cy="142875"/>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F1C40F"/>
                </a:solidFill>
                <a:latin typeface="Arial" pitchFamily="34" charset="0"/>
                <a:ea typeface="Arial" pitchFamily="34" charset="-122"/>
                <a:cs typeface="Arial" pitchFamily="34" charset="-120"/>
              </a:rPr>
              <a:t>PART 5 — HARNESS ENGINEERING</a:t>
            </a:r>
            <a:endParaRPr lang="en-US" sz="1000" dirty="0"/>
          </a:p>
        </p:txBody>
      </p:sp>
      <p:sp>
        <p:nvSpPr>
          <p:cNvPr id="4" name="Text 2"/>
          <p:cNvSpPr/>
          <p:nvPr/>
        </p:nvSpPr>
        <p:spPr>
          <a:xfrm>
            <a:off x="1902818" y="592931"/>
            <a:ext cx="5338364" cy="371475"/>
          </a:xfrm>
          <a:prstGeom prst="rect">
            <a:avLst/>
          </a:prstGeom>
          <a:noFill/>
          <a:ln/>
        </p:spPr>
        <p:txBody>
          <a:bodyPr wrap="square" lIns="0" tIns="0" rIns="0" bIns="0" rtlCol="0" anchor="t"/>
          <a:lstStyle/>
          <a:p>
            <a:pPr algn="ctr" indent="0" marL="0">
              <a:spcAft>
                <a:spcPts val="600"/>
              </a:spcAft>
              <a:buNone/>
            </a:pPr>
            <a:r>
              <a:rPr lang="en-US" sz="2600" dirty="0">
                <a:solidFill>
                  <a:srgbClr val="FFFFFF"/>
                </a:solidFill>
                <a:latin typeface="Arial" pitchFamily="34" charset="0"/>
                <a:ea typeface="Arial" pitchFamily="34" charset="-122"/>
                <a:cs typeface="Arial" pitchFamily="34" charset="-120"/>
              </a:rPr>
              <a:t>The Evolution of </a:t>
            </a:r>
            <a:pPr algn="ctr" indent="0" marL="0">
              <a:spcAft>
                <a:spcPts val="600"/>
              </a:spcAft>
              <a:buNone/>
            </a:pPr>
            <a:r>
              <a:rPr lang="en-US" sz="2600" b="1" dirty="0">
                <a:solidFill>
                  <a:srgbClr val="F1C40F"/>
                </a:solidFill>
                <a:latin typeface="Arial" pitchFamily="34" charset="0"/>
                <a:ea typeface="Arial" pitchFamily="34" charset="-122"/>
                <a:cs typeface="Arial" pitchFamily="34" charset="-120"/>
              </a:rPr>
              <a:t>AI Infrastructure</a:t>
            </a:r>
            <a:endParaRPr lang="en-US" sz="2600" dirty="0"/>
          </a:p>
        </p:txBody>
      </p:sp>
      <p:sp>
        <p:nvSpPr>
          <p:cNvPr id="5" name="Text 3"/>
          <p:cNvSpPr/>
          <p:nvPr/>
        </p:nvSpPr>
        <p:spPr>
          <a:xfrm>
            <a:off x="2154207" y="1193006"/>
            <a:ext cx="4835587" cy="171450"/>
          </a:xfrm>
          <a:prstGeom prst="rect">
            <a:avLst/>
          </a:prstGeom>
          <a:noFill/>
          <a:ln/>
        </p:spPr>
        <p:txBody>
          <a:bodyPr wrap="square" lIns="0" tIns="0" rIns="0" bIns="0" rtlCol="0" anchor="t"/>
          <a:lstStyle/>
          <a:p>
            <a:pPr algn="ctr" indent="0" marL="0">
              <a:spcBef>
                <a:spcPts val="1200"/>
              </a:spcBef>
              <a:spcAft>
                <a:spcPts val="2400"/>
              </a:spcAft>
              <a:buNone/>
            </a:pPr>
            <a:r>
              <a:rPr lang="en-US" sz="1200" dirty="0">
                <a:solidFill>
                  <a:srgbClr val="B0BEC5"/>
                </a:solidFill>
                <a:latin typeface="Arial" pitchFamily="34" charset="0"/>
                <a:ea typeface="Arial" pitchFamily="34" charset="-122"/>
                <a:cs typeface="Arial" pitchFamily="34" charset="-120"/>
              </a:rPr>
              <a:t>From copy-paste to orchestrated agent ecosystems — the PAI journey</a:t>
            </a:r>
            <a:endParaRPr lang="en-US" sz="1200" dirty="0"/>
          </a:p>
        </p:txBody>
      </p:sp>
      <p:sp>
        <p:nvSpPr>
          <p:cNvPr id="6" name="Shape 4"/>
          <p:cNvSpPr/>
          <p:nvPr/>
        </p:nvSpPr>
        <p:spPr>
          <a:xfrm>
            <a:off x="2130623" y="3231356"/>
            <a:ext cx="0" cy="1715988"/>
          </a:xfrm>
          <a:prstGeom prst="line">
            <a:avLst/>
          </a:prstGeom>
          <a:noFill/>
          <a:ln w="9525">
            <a:solidFill>
              <a:srgbClr val="FFFFFF"/>
            </a:solidFill>
            <a:prstDash val="solid"/>
          </a:ln>
        </p:spPr>
      </p:sp>
      <p:sp>
        <p:nvSpPr>
          <p:cNvPr id="7" name="Text 5"/>
          <p:cNvSpPr/>
          <p:nvPr/>
        </p:nvSpPr>
        <p:spPr>
          <a:xfrm>
            <a:off x="669727" y="3231356"/>
            <a:ext cx="1294209" cy="507950"/>
          </a:xfrm>
          <a:prstGeom prst="rect">
            <a:avLst/>
          </a:prstGeom>
          <a:solidFill>
            <a:srgbClr val="9B59B6">
              <a:alpha val="50000"/>
            </a:srgbClr>
          </a:solidFill>
          <a:ln/>
        </p:spPr>
        <p:txBody>
          <a:bodyPr wrap="square" rtlCol="0" anchor="ctr"/>
          <a:lstStyle/>
          <a:p>
            <a:pPr indent="0" marL="0">
              <a:buNone/>
            </a:pPr>
            <a:endParaRPr lang="en-US" dirty="0"/>
          </a:p>
        </p:txBody>
      </p:sp>
      <p:sp>
        <p:nvSpPr>
          <p:cNvPr id="8" name="Text 6"/>
          <p:cNvSpPr/>
          <p:nvPr/>
        </p:nvSpPr>
        <p:spPr>
          <a:xfrm>
            <a:off x="1189732" y="3955107"/>
            <a:ext cx="259434" cy="133350"/>
          </a:xfrm>
          <a:prstGeom prst="rect">
            <a:avLst/>
          </a:prstGeom>
          <a:noFill/>
          <a:ln/>
        </p:spPr>
        <p:txBody>
          <a:bodyPr wrap="square" lIns="0" tIns="0" rIns="0" bIns="0" rtlCol="0" anchor="t"/>
          <a:lstStyle/>
          <a:p>
            <a:pPr algn="l" indent="0" marL="0">
              <a:spcBef>
                <a:spcPts val="900"/>
              </a:spcBef>
              <a:spcAft>
                <a:spcPts val="400"/>
              </a:spcAft>
              <a:buNone/>
            </a:pPr>
            <a:r>
              <a:rPr lang="en-US" sz="900" dirty="0">
                <a:solidFill>
                  <a:srgbClr val="8B8B8B"/>
                </a:solidFill>
                <a:latin typeface="Arial" pitchFamily="34" charset="0"/>
                <a:ea typeface="Arial" pitchFamily="34" charset="-122"/>
                <a:cs typeface="Arial" pitchFamily="34" charset="-120"/>
              </a:rPr>
              <a:t>2022</a:t>
            </a:r>
            <a:endParaRPr lang="en-US" sz="900" dirty="0"/>
          </a:p>
        </p:txBody>
      </p:sp>
      <p:sp>
        <p:nvSpPr>
          <p:cNvPr id="9" name="Text 7"/>
          <p:cNvSpPr/>
          <p:nvPr/>
        </p:nvSpPr>
        <p:spPr>
          <a:xfrm>
            <a:off x="977394" y="4266158"/>
            <a:ext cx="679022" cy="142875"/>
          </a:xfrm>
          <a:prstGeom prst="rect">
            <a:avLst/>
          </a:prstGeom>
          <a:noFill/>
          <a:ln/>
        </p:spPr>
        <p:txBody>
          <a:bodyPr wrap="square" lIns="0" tIns="0" rIns="0" bIns="0" rtlCol="0" anchor="t"/>
          <a:lstStyle/>
          <a:p>
            <a:pPr algn="ctr" indent="0" marL="0">
              <a:spcBef>
                <a:spcPts val="1000"/>
              </a:spcBef>
              <a:spcAft>
                <a:spcPts val="400"/>
              </a:spcAft>
              <a:buNone/>
            </a:pPr>
            <a:r>
              <a:rPr lang="en-US" sz="1000" b="1" dirty="0">
                <a:solidFill>
                  <a:srgbClr val="FFFFFF"/>
                </a:solidFill>
                <a:latin typeface="Arial" pitchFamily="34" charset="0"/>
                <a:ea typeface="Arial" pitchFamily="34" charset="-122"/>
                <a:cs typeface="Arial" pitchFamily="34" charset="-120"/>
              </a:rPr>
              <a:t>Browser AI</a:t>
            </a:r>
            <a:endParaRPr lang="en-US" sz="1000" dirty="0"/>
          </a:p>
        </p:txBody>
      </p:sp>
      <p:sp>
        <p:nvSpPr>
          <p:cNvPr id="10" name="Text 8"/>
          <p:cNvSpPr/>
          <p:nvPr/>
        </p:nvSpPr>
        <p:spPr>
          <a:xfrm>
            <a:off x="1063469" y="4561284"/>
            <a:ext cx="506724" cy="284559"/>
          </a:xfrm>
          <a:prstGeom prst="rect">
            <a:avLst/>
          </a:prstGeom>
          <a:noFill/>
          <a:ln/>
        </p:spPr>
        <p:txBody>
          <a:bodyPr wrap="square" lIns="0" tIns="0" rIns="0" bIns="0" rtlCol="0" anchor="t"/>
          <a:lstStyle/>
          <a:p>
            <a:pPr algn="ctr" indent="0" marL="0">
              <a:lnSpc>
                <a:spcPts val="1120"/>
              </a:lnSpc>
              <a:spcBef>
                <a:spcPts val="800"/>
              </a:spcBef>
              <a:spcAft>
                <a:spcPts val="800"/>
              </a:spcAft>
              <a:buNone/>
            </a:pPr>
            <a:r>
              <a:rPr lang="en-US" sz="800" dirty="0">
                <a:solidFill>
                  <a:srgbClr val="9B9B9B"/>
                </a:solidFill>
                <a:latin typeface="Arial" pitchFamily="34" charset="0"/>
                <a:ea typeface="Arial" pitchFamily="34" charset="-122"/>
                <a:cs typeface="Arial" pitchFamily="34" charset="-120"/>
              </a:rPr>
              <a:t>ChatGPT</a:t>
            </a:r>
            <a:endParaRPr lang="en-US" sz="800" dirty="0"/>
          </a:p>
          <a:p>
            <a:pPr algn="ctr" indent="0" marL="0">
              <a:lnSpc>
                <a:spcPts val="1120"/>
              </a:lnSpc>
              <a:spcBef>
                <a:spcPts val="800"/>
              </a:spcBef>
              <a:spcAft>
                <a:spcPts val="800"/>
              </a:spcAft>
              <a:buNone/>
            </a:pPr>
            <a:r>
              <a:rPr lang="en-US" sz="800" dirty="0">
                <a:solidFill>
                  <a:srgbClr val="9B9B9B"/>
                </a:solidFill>
                <a:latin typeface="Arial" pitchFamily="34" charset="0"/>
                <a:ea typeface="Arial" pitchFamily="34" charset="-122"/>
                <a:cs typeface="Arial" pitchFamily="34" charset="-120"/>
              </a:rPr>
              <a:t>copy-paste</a:t>
            </a:r>
            <a:endParaRPr lang="en-US" sz="800" dirty="0"/>
          </a:p>
        </p:txBody>
      </p:sp>
      <p:sp>
        <p:nvSpPr>
          <p:cNvPr id="11" name="Shape 9"/>
          <p:cNvSpPr/>
          <p:nvPr/>
        </p:nvSpPr>
        <p:spPr>
          <a:xfrm>
            <a:off x="3758208" y="2850356"/>
            <a:ext cx="0" cy="2096988"/>
          </a:xfrm>
          <a:prstGeom prst="line">
            <a:avLst/>
          </a:prstGeom>
          <a:noFill/>
          <a:ln w="9525">
            <a:solidFill>
              <a:srgbClr val="FFFFFF"/>
            </a:solidFill>
            <a:prstDash val="solid"/>
          </a:ln>
        </p:spPr>
      </p:sp>
      <p:sp>
        <p:nvSpPr>
          <p:cNvPr id="12" name="Text 10"/>
          <p:cNvSpPr/>
          <p:nvPr/>
        </p:nvSpPr>
        <p:spPr>
          <a:xfrm>
            <a:off x="2297162" y="2850356"/>
            <a:ext cx="1294358" cy="888950"/>
          </a:xfrm>
          <a:prstGeom prst="rect">
            <a:avLst/>
          </a:prstGeom>
          <a:solidFill>
            <a:srgbClr val="00D4FF">
              <a:alpha val="50000"/>
            </a:srgbClr>
          </a:solidFill>
          <a:ln/>
        </p:spPr>
        <p:txBody>
          <a:bodyPr wrap="square" rtlCol="0" anchor="ctr"/>
          <a:lstStyle/>
          <a:p>
            <a:pPr indent="0" marL="0">
              <a:buNone/>
            </a:pPr>
            <a:endParaRPr lang="en-US" dirty="0"/>
          </a:p>
        </p:txBody>
      </p:sp>
      <p:sp>
        <p:nvSpPr>
          <p:cNvPr id="13" name="Text 11"/>
          <p:cNvSpPr/>
          <p:nvPr/>
        </p:nvSpPr>
        <p:spPr>
          <a:xfrm>
            <a:off x="2817168" y="3955107"/>
            <a:ext cx="259434" cy="133350"/>
          </a:xfrm>
          <a:prstGeom prst="rect">
            <a:avLst/>
          </a:prstGeom>
          <a:noFill/>
          <a:ln/>
        </p:spPr>
        <p:txBody>
          <a:bodyPr wrap="square" lIns="0" tIns="0" rIns="0" bIns="0" rtlCol="0" anchor="t"/>
          <a:lstStyle/>
          <a:p>
            <a:pPr algn="l" indent="0" marL="0">
              <a:spcBef>
                <a:spcPts val="900"/>
              </a:spcBef>
              <a:spcAft>
                <a:spcPts val="400"/>
              </a:spcAft>
              <a:buNone/>
            </a:pPr>
            <a:r>
              <a:rPr lang="en-US" sz="900" dirty="0">
                <a:solidFill>
                  <a:srgbClr val="8B8B8B"/>
                </a:solidFill>
                <a:latin typeface="Arial" pitchFamily="34" charset="0"/>
                <a:ea typeface="Arial" pitchFamily="34" charset="-122"/>
                <a:cs typeface="Arial" pitchFamily="34" charset="-120"/>
              </a:rPr>
              <a:t>2023</a:t>
            </a:r>
            <a:endParaRPr lang="en-US" sz="900" dirty="0"/>
          </a:p>
        </p:txBody>
      </p:sp>
      <p:sp>
        <p:nvSpPr>
          <p:cNvPr id="14" name="Text 12"/>
          <p:cNvSpPr/>
          <p:nvPr/>
        </p:nvSpPr>
        <p:spPr>
          <a:xfrm>
            <a:off x="2598908" y="4266158"/>
            <a:ext cx="691015" cy="142875"/>
          </a:xfrm>
          <a:prstGeom prst="rect">
            <a:avLst/>
          </a:prstGeom>
          <a:noFill/>
          <a:ln/>
        </p:spPr>
        <p:txBody>
          <a:bodyPr wrap="square" lIns="0" tIns="0" rIns="0" bIns="0" rtlCol="0" anchor="t"/>
          <a:lstStyle/>
          <a:p>
            <a:pPr algn="ctr" indent="0" marL="0">
              <a:spcBef>
                <a:spcPts val="1000"/>
              </a:spcBef>
              <a:spcAft>
                <a:spcPts val="400"/>
              </a:spcAft>
              <a:buNone/>
            </a:pPr>
            <a:r>
              <a:rPr lang="en-US" sz="1000" b="1" dirty="0">
                <a:solidFill>
                  <a:srgbClr val="FFFFFF"/>
                </a:solidFill>
                <a:latin typeface="Arial" pitchFamily="34" charset="0"/>
                <a:ea typeface="Arial" pitchFamily="34" charset="-122"/>
                <a:cs typeface="Arial" pitchFamily="34" charset="-120"/>
              </a:rPr>
              <a:t>API Scripts</a:t>
            </a:r>
            <a:endParaRPr lang="en-US" sz="1000" dirty="0"/>
          </a:p>
        </p:txBody>
      </p:sp>
      <p:sp>
        <p:nvSpPr>
          <p:cNvPr id="15" name="Text 13"/>
          <p:cNvSpPr/>
          <p:nvPr/>
        </p:nvSpPr>
        <p:spPr>
          <a:xfrm>
            <a:off x="2670864" y="4561284"/>
            <a:ext cx="547104" cy="284559"/>
          </a:xfrm>
          <a:prstGeom prst="rect">
            <a:avLst/>
          </a:prstGeom>
          <a:noFill/>
          <a:ln/>
        </p:spPr>
        <p:txBody>
          <a:bodyPr wrap="square" lIns="0" tIns="0" rIns="0" bIns="0" rtlCol="0" anchor="t"/>
          <a:lstStyle/>
          <a:p>
            <a:pPr algn="ctr" indent="0" marL="0">
              <a:lnSpc>
                <a:spcPts val="1120"/>
              </a:lnSpc>
              <a:spcBef>
                <a:spcPts val="800"/>
              </a:spcBef>
              <a:spcAft>
                <a:spcPts val="800"/>
              </a:spcAft>
              <a:buNone/>
            </a:pPr>
            <a:r>
              <a:rPr lang="en-US" sz="800" dirty="0">
                <a:solidFill>
                  <a:srgbClr val="9B9B9B"/>
                </a:solidFill>
                <a:latin typeface="Arial" pitchFamily="34" charset="0"/>
                <a:ea typeface="Arial" pitchFamily="34" charset="-122"/>
                <a:cs typeface="Arial" pitchFamily="34" charset="-120"/>
              </a:rPr>
              <a:t>Python bots</a:t>
            </a:r>
            <a:endParaRPr lang="en-US" sz="800" dirty="0"/>
          </a:p>
          <a:p>
            <a:pPr algn="ctr" indent="0" marL="0">
              <a:lnSpc>
                <a:spcPts val="1120"/>
              </a:lnSpc>
              <a:spcBef>
                <a:spcPts val="800"/>
              </a:spcBef>
              <a:spcAft>
                <a:spcPts val="800"/>
              </a:spcAft>
              <a:buNone/>
            </a:pPr>
            <a:r>
              <a:rPr lang="en-US" sz="800" dirty="0">
                <a:solidFill>
                  <a:srgbClr val="9B9B9B"/>
                </a:solidFill>
                <a:latin typeface="Arial" pitchFamily="34" charset="0"/>
                <a:ea typeface="Arial" pitchFamily="34" charset="-122"/>
                <a:cs typeface="Arial" pitchFamily="34" charset="-120"/>
              </a:rPr>
              <a:t>Telegram</a:t>
            </a:r>
            <a:endParaRPr lang="en-US" sz="800" dirty="0"/>
          </a:p>
        </p:txBody>
      </p:sp>
      <p:sp>
        <p:nvSpPr>
          <p:cNvPr id="16" name="Shape 14"/>
          <p:cNvSpPr/>
          <p:nvPr/>
        </p:nvSpPr>
        <p:spPr>
          <a:xfrm>
            <a:off x="5385643" y="2469356"/>
            <a:ext cx="0" cy="2477988"/>
          </a:xfrm>
          <a:prstGeom prst="line">
            <a:avLst/>
          </a:prstGeom>
          <a:noFill/>
          <a:ln w="9525">
            <a:solidFill>
              <a:srgbClr val="FFFFFF"/>
            </a:solidFill>
            <a:prstDash val="solid"/>
          </a:ln>
        </p:spPr>
      </p:sp>
      <p:sp>
        <p:nvSpPr>
          <p:cNvPr id="17" name="Text 15"/>
          <p:cNvSpPr/>
          <p:nvPr/>
        </p:nvSpPr>
        <p:spPr>
          <a:xfrm>
            <a:off x="3924746" y="2469356"/>
            <a:ext cx="1294209" cy="1269950"/>
          </a:xfrm>
          <a:prstGeom prst="rect">
            <a:avLst/>
          </a:prstGeom>
          <a:solidFill>
            <a:srgbClr val="F1C40F">
              <a:alpha val="50000"/>
            </a:srgbClr>
          </a:solidFill>
          <a:ln/>
        </p:spPr>
        <p:txBody>
          <a:bodyPr wrap="square" rtlCol="0" anchor="ctr"/>
          <a:lstStyle/>
          <a:p>
            <a:pPr indent="0" marL="0">
              <a:buNone/>
            </a:pPr>
            <a:endParaRPr lang="en-US" dirty="0"/>
          </a:p>
        </p:txBody>
      </p:sp>
      <p:sp>
        <p:nvSpPr>
          <p:cNvPr id="18" name="Text 16"/>
          <p:cNvSpPr/>
          <p:nvPr/>
        </p:nvSpPr>
        <p:spPr>
          <a:xfrm>
            <a:off x="4444752" y="3955107"/>
            <a:ext cx="259434" cy="133350"/>
          </a:xfrm>
          <a:prstGeom prst="rect">
            <a:avLst/>
          </a:prstGeom>
          <a:noFill/>
          <a:ln/>
        </p:spPr>
        <p:txBody>
          <a:bodyPr wrap="square" lIns="0" tIns="0" rIns="0" bIns="0" rtlCol="0" anchor="t"/>
          <a:lstStyle/>
          <a:p>
            <a:pPr algn="l" indent="0" marL="0">
              <a:spcBef>
                <a:spcPts val="900"/>
              </a:spcBef>
              <a:spcAft>
                <a:spcPts val="400"/>
              </a:spcAft>
              <a:buNone/>
            </a:pPr>
            <a:r>
              <a:rPr lang="en-US" sz="900" dirty="0">
                <a:solidFill>
                  <a:srgbClr val="8B8B8B"/>
                </a:solidFill>
                <a:latin typeface="Arial" pitchFamily="34" charset="0"/>
                <a:ea typeface="Arial" pitchFamily="34" charset="-122"/>
                <a:cs typeface="Arial" pitchFamily="34" charset="-120"/>
              </a:rPr>
              <a:t>2024</a:t>
            </a:r>
            <a:endParaRPr lang="en-US" sz="900" dirty="0"/>
          </a:p>
        </p:txBody>
      </p:sp>
      <p:sp>
        <p:nvSpPr>
          <p:cNvPr id="19" name="Text 17"/>
          <p:cNvSpPr/>
          <p:nvPr/>
        </p:nvSpPr>
        <p:spPr>
          <a:xfrm>
            <a:off x="4176095" y="4266158"/>
            <a:ext cx="791661" cy="142875"/>
          </a:xfrm>
          <a:prstGeom prst="rect">
            <a:avLst/>
          </a:prstGeom>
          <a:noFill/>
          <a:ln/>
        </p:spPr>
        <p:txBody>
          <a:bodyPr wrap="square" lIns="0" tIns="0" rIns="0" bIns="0" rtlCol="0" anchor="t"/>
          <a:lstStyle/>
          <a:p>
            <a:pPr algn="ctr" indent="0" marL="0">
              <a:spcBef>
                <a:spcPts val="1000"/>
              </a:spcBef>
              <a:spcAft>
                <a:spcPts val="400"/>
              </a:spcAft>
              <a:buNone/>
            </a:pPr>
            <a:r>
              <a:rPr lang="en-US" sz="1000" b="1" dirty="0">
                <a:solidFill>
                  <a:srgbClr val="FFFFFF"/>
                </a:solidFill>
                <a:latin typeface="Arial" pitchFamily="34" charset="0"/>
                <a:ea typeface="Arial" pitchFamily="34" charset="-122"/>
                <a:cs typeface="Arial" pitchFamily="34" charset="-120"/>
              </a:rPr>
              <a:t>Claude Code</a:t>
            </a:r>
            <a:endParaRPr lang="en-US" sz="1000" dirty="0"/>
          </a:p>
        </p:txBody>
      </p:sp>
      <p:sp>
        <p:nvSpPr>
          <p:cNvPr id="20" name="Text 18"/>
          <p:cNvSpPr/>
          <p:nvPr/>
        </p:nvSpPr>
        <p:spPr>
          <a:xfrm>
            <a:off x="4232263" y="4561284"/>
            <a:ext cx="679326" cy="284559"/>
          </a:xfrm>
          <a:prstGeom prst="rect">
            <a:avLst/>
          </a:prstGeom>
          <a:noFill/>
          <a:ln/>
        </p:spPr>
        <p:txBody>
          <a:bodyPr wrap="square" lIns="0" tIns="0" rIns="0" bIns="0" rtlCol="0" anchor="t"/>
          <a:lstStyle/>
          <a:p>
            <a:pPr algn="ctr" indent="0" marL="0">
              <a:lnSpc>
                <a:spcPts val="1120"/>
              </a:lnSpc>
              <a:spcBef>
                <a:spcPts val="800"/>
              </a:spcBef>
              <a:spcAft>
                <a:spcPts val="800"/>
              </a:spcAft>
              <a:buNone/>
            </a:pPr>
            <a:r>
              <a:rPr lang="en-US" sz="800" dirty="0">
                <a:solidFill>
                  <a:srgbClr val="9B9B9B"/>
                </a:solidFill>
                <a:latin typeface="Arial" pitchFamily="34" charset="0"/>
                <a:ea typeface="Arial" pitchFamily="34" charset="-122"/>
                <a:cs typeface="Arial" pitchFamily="34" charset="-120"/>
              </a:rPr>
              <a:t>Terminal agent</a:t>
            </a:r>
            <a:endParaRPr lang="en-US" sz="800" dirty="0"/>
          </a:p>
          <a:p>
            <a:pPr algn="ctr" indent="0" marL="0">
              <a:lnSpc>
                <a:spcPts val="1120"/>
              </a:lnSpc>
              <a:spcBef>
                <a:spcPts val="800"/>
              </a:spcBef>
              <a:spcAft>
                <a:spcPts val="800"/>
              </a:spcAft>
              <a:buNone/>
            </a:pPr>
            <a:r>
              <a:rPr lang="en-US" sz="800" dirty="0">
                <a:solidFill>
                  <a:srgbClr val="9B9B9B"/>
                </a:solidFill>
                <a:latin typeface="Arial" pitchFamily="34" charset="0"/>
                <a:ea typeface="Arial" pitchFamily="34" charset="-122"/>
                <a:cs typeface="Arial" pitchFamily="34" charset="-120"/>
              </a:rPr>
              <a:t>File system</a:t>
            </a:r>
            <a:endParaRPr lang="en-US" sz="800" dirty="0"/>
          </a:p>
        </p:txBody>
      </p:sp>
      <p:sp>
        <p:nvSpPr>
          <p:cNvPr id="21" name="Shape 19"/>
          <p:cNvSpPr/>
          <p:nvPr/>
        </p:nvSpPr>
        <p:spPr>
          <a:xfrm>
            <a:off x="7013228" y="2088356"/>
            <a:ext cx="0" cy="2858988"/>
          </a:xfrm>
          <a:prstGeom prst="line">
            <a:avLst/>
          </a:prstGeom>
          <a:noFill/>
          <a:ln w="9525">
            <a:solidFill>
              <a:srgbClr val="FFFFFF"/>
            </a:solidFill>
            <a:prstDash val="solid"/>
          </a:ln>
        </p:spPr>
      </p:sp>
      <p:sp>
        <p:nvSpPr>
          <p:cNvPr id="22" name="Text 20"/>
          <p:cNvSpPr/>
          <p:nvPr/>
        </p:nvSpPr>
        <p:spPr>
          <a:xfrm>
            <a:off x="5552182" y="2088356"/>
            <a:ext cx="1294358" cy="1650950"/>
          </a:xfrm>
          <a:prstGeom prst="rect">
            <a:avLst/>
          </a:prstGeom>
          <a:solidFill>
            <a:srgbClr val="2ECC71">
              <a:alpha val="50000"/>
            </a:srgbClr>
          </a:solidFill>
          <a:ln/>
        </p:spPr>
        <p:txBody>
          <a:bodyPr wrap="square" rtlCol="0" anchor="ctr"/>
          <a:lstStyle/>
          <a:p>
            <a:pPr indent="0" marL="0">
              <a:buNone/>
            </a:pPr>
            <a:endParaRPr lang="en-US" dirty="0"/>
          </a:p>
        </p:txBody>
      </p:sp>
      <p:sp>
        <p:nvSpPr>
          <p:cNvPr id="23" name="Text 21"/>
          <p:cNvSpPr/>
          <p:nvPr/>
        </p:nvSpPr>
        <p:spPr>
          <a:xfrm>
            <a:off x="6072188" y="3955107"/>
            <a:ext cx="259434" cy="133350"/>
          </a:xfrm>
          <a:prstGeom prst="rect">
            <a:avLst/>
          </a:prstGeom>
          <a:noFill/>
          <a:ln/>
        </p:spPr>
        <p:txBody>
          <a:bodyPr wrap="square" lIns="0" tIns="0" rIns="0" bIns="0" rtlCol="0" anchor="t"/>
          <a:lstStyle/>
          <a:p>
            <a:pPr algn="l" indent="0" marL="0">
              <a:spcBef>
                <a:spcPts val="900"/>
              </a:spcBef>
              <a:spcAft>
                <a:spcPts val="400"/>
              </a:spcAft>
              <a:buNone/>
            </a:pPr>
            <a:r>
              <a:rPr lang="en-US" sz="900" dirty="0">
                <a:solidFill>
                  <a:srgbClr val="8B8B8B"/>
                </a:solidFill>
                <a:latin typeface="Arial" pitchFamily="34" charset="0"/>
                <a:ea typeface="Arial" pitchFamily="34" charset="-122"/>
                <a:cs typeface="Arial" pitchFamily="34" charset="-120"/>
              </a:rPr>
              <a:t>2025</a:t>
            </a:r>
            <a:endParaRPr lang="en-US" sz="900" dirty="0"/>
          </a:p>
        </p:txBody>
      </p:sp>
      <p:sp>
        <p:nvSpPr>
          <p:cNvPr id="24" name="Text 22"/>
          <p:cNvSpPr/>
          <p:nvPr/>
        </p:nvSpPr>
        <p:spPr>
          <a:xfrm>
            <a:off x="5797609" y="4266158"/>
            <a:ext cx="803654" cy="142875"/>
          </a:xfrm>
          <a:prstGeom prst="rect">
            <a:avLst/>
          </a:prstGeom>
          <a:noFill/>
          <a:ln/>
        </p:spPr>
        <p:txBody>
          <a:bodyPr wrap="square" lIns="0" tIns="0" rIns="0" bIns="0" rtlCol="0" anchor="t"/>
          <a:lstStyle/>
          <a:p>
            <a:pPr algn="ctr" indent="0" marL="0">
              <a:spcBef>
                <a:spcPts val="1000"/>
              </a:spcBef>
              <a:spcAft>
                <a:spcPts val="400"/>
              </a:spcAft>
              <a:buNone/>
            </a:pPr>
            <a:r>
              <a:rPr lang="en-US" sz="1000" b="1" dirty="0">
                <a:solidFill>
                  <a:srgbClr val="FFFFFF"/>
                </a:solidFill>
                <a:latin typeface="Arial" pitchFamily="34" charset="0"/>
                <a:ea typeface="Arial" pitchFamily="34" charset="-122"/>
                <a:cs typeface="Arial" pitchFamily="34" charset="-120"/>
              </a:rPr>
              <a:t>Agent Teams</a:t>
            </a:r>
            <a:endParaRPr lang="en-US" sz="1000" dirty="0"/>
          </a:p>
        </p:txBody>
      </p:sp>
      <p:sp>
        <p:nvSpPr>
          <p:cNvPr id="25" name="Text 23"/>
          <p:cNvSpPr/>
          <p:nvPr/>
        </p:nvSpPr>
        <p:spPr>
          <a:xfrm>
            <a:off x="5877004" y="4561284"/>
            <a:ext cx="644715" cy="284559"/>
          </a:xfrm>
          <a:prstGeom prst="rect">
            <a:avLst/>
          </a:prstGeom>
          <a:noFill/>
          <a:ln/>
        </p:spPr>
        <p:txBody>
          <a:bodyPr wrap="square" lIns="0" tIns="0" rIns="0" bIns="0" rtlCol="0" anchor="t"/>
          <a:lstStyle/>
          <a:p>
            <a:pPr algn="ctr" indent="0" marL="0">
              <a:lnSpc>
                <a:spcPts val="1120"/>
              </a:lnSpc>
              <a:spcBef>
                <a:spcPts val="800"/>
              </a:spcBef>
              <a:spcAft>
                <a:spcPts val="800"/>
              </a:spcAft>
              <a:buNone/>
            </a:pPr>
            <a:r>
              <a:rPr lang="en-US" sz="800" dirty="0">
                <a:solidFill>
                  <a:srgbClr val="9B9B9B"/>
                </a:solidFill>
                <a:latin typeface="Arial" pitchFamily="34" charset="0"/>
                <a:ea typeface="Arial" pitchFamily="34" charset="-122"/>
                <a:cs typeface="Arial" pitchFamily="34" charset="-120"/>
              </a:rPr>
              <a:t>Multi-agent</a:t>
            </a:r>
            <a:endParaRPr lang="en-US" sz="800" dirty="0"/>
          </a:p>
          <a:p>
            <a:pPr algn="ctr" indent="0" marL="0">
              <a:lnSpc>
                <a:spcPts val="1120"/>
              </a:lnSpc>
              <a:spcBef>
                <a:spcPts val="800"/>
              </a:spcBef>
              <a:spcAft>
                <a:spcPts val="800"/>
              </a:spcAft>
              <a:buNone/>
            </a:pPr>
            <a:r>
              <a:rPr lang="en-US" sz="800" dirty="0">
                <a:solidFill>
                  <a:srgbClr val="9B9B9B"/>
                </a:solidFill>
                <a:latin typeface="Arial" pitchFamily="34" charset="0"/>
                <a:ea typeface="Arial" pitchFamily="34" charset="-122"/>
                <a:cs typeface="Arial" pitchFamily="34" charset="-120"/>
              </a:rPr>
              <a:t>Mac Mini 24/7</a:t>
            </a:r>
            <a:endParaRPr lang="en-US" sz="800" dirty="0"/>
          </a:p>
        </p:txBody>
      </p:sp>
      <p:sp>
        <p:nvSpPr>
          <p:cNvPr id="26" name="Text 24"/>
          <p:cNvSpPr/>
          <p:nvPr/>
        </p:nvSpPr>
        <p:spPr>
          <a:xfrm>
            <a:off x="7160716" y="1669256"/>
            <a:ext cx="1332309" cy="2070050"/>
          </a:xfrm>
          <a:prstGeom prst="rect">
            <a:avLst/>
          </a:prstGeom>
          <a:solidFill>
            <a:srgbClr val="F1C40F">
              <a:alpha val="80000"/>
            </a:srgbClr>
          </a:solidFill>
          <a:ln w="19050">
            <a:solidFill>
              <a:srgbClr val="F1C40F"/>
            </a:solidFill>
          </a:ln>
        </p:spPr>
        <p:txBody>
          <a:bodyPr wrap="square" rtlCol="0" anchor="ctr"/>
          <a:lstStyle/>
          <a:p>
            <a:pPr indent="0" marL="0">
              <a:buNone/>
            </a:pPr>
            <a:endParaRPr lang="en-US" dirty="0"/>
          </a:p>
        </p:txBody>
      </p:sp>
      <p:sp>
        <p:nvSpPr>
          <p:cNvPr id="27" name="Text 25"/>
          <p:cNvSpPr/>
          <p:nvPr/>
        </p:nvSpPr>
        <p:spPr>
          <a:xfrm>
            <a:off x="7699772" y="3955107"/>
            <a:ext cx="259434" cy="133350"/>
          </a:xfrm>
          <a:prstGeom prst="rect">
            <a:avLst/>
          </a:prstGeom>
          <a:noFill/>
          <a:ln/>
        </p:spPr>
        <p:txBody>
          <a:bodyPr wrap="square" lIns="0" tIns="0" rIns="0" bIns="0" rtlCol="0" anchor="t"/>
          <a:lstStyle/>
          <a:p>
            <a:pPr algn="l" indent="0" marL="0">
              <a:spcBef>
                <a:spcPts val="900"/>
              </a:spcBef>
              <a:spcAft>
                <a:spcPts val="400"/>
              </a:spcAft>
              <a:buNone/>
            </a:pPr>
            <a:r>
              <a:rPr lang="en-US" sz="900" dirty="0">
                <a:solidFill>
                  <a:srgbClr val="8B8B8B"/>
                </a:solidFill>
                <a:latin typeface="Arial" pitchFamily="34" charset="0"/>
                <a:ea typeface="Arial" pitchFamily="34" charset="-122"/>
                <a:cs typeface="Arial" pitchFamily="34" charset="-120"/>
              </a:rPr>
              <a:t>2026</a:t>
            </a:r>
            <a:endParaRPr lang="en-US" sz="900" dirty="0"/>
          </a:p>
        </p:txBody>
      </p:sp>
      <p:sp>
        <p:nvSpPr>
          <p:cNvPr id="28" name="Text 26"/>
          <p:cNvSpPr/>
          <p:nvPr/>
        </p:nvSpPr>
        <p:spPr>
          <a:xfrm>
            <a:off x="7450242" y="4266158"/>
            <a:ext cx="753407" cy="142875"/>
          </a:xfrm>
          <a:prstGeom prst="rect">
            <a:avLst/>
          </a:prstGeom>
          <a:noFill/>
          <a:ln/>
        </p:spPr>
        <p:txBody>
          <a:bodyPr wrap="square" lIns="0" tIns="0" rIns="0" bIns="0" rtlCol="0" anchor="t"/>
          <a:lstStyle/>
          <a:p>
            <a:pPr algn="ctr" indent="0" marL="0">
              <a:spcBef>
                <a:spcPts val="1000"/>
              </a:spcBef>
              <a:spcAft>
                <a:spcPts val="400"/>
              </a:spcAft>
              <a:buNone/>
            </a:pPr>
            <a:r>
              <a:rPr lang="en-US" sz="1000" b="1" dirty="0">
                <a:solidFill>
                  <a:srgbClr val="F1C40F"/>
                </a:solidFill>
                <a:latin typeface="Arial" pitchFamily="34" charset="0"/>
                <a:ea typeface="Arial" pitchFamily="34" charset="-122"/>
                <a:cs typeface="Arial" pitchFamily="34" charset="-120"/>
              </a:rPr>
              <a:t>PAI Harness</a:t>
            </a:r>
            <a:endParaRPr lang="en-US" sz="1000" dirty="0"/>
          </a:p>
        </p:txBody>
      </p:sp>
      <p:sp>
        <p:nvSpPr>
          <p:cNvPr id="29" name="Text 27"/>
          <p:cNvSpPr/>
          <p:nvPr/>
        </p:nvSpPr>
        <p:spPr>
          <a:xfrm>
            <a:off x="7459959" y="4561284"/>
            <a:ext cx="733824" cy="284559"/>
          </a:xfrm>
          <a:prstGeom prst="rect">
            <a:avLst/>
          </a:prstGeom>
          <a:noFill/>
          <a:ln/>
        </p:spPr>
        <p:txBody>
          <a:bodyPr wrap="square" lIns="0" tIns="0" rIns="0" bIns="0" rtlCol="0" anchor="t"/>
          <a:lstStyle/>
          <a:p>
            <a:pPr algn="ctr" indent="0" marL="0">
              <a:lnSpc>
                <a:spcPts val="1120"/>
              </a:lnSpc>
              <a:spcBef>
                <a:spcPts val="800"/>
              </a:spcBef>
              <a:spcAft>
                <a:spcPts val="800"/>
              </a:spcAft>
              <a:buNone/>
            </a:pPr>
            <a:r>
              <a:rPr lang="en-US" sz="800" dirty="0">
                <a:solidFill>
                  <a:srgbClr val="9B9B9B"/>
                </a:solidFill>
                <a:latin typeface="Arial" pitchFamily="34" charset="0"/>
                <a:ea typeface="Arial" pitchFamily="34" charset="-122"/>
                <a:cs typeface="Arial" pitchFamily="34" charset="-120"/>
              </a:rPr>
              <a:t>Full ecosystem</a:t>
            </a:r>
            <a:endParaRPr lang="en-US" sz="800" dirty="0"/>
          </a:p>
          <a:p>
            <a:pPr algn="ctr" indent="0" marL="0">
              <a:lnSpc>
                <a:spcPts val="1120"/>
              </a:lnSpc>
              <a:spcBef>
                <a:spcPts val="800"/>
              </a:spcBef>
              <a:spcAft>
                <a:spcPts val="800"/>
              </a:spcAft>
              <a:buNone/>
            </a:pPr>
            <a:r>
              <a:rPr lang="en-US" sz="800" dirty="0">
                <a:solidFill>
                  <a:srgbClr val="9B9B9B"/>
                </a:solidFill>
                <a:latin typeface="Arial" pitchFamily="34" charset="0"/>
                <a:ea typeface="Arial" pitchFamily="34" charset="-122"/>
                <a:cs typeface="Arial" pitchFamily="34" charset="-120"/>
              </a:rPr>
              <a:t>Skills + Memory</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50A1E"/>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F1C40F"/>
          </a:solidFill>
          <a:ln/>
        </p:spPr>
        <p:txBody>
          <a:bodyPr wrap="square" rtlCol="0" anchor="ctr"/>
          <a:lstStyle/>
          <a:p>
            <a:pPr indent="0" marL="0">
              <a:buNone/>
            </a:pPr>
            <a:endParaRPr lang="en-US" dirty="0"/>
          </a:p>
        </p:txBody>
      </p:sp>
      <p:sp>
        <p:nvSpPr>
          <p:cNvPr id="3" name="Text 1"/>
          <p:cNvSpPr/>
          <p:nvPr/>
        </p:nvSpPr>
        <p:spPr>
          <a:xfrm>
            <a:off x="355550" y="437704"/>
            <a:ext cx="3886200" cy="142875"/>
          </a:xfrm>
          <a:prstGeom prst="rect">
            <a:avLst/>
          </a:prstGeom>
          <a:noFill/>
          <a:ln/>
        </p:spPr>
        <p:txBody>
          <a:bodyPr wrap="square" lIns="0" tIns="0" rIns="0" bIns="0" rtlCol="0" anchor="t"/>
          <a:lstStyle/>
          <a:p>
            <a:pPr algn="l" indent="0" marL="0">
              <a:spcBef>
                <a:spcPts val="1000"/>
              </a:spcBef>
              <a:spcAft>
                <a:spcPts val="1200"/>
              </a:spcAft>
              <a:buNone/>
            </a:pPr>
            <a:r>
              <a:rPr lang="en-US" sz="1000" dirty="0">
                <a:solidFill>
                  <a:srgbClr val="F1C40F"/>
                </a:solidFill>
                <a:latin typeface="Arial" pitchFamily="34" charset="0"/>
                <a:ea typeface="Arial" pitchFamily="34" charset="-122"/>
                <a:cs typeface="Arial" pitchFamily="34" charset="-120"/>
              </a:rPr>
              <a:t>HARNESS DEFINED</a:t>
            </a:r>
            <a:endParaRPr lang="en-US" sz="1000" dirty="0"/>
          </a:p>
        </p:txBody>
      </p:sp>
      <p:sp>
        <p:nvSpPr>
          <p:cNvPr id="4" name="Text 2"/>
          <p:cNvSpPr/>
          <p:nvPr/>
        </p:nvSpPr>
        <p:spPr>
          <a:xfrm>
            <a:off x="355550" y="732979"/>
            <a:ext cx="3886200" cy="731341"/>
          </a:xfrm>
          <a:prstGeom prst="rect">
            <a:avLst/>
          </a:prstGeom>
          <a:noFill/>
          <a:ln/>
        </p:spPr>
        <p:txBody>
          <a:bodyPr wrap="square" lIns="0" tIns="0" rIns="0" bIns="0" rtlCol="0" anchor="t"/>
          <a:lstStyle/>
          <a:p>
            <a:pPr algn="l" indent="0" marL="0">
              <a:lnSpc>
                <a:spcPts val="2880"/>
              </a:lnSpc>
              <a:spcAft>
                <a:spcPts val="1400"/>
              </a:spcAft>
              <a:buNone/>
            </a:pPr>
            <a:r>
              <a:rPr lang="en-US" sz="2400" dirty="0">
                <a:solidFill>
                  <a:srgbClr val="FFFFFF"/>
                </a:solidFill>
                <a:latin typeface="Arial" pitchFamily="34" charset="0"/>
                <a:ea typeface="Arial" pitchFamily="34" charset="-122"/>
                <a:cs typeface="Arial" pitchFamily="34" charset="-120"/>
              </a:rPr>
              <a:t>What is a </a:t>
            </a:r>
            <a:pPr algn="l" indent="0" marL="0">
              <a:lnSpc>
                <a:spcPts val="2880"/>
              </a:lnSpc>
              <a:spcAft>
                <a:spcPts val="1400"/>
              </a:spcAft>
              <a:buNone/>
            </a:pPr>
            <a:r>
              <a:rPr lang="en-US" sz="2400" b="1" dirty="0">
                <a:solidFill>
                  <a:srgbClr val="F1C40F"/>
                </a:solidFill>
                <a:latin typeface="Arial" pitchFamily="34" charset="0"/>
                <a:ea typeface="Arial" pitchFamily="34" charset="-122"/>
                <a:cs typeface="Arial" pitchFamily="34" charset="-120"/>
              </a:rPr>
              <a:t>Personal AI Harness</a:t>
            </a:r>
            <a:pPr algn="l" indent="0" marL="0">
              <a:lnSpc>
                <a:spcPts val="2880"/>
              </a:lnSpc>
              <a:spcAft>
                <a:spcPts val="1400"/>
              </a:spcAft>
              <a:buNone/>
            </a:pPr>
            <a:r>
              <a:rPr lang="en-US" sz="2400" dirty="0">
                <a:solidFill>
                  <a:srgbClr val="FFFFFF"/>
                </a:solidFill>
                <a:latin typeface="Arial" pitchFamily="34" charset="0"/>
                <a:ea typeface="Arial" pitchFamily="34" charset="-122"/>
                <a:cs typeface="Arial" pitchFamily="34" charset="-120"/>
              </a:rPr>
              <a:t>?</a:t>
            </a:r>
            <a:endParaRPr lang="en-US" sz="2400" dirty="0"/>
          </a:p>
        </p:txBody>
      </p:sp>
      <p:sp>
        <p:nvSpPr>
          <p:cNvPr id="5" name="Text 3"/>
          <p:cNvSpPr/>
          <p:nvPr/>
        </p:nvSpPr>
        <p:spPr>
          <a:xfrm>
            <a:off x="355550" y="1642021"/>
            <a:ext cx="3810000" cy="1584722"/>
          </a:xfrm>
          <a:prstGeom prst="rect">
            <a:avLst/>
          </a:prstGeom>
          <a:solidFill>
            <a:srgbClr val="F1C40F">
              <a:alpha val="10000"/>
            </a:srgbClr>
          </a:solidFill>
          <a:ln/>
        </p:spPr>
        <p:txBody>
          <a:bodyPr wrap="square" rtlCol="0" anchor="ctr"/>
          <a:lstStyle/>
          <a:p>
            <a:pPr indent="0" marL="0">
              <a:buNone/>
            </a:pPr>
            <a:endParaRPr lang="en-US" dirty="0"/>
          </a:p>
        </p:txBody>
      </p:sp>
      <p:sp>
        <p:nvSpPr>
          <p:cNvPr id="6" name="Shape 4"/>
          <p:cNvSpPr/>
          <p:nvPr/>
        </p:nvSpPr>
        <p:spPr>
          <a:xfrm>
            <a:off x="374600" y="1642021"/>
            <a:ext cx="0" cy="1584722"/>
          </a:xfrm>
          <a:prstGeom prst="line">
            <a:avLst/>
          </a:prstGeom>
          <a:noFill/>
          <a:ln w="38100">
            <a:solidFill>
              <a:srgbClr val="F1C40F"/>
            </a:solidFill>
            <a:prstDash val="solid"/>
          </a:ln>
        </p:spPr>
      </p:sp>
      <p:sp>
        <p:nvSpPr>
          <p:cNvPr id="7" name="Text 5"/>
          <p:cNvSpPr/>
          <p:nvPr/>
        </p:nvSpPr>
        <p:spPr>
          <a:xfrm>
            <a:off x="546050" y="1946821"/>
            <a:ext cx="3536442" cy="975122"/>
          </a:xfrm>
          <a:prstGeom prst="rect">
            <a:avLst/>
          </a:prstGeom>
          <a:noFill/>
          <a:ln/>
        </p:spPr>
        <p:txBody>
          <a:bodyPr wrap="square" lIns="0" tIns="0" rIns="0" bIns="0" rtlCol="0" anchor="t"/>
          <a:lstStyle/>
          <a:p>
            <a:pPr algn="l" indent="0" marL="0">
              <a:lnSpc>
                <a:spcPts val="1920"/>
              </a:lnSpc>
              <a:spcBef>
                <a:spcPts val="1200"/>
              </a:spcBef>
              <a:spcAft>
                <a:spcPts val="1200"/>
              </a:spcAft>
              <a:buNone/>
            </a:pPr>
            <a:r>
              <a:rPr lang="en-US" sz="1200" dirty="0">
                <a:solidFill>
                  <a:srgbClr val="E0E0E0"/>
                </a:solidFill>
                <a:latin typeface="Arial" pitchFamily="34" charset="0"/>
                <a:ea typeface="Arial" pitchFamily="34" charset="-122"/>
                <a:cs typeface="Arial" pitchFamily="34" charset="-120"/>
              </a:rPr>
              <a:t>A harness is the </a:t>
            </a:r>
            <a:pPr algn="l" indent="0" marL="0">
              <a:lnSpc>
                <a:spcPts val="1920"/>
              </a:lnSpc>
              <a:spcBef>
                <a:spcPts val="1200"/>
              </a:spcBef>
              <a:spcAft>
                <a:spcPts val="1200"/>
              </a:spcAft>
              <a:buNone/>
            </a:pPr>
            <a:r>
              <a:rPr lang="en-US" sz="1200" b="1" dirty="0">
                <a:solidFill>
                  <a:srgbClr val="E0E0E0"/>
                </a:solidFill>
                <a:latin typeface="Arial" pitchFamily="34" charset="0"/>
                <a:ea typeface="Arial" pitchFamily="34" charset="-122"/>
                <a:cs typeface="Arial" pitchFamily="34" charset="-120"/>
              </a:rPr>
              <a:t>infrastructure layer</a:t>
            </a:r>
            <a:pPr algn="l" indent="0" marL="0">
              <a:lnSpc>
                <a:spcPts val="1920"/>
              </a:lnSpc>
              <a:spcBef>
                <a:spcPts val="1200"/>
              </a:spcBef>
              <a:spcAft>
                <a:spcPts val="1200"/>
              </a:spcAft>
              <a:buNone/>
            </a:pPr>
            <a:r>
              <a:rPr lang="en-US" sz="1200" dirty="0">
                <a:solidFill>
                  <a:srgbClr val="E0E0E0"/>
                </a:solidFill>
                <a:latin typeface="Arial" pitchFamily="34" charset="0"/>
                <a:ea typeface="Arial" pitchFamily="34" charset="-122"/>
                <a:cs typeface="Arial" pitchFamily="34" charset="-120"/>
              </a:rPr>
              <a:t> that wraps around AI agents — giving them memory, context, rules, tools, and a way to communicate with each other.</a:t>
            </a:r>
            <a:endParaRPr lang="en-US" sz="1200" dirty="0"/>
          </a:p>
        </p:txBody>
      </p:sp>
      <p:sp>
        <p:nvSpPr>
          <p:cNvPr id="8" name="Text 6"/>
          <p:cNvSpPr/>
          <p:nvPr/>
        </p:nvSpPr>
        <p:spPr>
          <a:xfrm>
            <a:off x="355550" y="3404443"/>
            <a:ext cx="3810000" cy="1428452"/>
          </a:xfrm>
          <a:prstGeom prst="rect">
            <a:avLst/>
          </a:prstGeom>
          <a:solidFill>
            <a:srgbClr val="00D4FF">
              <a:alpha val="8000"/>
            </a:srgbClr>
          </a:solidFill>
          <a:ln w="9525">
            <a:solidFill>
              <a:srgbClr val="00D4FF"/>
            </a:solidFill>
          </a:ln>
        </p:spPr>
        <p:txBody>
          <a:bodyPr wrap="square" rtlCol="0" anchor="ctr"/>
          <a:lstStyle/>
          <a:p>
            <a:pPr indent="0" marL="0">
              <a:buNone/>
            </a:pPr>
            <a:endParaRPr lang="en-US" dirty="0"/>
          </a:p>
        </p:txBody>
      </p:sp>
      <p:sp>
        <p:nvSpPr>
          <p:cNvPr id="9" name="Text 7"/>
          <p:cNvSpPr/>
          <p:nvPr/>
        </p:nvSpPr>
        <p:spPr>
          <a:xfrm>
            <a:off x="542776" y="3655219"/>
            <a:ext cx="3504259" cy="133350"/>
          </a:xfrm>
          <a:prstGeom prst="rect">
            <a:avLst/>
          </a:prstGeom>
          <a:noFill/>
          <a:ln/>
        </p:spPr>
        <p:txBody>
          <a:bodyPr wrap="square" lIns="0" tIns="0" rIns="0" bIns="0" rtlCol="0" anchor="t"/>
          <a:lstStyle/>
          <a:p>
            <a:pPr algn="l" indent="0" marL="0">
              <a:spcBef>
                <a:spcPts val="900"/>
              </a:spcBef>
              <a:spcAft>
                <a:spcPts val="400"/>
              </a:spcAft>
              <a:buNone/>
            </a:pPr>
            <a:r>
              <a:rPr lang="en-US" sz="900" dirty="0">
                <a:solidFill>
                  <a:srgbClr val="00D4FF"/>
                </a:solidFill>
                <a:latin typeface="Arial" pitchFamily="34" charset="0"/>
                <a:ea typeface="Arial" pitchFamily="34" charset="-122"/>
                <a:cs typeface="Arial" pitchFamily="34" charset="-120"/>
              </a:rPr>
              <a:t>ANALOGY</a:t>
            </a:r>
            <a:endParaRPr lang="en-US" sz="900" dirty="0"/>
          </a:p>
        </p:txBody>
      </p:sp>
      <p:sp>
        <p:nvSpPr>
          <p:cNvPr id="10" name="Text 8"/>
          <p:cNvSpPr/>
          <p:nvPr/>
        </p:nvSpPr>
        <p:spPr>
          <a:xfrm>
            <a:off x="542776" y="3928170"/>
            <a:ext cx="3504259" cy="628650"/>
          </a:xfrm>
          <a:prstGeom prst="rect">
            <a:avLst/>
          </a:prstGeom>
          <a:noFill/>
          <a:ln/>
        </p:spPr>
        <p:txBody>
          <a:bodyPr wrap="square" lIns="0" tIns="0" rIns="0" bIns="0" rtlCol="0" anchor="t"/>
          <a:lstStyle/>
          <a:p>
            <a:pPr algn="l" indent="0" marL="0">
              <a:lnSpc>
                <a:spcPts val="1650"/>
              </a:lnSpc>
              <a:spcBef>
                <a:spcPts val="1100"/>
              </a:spcBef>
              <a:spcAft>
                <a:spcPts val="1100"/>
              </a:spcAft>
              <a:buNone/>
            </a:pPr>
            <a:r>
              <a:rPr lang="en-US" sz="1100" i="1" dirty="0">
                <a:solidFill>
                  <a:srgbClr val="B0BEC5"/>
                </a:solidFill>
                <a:latin typeface="Arial" pitchFamily="34" charset="0"/>
                <a:ea typeface="Arial" pitchFamily="34" charset="-122"/>
                <a:cs typeface="Arial" pitchFamily="34" charset="-120"/>
              </a:rPr>
              <a:t>A surgeon's harness is the OR: the table, lights, instruments, team protocols. The surgeon is still the expert — but the harness makes precision possible.</a:t>
            </a:r>
            <a:endParaRPr lang="en-US" sz="1100" dirty="0"/>
          </a:p>
        </p:txBody>
      </p:sp>
      <p:sp>
        <p:nvSpPr>
          <p:cNvPr id="11" name="Shape 9"/>
          <p:cNvSpPr/>
          <p:nvPr/>
        </p:nvSpPr>
        <p:spPr>
          <a:xfrm>
            <a:off x="4530626" y="0"/>
            <a:ext cx="0" cy="5143500"/>
          </a:xfrm>
          <a:prstGeom prst="line">
            <a:avLst/>
          </a:prstGeom>
          <a:noFill/>
          <a:ln w="19050">
            <a:solidFill>
              <a:srgbClr val="F1C40F"/>
            </a:solidFill>
            <a:prstDash val="solid"/>
          </a:ln>
        </p:spPr>
      </p:sp>
      <p:sp>
        <p:nvSpPr>
          <p:cNvPr id="12" name="Text 10"/>
          <p:cNvSpPr/>
          <p:nvPr/>
        </p:nvSpPr>
        <p:spPr>
          <a:xfrm>
            <a:off x="4844951" y="277267"/>
            <a:ext cx="4074134" cy="133350"/>
          </a:xfrm>
          <a:prstGeom prst="rect">
            <a:avLst/>
          </a:prstGeom>
          <a:noFill/>
          <a:ln/>
        </p:spPr>
        <p:txBody>
          <a:bodyPr wrap="square" lIns="0" tIns="0" rIns="0" bIns="0" rtlCol="0" anchor="t"/>
          <a:lstStyle/>
          <a:p>
            <a:pPr algn="l" indent="0" marL="0">
              <a:spcBef>
                <a:spcPts val="900"/>
              </a:spcBef>
              <a:spcAft>
                <a:spcPts val="1000"/>
              </a:spcAft>
              <a:buNone/>
            </a:pPr>
            <a:r>
              <a:rPr lang="en-US" sz="900" dirty="0">
                <a:solidFill>
                  <a:srgbClr val="8B8B8B"/>
                </a:solidFill>
                <a:latin typeface="Arial" pitchFamily="34" charset="0"/>
                <a:ea typeface="Arial" pitchFamily="34" charset="-122"/>
                <a:cs typeface="Arial" pitchFamily="34" charset="-120"/>
              </a:rPr>
              <a:t>PAI HARNESS COMPONENTS</a:t>
            </a:r>
            <a:endParaRPr lang="en-US" sz="900" dirty="0"/>
          </a:p>
        </p:txBody>
      </p:sp>
      <p:sp>
        <p:nvSpPr>
          <p:cNvPr id="13" name="Text 11"/>
          <p:cNvSpPr/>
          <p:nvPr/>
        </p:nvSpPr>
        <p:spPr>
          <a:xfrm>
            <a:off x="4844951" y="537567"/>
            <a:ext cx="3994249" cy="1034653"/>
          </a:xfrm>
          <a:prstGeom prst="rect">
            <a:avLst/>
          </a:prstGeom>
          <a:solidFill>
            <a:srgbClr val="F1C40F">
              <a:alpha val="5000"/>
            </a:srgbClr>
          </a:solidFill>
          <a:ln w="9525">
            <a:solidFill>
              <a:srgbClr val="F1C40F"/>
            </a:solidFill>
          </a:ln>
        </p:spPr>
        <p:txBody>
          <a:bodyPr wrap="square" rtlCol="0" anchor="ctr"/>
          <a:lstStyle/>
          <a:p>
            <a:pPr indent="0" marL="0">
              <a:buNone/>
            </a:pPr>
            <a:endParaRPr lang="en-US" dirty="0"/>
          </a:p>
        </p:txBody>
      </p:sp>
      <p:sp>
        <p:nvSpPr>
          <p:cNvPr id="14" name="Text 12"/>
          <p:cNvSpPr/>
          <p:nvPr/>
        </p:nvSpPr>
        <p:spPr>
          <a:xfrm>
            <a:off x="5006876" y="800993"/>
            <a:ext cx="258979" cy="247650"/>
          </a:xfrm>
          <a:prstGeom prst="rect">
            <a:avLst/>
          </a:prstGeom>
          <a:noFill/>
          <a:ln/>
        </p:spPr>
        <p:txBody>
          <a:bodyPr wrap="square" lIns="0" tIns="0" rIns="0" bIns="0" rtlCol="0" anchor="t"/>
          <a:lstStyle/>
          <a:p>
            <a:pPr algn="l" indent="0" marL="0">
              <a:spcBef>
                <a:spcPts val="1200"/>
              </a:spcBef>
              <a:spcAft>
                <a:spcPts val="1200"/>
              </a:spcAft>
              <a:buNone/>
            </a:pPr>
            <a:r>
              <a:rPr lang="en-US" sz="1200" dirty="0">
                <a:solidFill>
                  <a:srgbClr val="F1C40F"/>
                </a:solidFill>
                <a:latin typeface="Arial" pitchFamily="34" charset="0"/>
                <a:ea typeface="Arial" pitchFamily="34" charset="-122"/>
                <a:cs typeface="Arial" pitchFamily="34" charset="-120"/>
              </a:rPr>
              <a:t>🧠</a:t>
            </a:r>
            <a:endParaRPr lang="en-US" sz="1200" dirty="0"/>
          </a:p>
        </p:txBody>
      </p:sp>
      <p:sp>
        <p:nvSpPr>
          <p:cNvPr id="15" name="Text 13"/>
          <p:cNvSpPr/>
          <p:nvPr/>
        </p:nvSpPr>
        <p:spPr>
          <a:xfrm>
            <a:off x="5413177" y="788194"/>
            <a:ext cx="3329380" cy="152400"/>
          </a:xfrm>
          <a:prstGeom prst="rect">
            <a:avLst/>
          </a:prstGeom>
          <a:noFill/>
          <a:ln/>
        </p:spPr>
        <p:txBody>
          <a:bodyPr wrap="square" lIns="0" tIns="0" rIns="0" bIns="0" rtlCol="0" anchor="t"/>
          <a:lstStyle/>
          <a:p>
            <a:pPr algn="l" indent="0" marL="0">
              <a:spcBef>
                <a:spcPts val="1100"/>
              </a:spcBef>
              <a:spcAft>
                <a:spcPts val="1100"/>
              </a:spcAft>
              <a:buNone/>
            </a:pPr>
            <a:r>
              <a:rPr lang="en-US" sz="1100" b="1" dirty="0">
                <a:solidFill>
                  <a:srgbClr val="FFFFFF"/>
                </a:solidFill>
                <a:latin typeface="Arial" pitchFamily="34" charset="0"/>
                <a:ea typeface="Arial" pitchFamily="34" charset="-122"/>
                <a:cs typeface="Arial" pitchFamily="34" charset="-120"/>
              </a:rPr>
              <a:t>Memory System</a:t>
            </a:r>
            <a:endParaRPr lang="en-US" sz="1100" dirty="0"/>
          </a:p>
        </p:txBody>
      </p:sp>
      <p:sp>
        <p:nvSpPr>
          <p:cNvPr id="16" name="Text 14"/>
          <p:cNvSpPr/>
          <p:nvPr/>
        </p:nvSpPr>
        <p:spPr>
          <a:xfrm>
            <a:off x="5413177" y="1080195"/>
            <a:ext cx="3329380" cy="266700"/>
          </a:xfrm>
          <a:prstGeom prst="rect">
            <a:avLst/>
          </a:prstGeom>
          <a:noFill/>
          <a:ln/>
        </p:spPr>
        <p:txBody>
          <a:bodyPr wrap="square" lIns="0" tIns="0" rIns="0" bIns="0" rtlCol="0" anchor="t"/>
          <a:lstStyle/>
          <a:p>
            <a:pPr algn="l" indent="0" marL="0">
              <a:spcBef>
                <a:spcPts val="200"/>
              </a:spcBef>
              <a:spcAft>
                <a:spcPts val="900"/>
              </a:spcAft>
              <a:buNone/>
            </a:pPr>
            <a:r>
              <a:rPr lang="en-US" sz="900" dirty="0">
                <a:solidFill>
                  <a:srgbClr val="9B9B9B"/>
                </a:solidFill>
                <a:latin typeface="Arial" pitchFamily="34" charset="0"/>
                <a:ea typeface="Arial" pitchFamily="34" charset="-122"/>
                <a:cs typeface="Arial" pitchFamily="34" charset="-120"/>
              </a:rPr>
              <a:t>MEMORY.md — user preferences, project context, feedback stored across sessions</a:t>
            </a:r>
            <a:endParaRPr lang="en-US" sz="900" dirty="0"/>
          </a:p>
        </p:txBody>
      </p:sp>
      <p:sp>
        <p:nvSpPr>
          <p:cNvPr id="17" name="Text 15"/>
          <p:cNvSpPr/>
          <p:nvPr/>
        </p:nvSpPr>
        <p:spPr>
          <a:xfrm>
            <a:off x="4844951" y="1673721"/>
            <a:ext cx="3994249" cy="1034653"/>
          </a:xfrm>
          <a:prstGeom prst="rect">
            <a:avLst/>
          </a:prstGeom>
          <a:solidFill>
            <a:srgbClr val="F1C40F">
              <a:alpha val="5000"/>
            </a:srgbClr>
          </a:solidFill>
          <a:ln w="9525">
            <a:solidFill>
              <a:srgbClr val="F1C40F"/>
            </a:solidFill>
          </a:ln>
        </p:spPr>
        <p:txBody>
          <a:bodyPr wrap="square" rtlCol="0" anchor="ctr"/>
          <a:lstStyle/>
          <a:p>
            <a:pPr indent="0" marL="0">
              <a:buNone/>
            </a:pPr>
            <a:endParaRPr lang="en-US" dirty="0"/>
          </a:p>
        </p:txBody>
      </p:sp>
      <p:sp>
        <p:nvSpPr>
          <p:cNvPr id="18" name="Text 16"/>
          <p:cNvSpPr/>
          <p:nvPr/>
        </p:nvSpPr>
        <p:spPr>
          <a:xfrm>
            <a:off x="5006876" y="1937147"/>
            <a:ext cx="258979" cy="247650"/>
          </a:xfrm>
          <a:prstGeom prst="rect">
            <a:avLst/>
          </a:prstGeom>
          <a:noFill/>
          <a:ln/>
        </p:spPr>
        <p:txBody>
          <a:bodyPr wrap="square" lIns="0" tIns="0" rIns="0" bIns="0" rtlCol="0" anchor="t"/>
          <a:lstStyle/>
          <a:p>
            <a:pPr algn="l" indent="0" marL="0">
              <a:spcBef>
                <a:spcPts val="1200"/>
              </a:spcBef>
              <a:spcAft>
                <a:spcPts val="1200"/>
              </a:spcAft>
              <a:buNone/>
            </a:pPr>
            <a:r>
              <a:rPr lang="en-US" sz="1200" dirty="0">
                <a:solidFill>
                  <a:srgbClr val="F1C40F"/>
                </a:solidFill>
                <a:latin typeface="Arial" pitchFamily="34" charset="0"/>
                <a:ea typeface="Arial" pitchFamily="34" charset="-122"/>
                <a:cs typeface="Arial" pitchFamily="34" charset="-120"/>
              </a:rPr>
              <a:t>📋</a:t>
            </a:r>
            <a:endParaRPr lang="en-US" sz="1200" dirty="0"/>
          </a:p>
        </p:txBody>
      </p:sp>
      <p:sp>
        <p:nvSpPr>
          <p:cNvPr id="19" name="Text 17"/>
          <p:cNvSpPr/>
          <p:nvPr/>
        </p:nvSpPr>
        <p:spPr>
          <a:xfrm>
            <a:off x="5413177" y="1924348"/>
            <a:ext cx="3329380" cy="152400"/>
          </a:xfrm>
          <a:prstGeom prst="rect">
            <a:avLst/>
          </a:prstGeom>
          <a:noFill/>
          <a:ln/>
        </p:spPr>
        <p:txBody>
          <a:bodyPr wrap="square" lIns="0" tIns="0" rIns="0" bIns="0" rtlCol="0" anchor="t"/>
          <a:lstStyle/>
          <a:p>
            <a:pPr algn="l" indent="0" marL="0">
              <a:spcBef>
                <a:spcPts val="1100"/>
              </a:spcBef>
              <a:spcAft>
                <a:spcPts val="1100"/>
              </a:spcAft>
              <a:buNone/>
            </a:pPr>
            <a:r>
              <a:rPr lang="en-US" sz="1100" b="1" dirty="0">
                <a:solidFill>
                  <a:srgbClr val="FFFFFF"/>
                </a:solidFill>
                <a:latin typeface="Arial" pitchFamily="34" charset="0"/>
                <a:ea typeface="Arial" pitchFamily="34" charset="-122"/>
                <a:cs typeface="Arial" pitchFamily="34" charset="-120"/>
              </a:rPr>
              <a:t>Skills Library</a:t>
            </a:r>
            <a:endParaRPr lang="en-US" sz="1100" dirty="0"/>
          </a:p>
        </p:txBody>
      </p:sp>
      <p:sp>
        <p:nvSpPr>
          <p:cNvPr id="20" name="Text 18"/>
          <p:cNvSpPr/>
          <p:nvPr/>
        </p:nvSpPr>
        <p:spPr>
          <a:xfrm>
            <a:off x="5413177" y="2216348"/>
            <a:ext cx="3329380" cy="266700"/>
          </a:xfrm>
          <a:prstGeom prst="rect">
            <a:avLst/>
          </a:prstGeom>
          <a:noFill/>
          <a:ln/>
        </p:spPr>
        <p:txBody>
          <a:bodyPr wrap="square" lIns="0" tIns="0" rIns="0" bIns="0" rtlCol="0" anchor="t"/>
          <a:lstStyle/>
          <a:p>
            <a:pPr algn="l" indent="0" marL="0">
              <a:spcBef>
                <a:spcPts val="200"/>
              </a:spcBef>
              <a:spcAft>
                <a:spcPts val="900"/>
              </a:spcAft>
              <a:buNone/>
            </a:pPr>
            <a:r>
              <a:rPr lang="en-US" sz="900" dirty="0">
                <a:solidFill>
                  <a:srgbClr val="9B9B9B"/>
                </a:solidFill>
                <a:latin typeface="Arial" pitchFamily="34" charset="0"/>
                <a:ea typeface="Arial" pitchFamily="34" charset="-122"/>
                <a:cs typeface="Arial" pitchFamily="34" charset="-120"/>
              </a:rPr>
              <a:t>50+ reusable workflows — each a SKILL.md file with triggers and instructions</a:t>
            </a:r>
            <a:endParaRPr lang="en-US" sz="900" dirty="0"/>
          </a:p>
        </p:txBody>
      </p:sp>
      <p:sp>
        <p:nvSpPr>
          <p:cNvPr id="21" name="Text 19"/>
          <p:cNvSpPr/>
          <p:nvPr/>
        </p:nvSpPr>
        <p:spPr>
          <a:xfrm>
            <a:off x="4844951" y="2809875"/>
            <a:ext cx="3994249" cy="1034653"/>
          </a:xfrm>
          <a:prstGeom prst="rect">
            <a:avLst/>
          </a:prstGeom>
          <a:solidFill>
            <a:srgbClr val="F1C40F">
              <a:alpha val="5000"/>
            </a:srgbClr>
          </a:solidFill>
          <a:ln w="9525">
            <a:solidFill>
              <a:srgbClr val="F1C40F"/>
            </a:solidFill>
          </a:ln>
        </p:spPr>
        <p:txBody>
          <a:bodyPr wrap="square" rtlCol="0" anchor="ctr"/>
          <a:lstStyle/>
          <a:p>
            <a:pPr indent="0" marL="0">
              <a:buNone/>
            </a:pPr>
            <a:endParaRPr lang="en-US" dirty="0"/>
          </a:p>
        </p:txBody>
      </p:sp>
      <p:sp>
        <p:nvSpPr>
          <p:cNvPr id="22" name="Text 20"/>
          <p:cNvSpPr/>
          <p:nvPr/>
        </p:nvSpPr>
        <p:spPr>
          <a:xfrm>
            <a:off x="5006876" y="3073301"/>
            <a:ext cx="258979" cy="247650"/>
          </a:xfrm>
          <a:prstGeom prst="rect">
            <a:avLst/>
          </a:prstGeom>
          <a:noFill/>
          <a:ln/>
        </p:spPr>
        <p:txBody>
          <a:bodyPr wrap="square" lIns="0" tIns="0" rIns="0" bIns="0" rtlCol="0" anchor="t"/>
          <a:lstStyle/>
          <a:p>
            <a:pPr algn="l" indent="0" marL="0">
              <a:spcBef>
                <a:spcPts val="1200"/>
              </a:spcBef>
              <a:spcAft>
                <a:spcPts val="1200"/>
              </a:spcAft>
              <a:buNone/>
            </a:pPr>
            <a:r>
              <a:rPr lang="en-US" sz="1200" dirty="0">
                <a:solidFill>
                  <a:srgbClr val="F1C40F"/>
                </a:solidFill>
                <a:latin typeface="Arial" pitchFamily="34" charset="0"/>
                <a:ea typeface="Arial" pitchFamily="34" charset="-122"/>
                <a:cs typeface="Arial" pitchFamily="34" charset="-120"/>
              </a:rPr>
              <a:t>🔗</a:t>
            </a:r>
            <a:endParaRPr lang="en-US" sz="1200" dirty="0"/>
          </a:p>
        </p:txBody>
      </p:sp>
      <p:sp>
        <p:nvSpPr>
          <p:cNvPr id="23" name="Text 21"/>
          <p:cNvSpPr/>
          <p:nvPr/>
        </p:nvSpPr>
        <p:spPr>
          <a:xfrm>
            <a:off x="5413177" y="3060502"/>
            <a:ext cx="3329380" cy="152400"/>
          </a:xfrm>
          <a:prstGeom prst="rect">
            <a:avLst/>
          </a:prstGeom>
          <a:noFill/>
          <a:ln/>
        </p:spPr>
        <p:txBody>
          <a:bodyPr wrap="square" lIns="0" tIns="0" rIns="0" bIns="0" rtlCol="0" anchor="t"/>
          <a:lstStyle/>
          <a:p>
            <a:pPr algn="l" indent="0" marL="0">
              <a:spcBef>
                <a:spcPts val="1100"/>
              </a:spcBef>
              <a:spcAft>
                <a:spcPts val="1100"/>
              </a:spcAft>
              <a:buNone/>
            </a:pPr>
            <a:r>
              <a:rPr lang="en-US" sz="1100" b="1" dirty="0">
                <a:solidFill>
                  <a:srgbClr val="FFFFFF"/>
                </a:solidFill>
                <a:latin typeface="Arial" pitchFamily="34" charset="0"/>
                <a:ea typeface="Arial" pitchFamily="34" charset="-122"/>
                <a:cs typeface="Arial" pitchFamily="34" charset="-120"/>
              </a:rPr>
              <a:t>MCP Servers</a:t>
            </a:r>
            <a:endParaRPr lang="en-US" sz="1100" dirty="0"/>
          </a:p>
        </p:txBody>
      </p:sp>
      <p:sp>
        <p:nvSpPr>
          <p:cNvPr id="24" name="Text 22"/>
          <p:cNvSpPr/>
          <p:nvPr/>
        </p:nvSpPr>
        <p:spPr>
          <a:xfrm>
            <a:off x="5413177" y="3352502"/>
            <a:ext cx="3329380" cy="266700"/>
          </a:xfrm>
          <a:prstGeom prst="rect">
            <a:avLst/>
          </a:prstGeom>
          <a:noFill/>
          <a:ln/>
        </p:spPr>
        <p:txBody>
          <a:bodyPr wrap="square" lIns="0" tIns="0" rIns="0" bIns="0" rtlCol="0" anchor="t"/>
          <a:lstStyle/>
          <a:p>
            <a:pPr algn="l" indent="0" marL="0">
              <a:spcBef>
                <a:spcPts val="200"/>
              </a:spcBef>
              <a:spcAft>
                <a:spcPts val="900"/>
              </a:spcAft>
              <a:buNone/>
            </a:pPr>
            <a:r>
              <a:rPr lang="en-US" sz="900" dirty="0">
                <a:solidFill>
                  <a:srgbClr val="9B9B9B"/>
                </a:solidFill>
                <a:latin typeface="Arial" pitchFamily="34" charset="0"/>
                <a:ea typeface="Arial" pitchFamily="34" charset="-122"/>
                <a:cs typeface="Arial" pitchFamily="34" charset="-120"/>
              </a:rPr>
              <a:t>Model Context Protocol — connects Claude to Telegram, PubMed, Firebase, Vercel</a:t>
            </a:r>
            <a:endParaRPr lang="en-US" sz="900" dirty="0"/>
          </a:p>
        </p:txBody>
      </p:sp>
      <p:sp>
        <p:nvSpPr>
          <p:cNvPr id="25" name="Text 23"/>
          <p:cNvSpPr/>
          <p:nvPr/>
        </p:nvSpPr>
        <p:spPr>
          <a:xfrm>
            <a:off x="4844951" y="3946029"/>
            <a:ext cx="3994249" cy="1034653"/>
          </a:xfrm>
          <a:prstGeom prst="rect">
            <a:avLst/>
          </a:prstGeom>
          <a:solidFill>
            <a:srgbClr val="F1C40F">
              <a:alpha val="5000"/>
            </a:srgbClr>
          </a:solidFill>
          <a:ln w="9525">
            <a:solidFill>
              <a:srgbClr val="F1C40F"/>
            </a:solidFill>
          </a:ln>
        </p:spPr>
        <p:txBody>
          <a:bodyPr wrap="square" rtlCol="0" anchor="ctr"/>
          <a:lstStyle/>
          <a:p>
            <a:pPr indent="0" marL="0">
              <a:buNone/>
            </a:pPr>
            <a:endParaRPr lang="en-US" dirty="0"/>
          </a:p>
        </p:txBody>
      </p:sp>
      <p:sp>
        <p:nvSpPr>
          <p:cNvPr id="26" name="Text 24"/>
          <p:cNvSpPr/>
          <p:nvPr/>
        </p:nvSpPr>
        <p:spPr>
          <a:xfrm>
            <a:off x="5006876" y="4209455"/>
            <a:ext cx="258979" cy="247650"/>
          </a:xfrm>
          <a:prstGeom prst="rect">
            <a:avLst/>
          </a:prstGeom>
          <a:noFill/>
          <a:ln/>
        </p:spPr>
        <p:txBody>
          <a:bodyPr wrap="square" lIns="0" tIns="0" rIns="0" bIns="0" rtlCol="0" anchor="t"/>
          <a:lstStyle/>
          <a:p>
            <a:pPr algn="l" indent="0" marL="0">
              <a:spcBef>
                <a:spcPts val="1200"/>
              </a:spcBef>
              <a:spcAft>
                <a:spcPts val="1200"/>
              </a:spcAft>
              <a:buNone/>
            </a:pPr>
            <a:r>
              <a:rPr lang="en-US" sz="1200" dirty="0">
                <a:solidFill>
                  <a:srgbClr val="F1C40F"/>
                </a:solidFill>
                <a:latin typeface="Arial" pitchFamily="34" charset="0"/>
                <a:ea typeface="Arial" pitchFamily="34" charset="-122"/>
                <a:cs typeface="Arial" pitchFamily="34" charset="-120"/>
              </a:rPr>
              <a:t>⚡</a:t>
            </a:r>
            <a:endParaRPr lang="en-US" sz="1200" dirty="0"/>
          </a:p>
        </p:txBody>
      </p:sp>
      <p:sp>
        <p:nvSpPr>
          <p:cNvPr id="27" name="Text 25"/>
          <p:cNvSpPr/>
          <p:nvPr/>
        </p:nvSpPr>
        <p:spPr>
          <a:xfrm>
            <a:off x="5413177" y="4196655"/>
            <a:ext cx="3329380" cy="152400"/>
          </a:xfrm>
          <a:prstGeom prst="rect">
            <a:avLst/>
          </a:prstGeom>
          <a:noFill/>
          <a:ln/>
        </p:spPr>
        <p:txBody>
          <a:bodyPr wrap="square" lIns="0" tIns="0" rIns="0" bIns="0" rtlCol="0" anchor="t"/>
          <a:lstStyle/>
          <a:p>
            <a:pPr algn="l" indent="0" marL="0">
              <a:spcBef>
                <a:spcPts val="1100"/>
              </a:spcBef>
              <a:spcAft>
                <a:spcPts val="1100"/>
              </a:spcAft>
              <a:buNone/>
            </a:pPr>
            <a:r>
              <a:rPr lang="en-US" sz="1100" b="1" dirty="0">
                <a:solidFill>
                  <a:srgbClr val="FFFFFF"/>
                </a:solidFill>
                <a:latin typeface="Arial" pitchFamily="34" charset="0"/>
                <a:ea typeface="Arial" pitchFamily="34" charset="-122"/>
                <a:cs typeface="Arial" pitchFamily="34" charset="-120"/>
              </a:rPr>
              <a:t>Hooks &amp; Crons</a:t>
            </a:r>
            <a:endParaRPr lang="en-US" sz="1100" dirty="0"/>
          </a:p>
        </p:txBody>
      </p:sp>
      <p:sp>
        <p:nvSpPr>
          <p:cNvPr id="28" name="Text 26"/>
          <p:cNvSpPr/>
          <p:nvPr/>
        </p:nvSpPr>
        <p:spPr>
          <a:xfrm>
            <a:off x="5413177" y="4488656"/>
            <a:ext cx="3329380" cy="266700"/>
          </a:xfrm>
          <a:prstGeom prst="rect">
            <a:avLst/>
          </a:prstGeom>
          <a:noFill/>
          <a:ln/>
        </p:spPr>
        <p:txBody>
          <a:bodyPr wrap="square" lIns="0" tIns="0" rIns="0" bIns="0" rtlCol="0" anchor="t"/>
          <a:lstStyle/>
          <a:p>
            <a:pPr algn="l" indent="0" marL="0">
              <a:spcBef>
                <a:spcPts val="200"/>
              </a:spcBef>
              <a:spcAft>
                <a:spcPts val="900"/>
              </a:spcAft>
              <a:buNone/>
            </a:pPr>
            <a:r>
              <a:rPr lang="en-US" sz="900" dirty="0">
                <a:solidFill>
                  <a:srgbClr val="9B9B9B"/>
                </a:solidFill>
                <a:latin typeface="Arial" pitchFamily="34" charset="0"/>
                <a:ea typeface="Arial" pitchFamily="34" charset="-122"/>
                <a:cs typeface="Arial" pitchFamily="34" charset="-120"/>
              </a:rPr>
              <a:t>Automatic triggers: run tests after edit, play sound on completion, scheduled tasks</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50A1E"/>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9B59B6"/>
          </a:solidFill>
          <a:ln/>
        </p:spPr>
        <p:txBody>
          <a:bodyPr wrap="square" rtlCol="0" anchor="ctr"/>
          <a:lstStyle/>
          <a:p>
            <a:pPr indent="0" marL="0">
              <a:buNone/>
            </a:pPr>
            <a:endParaRPr lang="en-US" dirty="0"/>
          </a:p>
        </p:txBody>
      </p:sp>
      <p:sp>
        <p:nvSpPr>
          <p:cNvPr id="3" name="Text 1"/>
          <p:cNvSpPr/>
          <p:nvPr/>
        </p:nvSpPr>
        <p:spPr>
          <a:xfrm>
            <a:off x="381000" y="665411"/>
            <a:ext cx="8549640" cy="133350"/>
          </a:xfrm>
          <a:prstGeom prst="rect">
            <a:avLst/>
          </a:prstGeom>
          <a:noFill/>
          <a:ln/>
        </p:spPr>
        <p:txBody>
          <a:bodyPr wrap="square" lIns="0" tIns="0" rIns="0" bIns="0" rtlCol="0" anchor="t"/>
          <a:lstStyle/>
          <a:p>
            <a:pPr algn="l" indent="0" marL="0">
              <a:spcBef>
                <a:spcPts val="900"/>
              </a:spcBef>
              <a:spcAft>
                <a:spcPts val="600"/>
              </a:spcAft>
              <a:buNone/>
            </a:pPr>
            <a:r>
              <a:rPr lang="en-US" sz="900" dirty="0">
                <a:solidFill>
                  <a:srgbClr val="9B59B6"/>
                </a:solidFill>
                <a:latin typeface="Arial" pitchFamily="34" charset="0"/>
                <a:ea typeface="Arial" pitchFamily="34" charset="-122"/>
                <a:cs typeface="Arial" pitchFamily="34" charset="-120"/>
              </a:rPr>
              <a:t>THE CONDUCTOR ANALOGY</a:t>
            </a:r>
            <a:endParaRPr lang="en-US" sz="900" dirty="0"/>
          </a:p>
        </p:txBody>
      </p:sp>
      <p:sp>
        <p:nvSpPr>
          <p:cNvPr id="4" name="Text 2"/>
          <p:cNvSpPr/>
          <p:nvPr/>
        </p:nvSpPr>
        <p:spPr>
          <a:xfrm>
            <a:off x="381000" y="874961"/>
            <a:ext cx="8549640" cy="295275"/>
          </a:xfrm>
          <a:prstGeom prst="rect">
            <a:avLst/>
          </a:prstGeom>
          <a:noFill/>
          <a:ln/>
        </p:spPr>
        <p:txBody>
          <a:bodyPr wrap="square" lIns="0" tIns="0" rIns="0" bIns="0" rtlCol="0" anchor="t"/>
          <a:lstStyle/>
          <a:p>
            <a:pPr algn="l" indent="0" marL="0">
              <a:spcAft>
                <a:spcPts val="1200"/>
              </a:spcAft>
              <a:buNone/>
            </a:pPr>
            <a:r>
              <a:rPr lang="en-US" sz="2000" dirty="0">
                <a:solidFill>
                  <a:srgbClr val="FFFFFF"/>
                </a:solidFill>
                <a:latin typeface="Arial" pitchFamily="34" charset="0"/>
                <a:ea typeface="Arial" pitchFamily="34" charset="-122"/>
                <a:cs typeface="Arial" pitchFamily="34" charset="-120"/>
              </a:rPr>
              <a:t>You Are the </a:t>
            </a:r>
            <a:pPr algn="l" indent="0" marL="0">
              <a:spcAft>
                <a:spcPts val="1200"/>
              </a:spcAft>
              <a:buNone/>
            </a:pPr>
            <a:r>
              <a:rPr lang="en-US" sz="2000" b="1" dirty="0">
                <a:solidFill>
                  <a:srgbClr val="9B59B6"/>
                </a:solidFill>
                <a:latin typeface="Arial" pitchFamily="34" charset="0"/>
                <a:ea typeface="Arial" pitchFamily="34" charset="-122"/>
                <a:cs typeface="Arial" pitchFamily="34" charset="-120"/>
              </a:rPr>
              <a:t>Conductor</a:t>
            </a:r>
            <a:pPr algn="l" indent="0" marL="0">
              <a:spcAft>
                <a:spcPts val="1200"/>
              </a:spcAft>
              <a:buNone/>
            </a:pPr>
            <a:r>
              <a:rPr lang="en-US" sz="2000" dirty="0">
                <a:solidFill>
                  <a:srgbClr val="FFFFFF"/>
                </a:solidFill>
                <a:latin typeface="Arial" pitchFamily="34" charset="0"/>
                <a:ea typeface="Arial" pitchFamily="34" charset="-122"/>
                <a:cs typeface="Arial" pitchFamily="34" charset="-120"/>
              </a:rPr>
              <a:t> — Claude is the Orchestra</a:t>
            </a:r>
            <a:endParaRPr lang="en-US" sz="2000" dirty="0"/>
          </a:p>
        </p:txBody>
      </p:sp>
      <p:sp>
        <p:nvSpPr>
          <p:cNvPr id="5" name="Text 3"/>
          <p:cNvSpPr/>
          <p:nvPr/>
        </p:nvSpPr>
        <p:spPr>
          <a:xfrm>
            <a:off x="381000" y="1322636"/>
            <a:ext cx="3048000" cy="3269605"/>
          </a:xfrm>
          <a:prstGeom prst="rect">
            <a:avLst/>
          </a:prstGeom>
          <a:solidFill>
            <a:srgbClr val="9B59B6">
              <a:alpha val="10000"/>
            </a:srgbClr>
          </a:solidFill>
          <a:ln w="9525">
            <a:solidFill>
              <a:srgbClr val="9B59B6"/>
            </a:solidFill>
          </a:ln>
        </p:spPr>
        <p:txBody>
          <a:bodyPr wrap="square" rtlCol="0" anchor="ctr"/>
          <a:lstStyle/>
          <a:p>
            <a:pPr indent="0" marL="0">
              <a:buNone/>
            </a:pPr>
            <a:endParaRPr lang="en-US" dirty="0"/>
          </a:p>
        </p:txBody>
      </p:sp>
      <p:sp>
        <p:nvSpPr>
          <p:cNvPr id="6" name="Text 4"/>
          <p:cNvSpPr/>
          <p:nvPr/>
        </p:nvSpPr>
        <p:spPr>
          <a:xfrm>
            <a:off x="542925" y="1611511"/>
            <a:ext cx="2778633" cy="209550"/>
          </a:xfrm>
          <a:prstGeom prst="rect">
            <a:avLst/>
          </a:prstGeom>
          <a:noFill/>
          <a:ln/>
        </p:spPr>
        <p:txBody>
          <a:bodyPr wrap="square" lIns="0" tIns="0" rIns="0" bIns="0" rtlCol="0" anchor="t"/>
          <a:lstStyle/>
          <a:p>
            <a:pPr algn="l" indent="0" marL="0">
              <a:spcBef>
                <a:spcPts val="1000"/>
              </a:spcBef>
              <a:spcAft>
                <a:spcPts val="800"/>
              </a:spcAft>
              <a:buNone/>
            </a:pPr>
            <a:r>
              <a:rPr lang="en-US" sz="1000" b="1" dirty="0">
                <a:solidFill>
                  <a:srgbClr val="9B59B6"/>
                </a:solidFill>
                <a:latin typeface="Arial" pitchFamily="34" charset="0"/>
                <a:ea typeface="Arial" pitchFamily="34" charset="-122"/>
                <a:cs typeface="Arial" pitchFamily="34" charset="-120"/>
              </a:rPr>
              <a:t>🎼 ORCHESTRA → PAI</a:t>
            </a:r>
            <a:endParaRPr lang="en-US" sz="1000" dirty="0"/>
          </a:p>
        </p:txBody>
      </p:sp>
      <p:sp>
        <p:nvSpPr>
          <p:cNvPr id="7" name="Text 5"/>
          <p:cNvSpPr/>
          <p:nvPr/>
        </p:nvSpPr>
        <p:spPr>
          <a:xfrm>
            <a:off x="542925" y="2049512"/>
            <a:ext cx="1165860" cy="142875"/>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F1C40F"/>
                </a:solidFill>
                <a:latin typeface="Arial" pitchFamily="34" charset="0"/>
                <a:ea typeface="Arial" pitchFamily="34" charset="-122"/>
                <a:cs typeface="Arial" pitchFamily="34" charset="-120"/>
              </a:rPr>
              <a:t>Conductor</a:t>
            </a:r>
            <a:endParaRPr lang="en-US" sz="1000" dirty="0"/>
          </a:p>
        </p:txBody>
      </p:sp>
      <p:sp>
        <p:nvSpPr>
          <p:cNvPr id="8" name="Text 6"/>
          <p:cNvSpPr/>
          <p:nvPr/>
        </p:nvSpPr>
        <p:spPr>
          <a:xfrm>
            <a:off x="1787426" y="2049512"/>
            <a:ext cx="129641" cy="142875"/>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9B59B6"/>
                </a:solidFill>
                <a:latin typeface="Arial" pitchFamily="34" charset="0"/>
                <a:ea typeface="Arial" pitchFamily="34" charset="-122"/>
                <a:cs typeface="Arial" pitchFamily="34" charset="-120"/>
              </a:rPr>
              <a:t>→</a:t>
            </a:r>
            <a:endParaRPr lang="en-US" sz="1000" dirty="0"/>
          </a:p>
        </p:txBody>
      </p:sp>
      <p:sp>
        <p:nvSpPr>
          <p:cNvPr id="9" name="Text 7"/>
          <p:cNvSpPr/>
          <p:nvPr/>
        </p:nvSpPr>
        <p:spPr>
          <a:xfrm>
            <a:off x="2016026" y="2049512"/>
            <a:ext cx="1017547" cy="142875"/>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E0E0E0"/>
                </a:solidFill>
                <a:latin typeface="Arial" pitchFamily="34" charset="0"/>
                <a:ea typeface="Arial" pitchFamily="34" charset="-122"/>
                <a:cs typeface="Arial" pitchFamily="34" charset="-120"/>
              </a:rPr>
              <a:t>You (the clinician)</a:t>
            </a:r>
            <a:endParaRPr lang="en-US" sz="1000" dirty="0"/>
          </a:p>
        </p:txBody>
      </p:sp>
      <p:sp>
        <p:nvSpPr>
          <p:cNvPr id="10" name="Text 8"/>
          <p:cNvSpPr/>
          <p:nvPr/>
        </p:nvSpPr>
        <p:spPr>
          <a:xfrm>
            <a:off x="542925" y="2522488"/>
            <a:ext cx="1165860" cy="142875"/>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F1C40F"/>
                </a:solidFill>
                <a:latin typeface="Arial" pitchFamily="34" charset="0"/>
                <a:ea typeface="Arial" pitchFamily="34" charset="-122"/>
                <a:cs typeface="Arial" pitchFamily="34" charset="-120"/>
              </a:rPr>
              <a:t>Orchestra</a:t>
            </a:r>
            <a:endParaRPr lang="en-US" sz="1000" dirty="0"/>
          </a:p>
        </p:txBody>
      </p:sp>
      <p:sp>
        <p:nvSpPr>
          <p:cNvPr id="11" name="Text 9"/>
          <p:cNvSpPr/>
          <p:nvPr/>
        </p:nvSpPr>
        <p:spPr>
          <a:xfrm>
            <a:off x="1787426" y="2522488"/>
            <a:ext cx="129641" cy="142875"/>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9B59B6"/>
                </a:solidFill>
                <a:latin typeface="Arial" pitchFamily="34" charset="0"/>
                <a:ea typeface="Arial" pitchFamily="34" charset="-122"/>
                <a:cs typeface="Arial" pitchFamily="34" charset="-120"/>
              </a:rPr>
              <a:t>→</a:t>
            </a:r>
            <a:endParaRPr lang="en-US" sz="1000" dirty="0"/>
          </a:p>
        </p:txBody>
      </p:sp>
      <p:sp>
        <p:nvSpPr>
          <p:cNvPr id="12" name="Text 10"/>
          <p:cNvSpPr/>
          <p:nvPr/>
        </p:nvSpPr>
        <p:spPr>
          <a:xfrm>
            <a:off x="2016026" y="2522488"/>
            <a:ext cx="1213223" cy="142875"/>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E0E0E0"/>
                </a:solidFill>
                <a:latin typeface="Arial" pitchFamily="34" charset="0"/>
                <a:ea typeface="Arial" pitchFamily="34" charset="-122"/>
                <a:cs typeface="Arial" pitchFamily="34" charset="-120"/>
              </a:rPr>
              <a:t>Claude + Agent team</a:t>
            </a:r>
            <a:endParaRPr lang="en-US" sz="1000" dirty="0"/>
          </a:p>
        </p:txBody>
      </p:sp>
      <p:sp>
        <p:nvSpPr>
          <p:cNvPr id="13" name="Text 11"/>
          <p:cNvSpPr/>
          <p:nvPr/>
        </p:nvSpPr>
        <p:spPr>
          <a:xfrm>
            <a:off x="542925" y="2995464"/>
            <a:ext cx="1165860" cy="142875"/>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F1C40F"/>
                </a:solidFill>
                <a:latin typeface="Arial" pitchFamily="34" charset="0"/>
                <a:ea typeface="Arial" pitchFamily="34" charset="-122"/>
                <a:cs typeface="Arial" pitchFamily="34" charset="-120"/>
              </a:rPr>
              <a:t>Score / Music</a:t>
            </a:r>
            <a:endParaRPr lang="en-US" sz="1000" dirty="0"/>
          </a:p>
        </p:txBody>
      </p:sp>
      <p:sp>
        <p:nvSpPr>
          <p:cNvPr id="14" name="Text 12"/>
          <p:cNvSpPr/>
          <p:nvPr/>
        </p:nvSpPr>
        <p:spPr>
          <a:xfrm>
            <a:off x="1787426" y="2995464"/>
            <a:ext cx="129641" cy="142875"/>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9B59B6"/>
                </a:solidFill>
                <a:latin typeface="Arial" pitchFamily="34" charset="0"/>
                <a:ea typeface="Arial" pitchFamily="34" charset="-122"/>
                <a:cs typeface="Arial" pitchFamily="34" charset="-120"/>
              </a:rPr>
              <a:t>→</a:t>
            </a:r>
            <a:endParaRPr lang="en-US" sz="1000" dirty="0"/>
          </a:p>
        </p:txBody>
      </p:sp>
      <p:sp>
        <p:nvSpPr>
          <p:cNvPr id="15" name="Text 13"/>
          <p:cNvSpPr/>
          <p:nvPr/>
        </p:nvSpPr>
        <p:spPr>
          <a:xfrm>
            <a:off x="2016026" y="2995464"/>
            <a:ext cx="1191060" cy="142875"/>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E0E0E0"/>
                </a:solidFill>
                <a:latin typeface="Arial" pitchFamily="34" charset="0"/>
                <a:ea typeface="Arial" pitchFamily="34" charset="-122"/>
                <a:cs typeface="Arial" pitchFamily="34" charset="-120"/>
              </a:rPr>
              <a:t>CLAUDE.md + Skills</a:t>
            </a:r>
            <a:endParaRPr lang="en-US" sz="1000" dirty="0"/>
          </a:p>
        </p:txBody>
      </p:sp>
      <p:sp>
        <p:nvSpPr>
          <p:cNvPr id="16" name="Text 14"/>
          <p:cNvSpPr/>
          <p:nvPr/>
        </p:nvSpPr>
        <p:spPr>
          <a:xfrm>
            <a:off x="542925" y="3468439"/>
            <a:ext cx="1165860" cy="285750"/>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F1C40F"/>
                </a:solidFill>
                <a:latin typeface="Arial" pitchFamily="34" charset="0"/>
                <a:ea typeface="Arial" pitchFamily="34" charset="-122"/>
                <a:cs typeface="Arial" pitchFamily="34" charset="-120"/>
              </a:rPr>
              <a:t>Instruments</a:t>
            </a:r>
            <a:endParaRPr lang="en-US" sz="1000" dirty="0"/>
          </a:p>
        </p:txBody>
      </p:sp>
      <p:sp>
        <p:nvSpPr>
          <p:cNvPr id="17" name="Text 15"/>
          <p:cNvSpPr/>
          <p:nvPr/>
        </p:nvSpPr>
        <p:spPr>
          <a:xfrm>
            <a:off x="1787426" y="3468439"/>
            <a:ext cx="129641" cy="285750"/>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9B59B6"/>
                </a:solidFill>
                <a:latin typeface="Arial" pitchFamily="34" charset="0"/>
                <a:ea typeface="Arial" pitchFamily="34" charset="-122"/>
                <a:cs typeface="Arial" pitchFamily="34" charset="-120"/>
              </a:rPr>
              <a:t>→</a:t>
            </a:r>
            <a:endParaRPr lang="en-US" sz="1000" dirty="0"/>
          </a:p>
        </p:txBody>
      </p:sp>
      <p:sp>
        <p:nvSpPr>
          <p:cNvPr id="18" name="Text 16"/>
          <p:cNvSpPr/>
          <p:nvPr/>
        </p:nvSpPr>
        <p:spPr>
          <a:xfrm>
            <a:off x="2016026" y="3468439"/>
            <a:ext cx="1276070" cy="285750"/>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E0E0E0"/>
                </a:solidFill>
                <a:latin typeface="Arial" pitchFamily="34" charset="0"/>
                <a:ea typeface="Arial" pitchFamily="34" charset="-122"/>
                <a:cs typeface="Arial" pitchFamily="34" charset="-120"/>
              </a:rPr>
              <a:t>MCP tools (PubMed…)</a:t>
            </a:r>
            <a:endParaRPr lang="en-US" sz="1000" dirty="0"/>
          </a:p>
        </p:txBody>
      </p:sp>
      <p:sp>
        <p:nvSpPr>
          <p:cNvPr id="19" name="Text 17"/>
          <p:cNvSpPr/>
          <p:nvPr/>
        </p:nvSpPr>
        <p:spPr>
          <a:xfrm>
            <a:off x="542925" y="4084290"/>
            <a:ext cx="1165860" cy="142875"/>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F1C40F"/>
                </a:solidFill>
                <a:latin typeface="Arial" pitchFamily="34" charset="0"/>
                <a:ea typeface="Arial" pitchFamily="34" charset="-122"/>
                <a:cs typeface="Arial" pitchFamily="34" charset="-120"/>
              </a:rPr>
              <a:t>Performance</a:t>
            </a:r>
            <a:endParaRPr lang="en-US" sz="1000" dirty="0"/>
          </a:p>
        </p:txBody>
      </p:sp>
      <p:sp>
        <p:nvSpPr>
          <p:cNvPr id="20" name="Text 18"/>
          <p:cNvSpPr/>
          <p:nvPr/>
        </p:nvSpPr>
        <p:spPr>
          <a:xfrm>
            <a:off x="1787426" y="4084290"/>
            <a:ext cx="129641" cy="142875"/>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9B59B6"/>
                </a:solidFill>
                <a:latin typeface="Arial" pitchFamily="34" charset="0"/>
                <a:ea typeface="Arial" pitchFamily="34" charset="-122"/>
                <a:cs typeface="Arial" pitchFamily="34" charset="-120"/>
              </a:rPr>
              <a:t>→</a:t>
            </a:r>
            <a:endParaRPr lang="en-US" sz="1000" dirty="0"/>
          </a:p>
        </p:txBody>
      </p:sp>
      <p:sp>
        <p:nvSpPr>
          <p:cNvPr id="21" name="Text 19"/>
          <p:cNvSpPr/>
          <p:nvPr/>
        </p:nvSpPr>
        <p:spPr>
          <a:xfrm>
            <a:off x="2016026" y="4084290"/>
            <a:ext cx="950449" cy="142875"/>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E0E0E0"/>
                </a:solidFill>
                <a:latin typeface="Arial" pitchFamily="34" charset="0"/>
                <a:ea typeface="Arial" pitchFamily="34" charset="-122"/>
                <a:cs typeface="Arial" pitchFamily="34" charset="-120"/>
              </a:rPr>
              <a:t>Research output</a:t>
            </a:r>
            <a:endParaRPr lang="en-US" sz="1000" dirty="0"/>
          </a:p>
        </p:txBody>
      </p:sp>
      <p:sp>
        <p:nvSpPr>
          <p:cNvPr id="22" name="Text 20"/>
          <p:cNvSpPr/>
          <p:nvPr/>
        </p:nvSpPr>
        <p:spPr>
          <a:xfrm>
            <a:off x="3632150" y="1424136"/>
            <a:ext cx="5233467" cy="114300"/>
          </a:xfrm>
          <a:prstGeom prst="rect">
            <a:avLst/>
          </a:prstGeom>
          <a:noFill/>
          <a:ln/>
        </p:spPr>
        <p:txBody>
          <a:bodyPr wrap="square" lIns="0" tIns="0" rIns="0" bIns="0" rtlCol="0" anchor="t"/>
          <a:lstStyle/>
          <a:p>
            <a:pPr algn="l" indent="0" marL="0">
              <a:spcBef>
                <a:spcPts val="800"/>
              </a:spcBef>
              <a:spcAft>
                <a:spcPts val="800"/>
              </a:spcAft>
              <a:buNone/>
            </a:pPr>
            <a:r>
              <a:rPr lang="en-US" sz="800" dirty="0">
                <a:solidFill>
                  <a:srgbClr val="8B8B8B"/>
                </a:solidFill>
                <a:latin typeface="Arial" pitchFamily="34" charset="0"/>
                <a:ea typeface="Arial" pitchFamily="34" charset="-122"/>
                <a:cs typeface="Arial" pitchFamily="34" charset="-120"/>
              </a:rPr>
              <a:t>DATA FLOW IN PAI</a:t>
            </a:r>
            <a:endParaRPr lang="en-US" sz="800" dirty="0"/>
          </a:p>
        </p:txBody>
      </p:sp>
      <p:sp>
        <p:nvSpPr>
          <p:cNvPr id="23" name="Text 21"/>
          <p:cNvSpPr/>
          <p:nvPr/>
        </p:nvSpPr>
        <p:spPr>
          <a:xfrm>
            <a:off x="3632150" y="1639937"/>
            <a:ext cx="1507034" cy="761702"/>
          </a:xfrm>
          <a:prstGeom prst="rect">
            <a:avLst/>
          </a:prstGeom>
          <a:solidFill>
            <a:srgbClr val="00D4FF">
              <a:alpha val="10000"/>
            </a:srgbClr>
          </a:solidFill>
          <a:ln w="9525">
            <a:solidFill>
              <a:srgbClr val="00D4FF"/>
            </a:solidFill>
          </a:ln>
        </p:spPr>
        <p:txBody>
          <a:bodyPr wrap="square" rtlCol="0" anchor="ctr"/>
          <a:lstStyle/>
          <a:p>
            <a:pPr indent="0" marL="0">
              <a:buNone/>
            </a:pPr>
            <a:endParaRPr lang="en-US" dirty="0"/>
          </a:p>
        </p:txBody>
      </p:sp>
      <p:sp>
        <p:nvSpPr>
          <p:cNvPr id="24" name="Text 22"/>
          <p:cNvSpPr/>
          <p:nvPr/>
        </p:nvSpPr>
        <p:spPr>
          <a:xfrm>
            <a:off x="3730326" y="1852612"/>
            <a:ext cx="1310682" cy="133350"/>
          </a:xfrm>
          <a:prstGeom prst="rect">
            <a:avLst/>
          </a:prstGeom>
          <a:noFill/>
          <a:ln/>
        </p:spPr>
        <p:txBody>
          <a:bodyPr wrap="square" lIns="0" tIns="0" rIns="0" bIns="0" rtlCol="0" anchor="t"/>
          <a:lstStyle/>
          <a:p>
            <a:pPr algn="ctr" indent="0" marL="0">
              <a:spcBef>
                <a:spcPts val="900"/>
              </a:spcBef>
              <a:spcAft>
                <a:spcPts val="200"/>
              </a:spcAft>
              <a:buNone/>
            </a:pPr>
            <a:r>
              <a:rPr lang="en-US" sz="900" b="1" dirty="0">
                <a:solidFill>
                  <a:srgbClr val="00D4FF"/>
                </a:solidFill>
                <a:latin typeface="Arial" pitchFamily="34" charset="0"/>
                <a:ea typeface="Arial" pitchFamily="34" charset="-122"/>
                <a:cs typeface="Arial" pitchFamily="34" charset="-120"/>
              </a:rPr>
              <a:t>USER INTENT</a:t>
            </a:r>
            <a:endParaRPr lang="en-US" sz="900" dirty="0"/>
          </a:p>
        </p:txBody>
      </p:sp>
      <p:sp>
        <p:nvSpPr>
          <p:cNvPr id="25" name="Text 23"/>
          <p:cNvSpPr/>
          <p:nvPr/>
        </p:nvSpPr>
        <p:spPr>
          <a:xfrm>
            <a:off x="3730326" y="2087463"/>
            <a:ext cx="1310682" cy="114300"/>
          </a:xfrm>
          <a:prstGeom prst="rect">
            <a:avLst/>
          </a:prstGeom>
          <a:noFill/>
          <a:ln/>
        </p:spPr>
        <p:txBody>
          <a:bodyPr wrap="square" lIns="0" tIns="0" rIns="0" bIns="0" rtlCol="0" anchor="t"/>
          <a:lstStyle/>
          <a:p>
            <a:pPr algn="ctr" indent="0" marL="0">
              <a:spcBef>
                <a:spcPts val="800"/>
              </a:spcBef>
              <a:spcAft>
                <a:spcPts val="800"/>
              </a:spcAft>
              <a:buNone/>
            </a:pPr>
            <a:r>
              <a:rPr lang="en-US" sz="800" dirty="0">
                <a:solidFill>
                  <a:srgbClr val="8B8B8B"/>
                </a:solidFill>
                <a:latin typeface="Arial" pitchFamily="34" charset="0"/>
                <a:ea typeface="Arial" pitchFamily="34" charset="-122"/>
                <a:cs typeface="Arial" pitchFamily="34" charset="-120"/>
              </a:rPr>
              <a:t>Your goal / task</a:t>
            </a:r>
            <a:endParaRPr lang="en-US" sz="800" dirty="0"/>
          </a:p>
        </p:txBody>
      </p:sp>
      <p:sp>
        <p:nvSpPr>
          <p:cNvPr id="26" name="Text 24"/>
          <p:cNvSpPr/>
          <p:nvPr/>
        </p:nvSpPr>
        <p:spPr>
          <a:xfrm>
            <a:off x="5215384" y="1935063"/>
            <a:ext cx="155448" cy="171450"/>
          </a:xfrm>
          <a:prstGeom prst="rect">
            <a:avLst/>
          </a:prstGeom>
          <a:noFill/>
          <a:ln/>
        </p:spPr>
        <p:txBody>
          <a:bodyPr wrap="square" lIns="0" tIns="0" rIns="0" bIns="0" rtlCol="0" anchor="t"/>
          <a:lstStyle/>
          <a:p>
            <a:pPr algn="l" indent="0" marL="0">
              <a:spcBef>
                <a:spcPts val="1200"/>
              </a:spcBef>
              <a:spcAft>
                <a:spcPts val="1200"/>
              </a:spcAft>
              <a:buNone/>
            </a:pPr>
            <a:r>
              <a:rPr lang="en-US" sz="1200" dirty="0">
                <a:solidFill>
                  <a:srgbClr val="FFFFFF"/>
                </a:solidFill>
                <a:latin typeface="Arial" pitchFamily="34" charset="0"/>
                <a:ea typeface="Arial" pitchFamily="34" charset="-122"/>
                <a:cs typeface="Arial" pitchFamily="34" charset="-120"/>
              </a:rPr>
              <a:t>→</a:t>
            </a:r>
            <a:endParaRPr lang="en-US" sz="1200" dirty="0"/>
          </a:p>
        </p:txBody>
      </p:sp>
      <p:sp>
        <p:nvSpPr>
          <p:cNvPr id="27" name="Text 25"/>
          <p:cNvSpPr/>
          <p:nvPr/>
        </p:nvSpPr>
        <p:spPr>
          <a:xfrm>
            <a:off x="5443984" y="1639937"/>
            <a:ext cx="1507182" cy="761702"/>
          </a:xfrm>
          <a:prstGeom prst="rect">
            <a:avLst/>
          </a:prstGeom>
          <a:solidFill>
            <a:srgbClr val="9B59B6">
              <a:alpha val="10000"/>
            </a:srgbClr>
          </a:solidFill>
          <a:ln w="9525">
            <a:solidFill>
              <a:srgbClr val="9B59B6"/>
            </a:solidFill>
          </a:ln>
        </p:spPr>
        <p:txBody>
          <a:bodyPr wrap="square" rtlCol="0" anchor="ctr"/>
          <a:lstStyle/>
          <a:p>
            <a:pPr indent="0" marL="0">
              <a:buNone/>
            </a:pPr>
            <a:endParaRPr lang="en-US" dirty="0"/>
          </a:p>
        </p:txBody>
      </p:sp>
      <p:sp>
        <p:nvSpPr>
          <p:cNvPr id="28" name="Text 26"/>
          <p:cNvSpPr/>
          <p:nvPr/>
        </p:nvSpPr>
        <p:spPr>
          <a:xfrm>
            <a:off x="5542158" y="1852612"/>
            <a:ext cx="1310833" cy="133350"/>
          </a:xfrm>
          <a:prstGeom prst="rect">
            <a:avLst/>
          </a:prstGeom>
          <a:noFill/>
          <a:ln/>
        </p:spPr>
        <p:txBody>
          <a:bodyPr wrap="square" lIns="0" tIns="0" rIns="0" bIns="0" rtlCol="0" anchor="t"/>
          <a:lstStyle/>
          <a:p>
            <a:pPr algn="ctr" indent="0" marL="0">
              <a:spcBef>
                <a:spcPts val="900"/>
              </a:spcBef>
              <a:spcAft>
                <a:spcPts val="200"/>
              </a:spcAft>
              <a:buNone/>
            </a:pPr>
            <a:r>
              <a:rPr lang="en-US" sz="900" b="1" dirty="0">
                <a:solidFill>
                  <a:srgbClr val="9B59B6"/>
                </a:solidFill>
                <a:latin typeface="Arial" pitchFamily="34" charset="0"/>
                <a:ea typeface="Arial" pitchFamily="34" charset="-122"/>
                <a:cs typeface="Arial" pitchFamily="34" charset="-120"/>
              </a:rPr>
              <a:t>SKILL ROUTER</a:t>
            </a:r>
            <a:endParaRPr lang="en-US" sz="900" dirty="0"/>
          </a:p>
        </p:txBody>
      </p:sp>
      <p:sp>
        <p:nvSpPr>
          <p:cNvPr id="29" name="Text 27"/>
          <p:cNvSpPr/>
          <p:nvPr/>
        </p:nvSpPr>
        <p:spPr>
          <a:xfrm>
            <a:off x="5542158" y="2087463"/>
            <a:ext cx="1310833" cy="114300"/>
          </a:xfrm>
          <a:prstGeom prst="rect">
            <a:avLst/>
          </a:prstGeom>
          <a:noFill/>
          <a:ln/>
        </p:spPr>
        <p:txBody>
          <a:bodyPr wrap="square" lIns="0" tIns="0" rIns="0" bIns="0" rtlCol="0" anchor="t"/>
          <a:lstStyle/>
          <a:p>
            <a:pPr algn="ctr" indent="0" marL="0">
              <a:spcBef>
                <a:spcPts val="800"/>
              </a:spcBef>
              <a:spcAft>
                <a:spcPts val="800"/>
              </a:spcAft>
              <a:buNone/>
            </a:pPr>
            <a:r>
              <a:rPr lang="en-US" sz="800" dirty="0">
                <a:solidFill>
                  <a:srgbClr val="8B8B8B"/>
                </a:solidFill>
                <a:latin typeface="Arial" pitchFamily="34" charset="0"/>
                <a:ea typeface="Arial" pitchFamily="34" charset="-122"/>
                <a:cs typeface="Arial" pitchFamily="34" charset="-120"/>
              </a:rPr>
              <a:t>Right workflow</a:t>
            </a:r>
            <a:endParaRPr lang="en-US" sz="800" dirty="0"/>
          </a:p>
        </p:txBody>
      </p:sp>
      <p:sp>
        <p:nvSpPr>
          <p:cNvPr id="30" name="Text 28"/>
          <p:cNvSpPr/>
          <p:nvPr/>
        </p:nvSpPr>
        <p:spPr>
          <a:xfrm>
            <a:off x="7027366" y="1935063"/>
            <a:ext cx="155448" cy="171450"/>
          </a:xfrm>
          <a:prstGeom prst="rect">
            <a:avLst/>
          </a:prstGeom>
          <a:noFill/>
          <a:ln/>
        </p:spPr>
        <p:txBody>
          <a:bodyPr wrap="square" lIns="0" tIns="0" rIns="0" bIns="0" rtlCol="0" anchor="t"/>
          <a:lstStyle/>
          <a:p>
            <a:pPr algn="l" indent="0" marL="0">
              <a:spcBef>
                <a:spcPts val="1200"/>
              </a:spcBef>
              <a:spcAft>
                <a:spcPts val="1200"/>
              </a:spcAft>
              <a:buNone/>
            </a:pPr>
            <a:r>
              <a:rPr lang="en-US" sz="1200" dirty="0">
                <a:solidFill>
                  <a:srgbClr val="FFFFFF"/>
                </a:solidFill>
                <a:latin typeface="Arial" pitchFamily="34" charset="0"/>
                <a:ea typeface="Arial" pitchFamily="34" charset="-122"/>
                <a:cs typeface="Arial" pitchFamily="34" charset="-120"/>
              </a:rPr>
              <a:t>→</a:t>
            </a:r>
            <a:endParaRPr lang="en-US" sz="1200" dirty="0"/>
          </a:p>
        </p:txBody>
      </p:sp>
      <p:sp>
        <p:nvSpPr>
          <p:cNvPr id="31" name="Text 29"/>
          <p:cNvSpPr/>
          <p:nvPr/>
        </p:nvSpPr>
        <p:spPr>
          <a:xfrm>
            <a:off x="7255966" y="1639937"/>
            <a:ext cx="1507034" cy="761702"/>
          </a:xfrm>
          <a:prstGeom prst="rect">
            <a:avLst/>
          </a:prstGeom>
          <a:solidFill>
            <a:srgbClr val="2ECC71">
              <a:alpha val="10000"/>
            </a:srgbClr>
          </a:solidFill>
          <a:ln w="9525">
            <a:solidFill>
              <a:srgbClr val="2ECC71"/>
            </a:solidFill>
          </a:ln>
        </p:spPr>
        <p:txBody>
          <a:bodyPr wrap="square" rtlCol="0" anchor="ctr"/>
          <a:lstStyle/>
          <a:p>
            <a:pPr indent="0" marL="0">
              <a:buNone/>
            </a:pPr>
            <a:endParaRPr lang="en-US" dirty="0"/>
          </a:p>
        </p:txBody>
      </p:sp>
      <p:sp>
        <p:nvSpPr>
          <p:cNvPr id="32" name="Text 30"/>
          <p:cNvSpPr/>
          <p:nvPr/>
        </p:nvSpPr>
        <p:spPr>
          <a:xfrm>
            <a:off x="7354142" y="1852612"/>
            <a:ext cx="1310682" cy="133350"/>
          </a:xfrm>
          <a:prstGeom prst="rect">
            <a:avLst/>
          </a:prstGeom>
          <a:noFill/>
          <a:ln/>
        </p:spPr>
        <p:txBody>
          <a:bodyPr wrap="square" lIns="0" tIns="0" rIns="0" bIns="0" rtlCol="0" anchor="t"/>
          <a:lstStyle/>
          <a:p>
            <a:pPr algn="ctr" indent="0" marL="0">
              <a:spcBef>
                <a:spcPts val="900"/>
              </a:spcBef>
              <a:spcAft>
                <a:spcPts val="200"/>
              </a:spcAft>
              <a:buNone/>
            </a:pPr>
            <a:r>
              <a:rPr lang="en-US" sz="900" b="1" dirty="0">
                <a:solidFill>
                  <a:srgbClr val="2ECC71"/>
                </a:solidFill>
                <a:latin typeface="Arial" pitchFamily="34" charset="0"/>
                <a:ea typeface="Arial" pitchFamily="34" charset="-122"/>
                <a:cs typeface="Arial" pitchFamily="34" charset="-120"/>
              </a:rPr>
              <a:t>MEMORY</a:t>
            </a:r>
            <a:endParaRPr lang="en-US" sz="900" dirty="0"/>
          </a:p>
        </p:txBody>
      </p:sp>
      <p:sp>
        <p:nvSpPr>
          <p:cNvPr id="33" name="Text 31"/>
          <p:cNvSpPr/>
          <p:nvPr/>
        </p:nvSpPr>
        <p:spPr>
          <a:xfrm>
            <a:off x="7354142" y="2087463"/>
            <a:ext cx="1310682" cy="114300"/>
          </a:xfrm>
          <a:prstGeom prst="rect">
            <a:avLst/>
          </a:prstGeom>
          <a:noFill/>
          <a:ln/>
        </p:spPr>
        <p:txBody>
          <a:bodyPr wrap="square" lIns="0" tIns="0" rIns="0" bIns="0" rtlCol="0" anchor="t"/>
          <a:lstStyle/>
          <a:p>
            <a:pPr algn="ctr" indent="0" marL="0">
              <a:spcBef>
                <a:spcPts val="800"/>
              </a:spcBef>
              <a:spcAft>
                <a:spcPts val="800"/>
              </a:spcAft>
              <a:buNone/>
            </a:pPr>
            <a:r>
              <a:rPr lang="en-US" sz="800" dirty="0">
                <a:solidFill>
                  <a:srgbClr val="8B8B8B"/>
                </a:solidFill>
                <a:latin typeface="Arial" pitchFamily="34" charset="0"/>
                <a:ea typeface="Arial" pitchFamily="34" charset="-122"/>
                <a:cs typeface="Arial" pitchFamily="34" charset="-120"/>
              </a:rPr>
              <a:t>Context &amp; prefs</a:t>
            </a:r>
            <a:endParaRPr lang="en-US" sz="800" dirty="0"/>
          </a:p>
        </p:txBody>
      </p:sp>
      <p:sp>
        <p:nvSpPr>
          <p:cNvPr id="34" name="Text 32"/>
          <p:cNvSpPr/>
          <p:nvPr/>
        </p:nvSpPr>
        <p:spPr>
          <a:xfrm>
            <a:off x="3632150" y="2503140"/>
            <a:ext cx="1507034" cy="761702"/>
          </a:xfrm>
          <a:prstGeom prst="rect">
            <a:avLst/>
          </a:prstGeom>
          <a:solidFill>
            <a:srgbClr val="F1C40F">
              <a:alpha val="10000"/>
            </a:srgbClr>
          </a:solidFill>
          <a:ln w="9525">
            <a:solidFill>
              <a:srgbClr val="F1C40F"/>
            </a:solidFill>
          </a:ln>
        </p:spPr>
        <p:txBody>
          <a:bodyPr wrap="square" rtlCol="0" anchor="ctr"/>
          <a:lstStyle/>
          <a:p>
            <a:pPr indent="0" marL="0">
              <a:buNone/>
            </a:pPr>
            <a:endParaRPr lang="en-US" dirty="0"/>
          </a:p>
        </p:txBody>
      </p:sp>
      <p:sp>
        <p:nvSpPr>
          <p:cNvPr id="35" name="Text 33"/>
          <p:cNvSpPr/>
          <p:nvPr/>
        </p:nvSpPr>
        <p:spPr>
          <a:xfrm>
            <a:off x="3730326" y="2715816"/>
            <a:ext cx="1310682" cy="133350"/>
          </a:xfrm>
          <a:prstGeom prst="rect">
            <a:avLst/>
          </a:prstGeom>
          <a:noFill/>
          <a:ln/>
        </p:spPr>
        <p:txBody>
          <a:bodyPr wrap="square" lIns="0" tIns="0" rIns="0" bIns="0" rtlCol="0" anchor="t"/>
          <a:lstStyle/>
          <a:p>
            <a:pPr algn="ctr" indent="0" marL="0">
              <a:spcBef>
                <a:spcPts val="900"/>
              </a:spcBef>
              <a:spcAft>
                <a:spcPts val="200"/>
              </a:spcAft>
              <a:buNone/>
            </a:pPr>
            <a:r>
              <a:rPr lang="en-US" sz="900" b="1" dirty="0">
                <a:solidFill>
                  <a:srgbClr val="F1C40F"/>
                </a:solidFill>
                <a:latin typeface="Arial" pitchFamily="34" charset="0"/>
                <a:ea typeface="Arial" pitchFamily="34" charset="-122"/>
                <a:cs typeface="Arial" pitchFamily="34" charset="-120"/>
              </a:rPr>
              <a:t>MCP TOOLS</a:t>
            </a:r>
            <a:endParaRPr lang="en-US" sz="900" dirty="0"/>
          </a:p>
        </p:txBody>
      </p:sp>
      <p:sp>
        <p:nvSpPr>
          <p:cNvPr id="36" name="Text 34"/>
          <p:cNvSpPr/>
          <p:nvPr/>
        </p:nvSpPr>
        <p:spPr>
          <a:xfrm>
            <a:off x="3730326" y="2950666"/>
            <a:ext cx="1310682" cy="114300"/>
          </a:xfrm>
          <a:prstGeom prst="rect">
            <a:avLst/>
          </a:prstGeom>
          <a:noFill/>
          <a:ln/>
        </p:spPr>
        <p:txBody>
          <a:bodyPr wrap="square" lIns="0" tIns="0" rIns="0" bIns="0" rtlCol="0" anchor="t"/>
          <a:lstStyle/>
          <a:p>
            <a:pPr algn="ctr" indent="0" marL="0">
              <a:spcBef>
                <a:spcPts val="800"/>
              </a:spcBef>
              <a:spcAft>
                <a:spcPts val="800"/>
              </a:spcAft>
              <a:buNone/>
            </a:pPr>
            <a:r>
              <a:rPr lang="en-US" sz="800" dirty="0">
                <a:solidFill>
                  <a:srgbClr val="8B8B8B"/>
                </a:solidFill>
                <a:latin typeface="Arial" pitchFamily="34" charset="0"/>
                <a:ea typeface="Arial" pitchFamily="34" charset="-122"/>
                <a:cs typeface="Arial" pitchFamily="34" charset="-120"/>
              </a:rPr>
              <a:t>PubMed, Telegram</a:t>
            </a:r>
            <a:endParaRPr lang="en-US" sz="800" dirty="0"/>
          </a:p>
        </p:txBody>
      </p:sp>
      <p:sp>
        <p:nvSpPr>
          <p:cNvPr id="37" name="Text 35"/>
          <p:cNvSpPr/>
          <p:nvPr/>
        </p:nvSpPr>
        <p:spPr>
          <a:xfrm>
            <a:off x="5215384" y="2798266"/>
            <a:ext cx="155448" cy="171450"/>
          </a:xfrm>
          <a:prstGeom prst="rect">
            <a:avLst/>
          </a:prstGeom>
          <a:noFill/>
          <a:ln/>
        </p:spPr>
        <p:txBody>
          <a:bodyPr wrap="square" lIns="0" tIns="0" rIns="0" bIns="0" rtlCol="0" anchor="t"/>
          <a:lstStyle/>
          <a:p>
            <a:pPr algn="l" indent="0" marL="0">
              <a:spcBef>
                <a:spcPts val="1200"/>
              </a:spcBef>
              <a:spcAft>
                <a:spcPts val="1200"/>
              </a:spcAft>
              <a:buNone/>
            </a:pPr>
            <a:r>
              <a:rPr lang="en-US" sz="1200" dirty="0">
                <a:solidFill>
                  <a:srgbClr val="FFFFFF"/>
                </a:solidFill>
                <a:latin typeface="Arial" pitchFamily="34" charset="0"/>
                <a:ea typeface="Arial" pitchFamily="34" charset="-122"/>
                <a:cs typeface="Arial" pitchFamily="34" charset="-120"/>
              </a:rPr>
              <a:t>→</a:t>
            </a:r>
            <a:endParaRPr lang="en-US" sz="1200" dirty="0"/>
          </a:p>
        </p:txBody>
      </p:sp>
      <p:sp>
        <p:nvSpPr>
          <p:cNvPr id="38" name="Text 36"/>
          <p:cNvSpPr/>
          <p:nvPr/>
        </p:nvSpPr>
        <p:spPr>
          <a:xfrm>
            <a:off x="5443984" y="2503140"/>
            <a:ext cx="1507182" cy="761702"/>
          </a:xfrm>
          <a:prstGeom prst="rect">
            <a:avLst/>
          </a:prstGeom>
          <a:solidFill>
            <a:srgbClr val="00D4FF">
              <a:alpha val="10000"/>
            </a:srgbClr>
          </a:solidFill>
          <a:ln w="9525">
            <a:solidFill>
              <a:srgbClr val="00D4FF"/>
            </a:solidFill>
          </a:ln>
        </p:spPr>
        <p:txBody>
          <a:bodyPr wrap="square" rtlCol="0" anchor="ctr"/>
          <a:lstStyle/>
          <a:p>
            <a:pPr indent="0" marL="0">
              <a:buNone/>
            </a:pPr>
            <a:endParaRPr lang="en-US" dirty="0"/>
          </a:p>
        </p:txBody>
      </p:sp>
      <p:sp>
        <p:nvSpPr>
          <p:cNvPr id="39" name="Text 37"/>
          <p:cNvSpPr/>
          <p:nvPr/>
        </p:nvSpPr>
        <p:spPr>
          <a:xfrm>
            <a:off x="5542158" y="2715816"/>
            <a:ext cx="1310833" cy="133350"/>
          </a:xfrm>
          <a:prstGeom prst="rect">
            <a:avLst/>
          </a:prstGeom>
          <a:noFill/>
          <a:ln/>
        </p:spPr>
        <p:txBody>
          <a:bodyPr wrap="square" lIns="0" tIns="0" rIns="0" bIns="0" rtlCol="0" anchor="t"/>
          <a:lstStyle/>
          <a:p>
            <a:pPr algn="ctr" indent="0" marL="0">
              <a:spcBef>
                <a:spcPts val="900"/>
              </a:spcBef>
              <a:spcAft>
                <a:spcPts val="200"/>
              </a:spcAft>
              <a:buNone/>
            </a:pPr>
            <a:r>
              <a:rPr lang="en-US" sz="900" b="1" dirty="0">
                <a:solidFill>
                  <a:srgbClr val="00D4FF"/>
                </a:solidFill>
                <a:latin typeface="Arial" pitchFamily="34" charset="0"/>
                <a:ea typeface="Arial" pitchFamily="34" charset="-122"/>
                <a:cs typeface="Arial" pitchFamily="34" charset="-120"/>
              </a:rPr>
              <a:t>CLAUDE AGENT</a:t>
            </a:r>
            <a:endParaRPr lang="en-US" sz="900" dirty="0"/>
          </a:p>
        </p:txBody>
      </p:sp>
      <p:sp>
        <p:nvSpPr>
          <p:cNvPr id="40" name="Text 38"/>
          <p:cNvSpPr/>
          <p:nvPr/>
        </p:nvSpPr>
        <p:spPr>
          <a:xfrm>
            <a:off x="5542158" y="2950666"/>
            <a:ext cx="1310833" cy="114300"/>
          </a:xfrm>
          <a:prstGeom prst="rect">
            <a:avLst/>
          </a:prstGeom>
          <a:noFill/>
          <a:ln/>
        </p:spPr>
        <p:txBody>
          <a:bodyPr wrap="square" lIns="0" tIns="0" rIns="0" bIns="0" rtlCol="0" anchor="t"/>
          <a:lstStyle/>
          <a:p>
            <a:pPr algn="ctr" indent="0" marL="0">
              <a:spcBef>
                <a:spcPts val="800"/>
              </a:spcBef>
              <a:spcAft>
                <a:spcPts val="800"/>
              </a:spcAft>
              <a:buNone/>
            </a:pPr>
            <a:r>
              <a:rPr lang="en-US" sz="800" dirty="0">
                <a:solidFill>
                  <a:srgbClr val="8B8B8B"/>
                </a:solidFill>
                <a:latin typeface="Arial" pitchFamily="34" charset="0"/>
                <a:ea typeface="Arial" pitchFamily="34" charset="-122"/>
                <a:cs typeface="Arial" pitchFamily="34" charset="-120"/>
              </a:rPr>
              <a:t>Executes + verifies</a:t>
            </a:r>
            <a:endParaRPr lang="en-US" sz="800" dirty="0"/>
          </a:p>
        </p:txBody>
      </p:sp>
      <p:sp>
        <p:nvSpPr>
          <p:cNvPr id="41" name="Text 39"/>
          <p:cNvSpPr/>
          <p:nvPr/>
        </p:nvSpPr>
        <p:spPr>
          <a:xfrm>
            <a:off x="7027366" y="2798266"/>
            <a:ext cx="155448" cy="171450"/>
          </a:xfrm>
          <a:prstGeom prst="rect">
            <a:avLst/>
          </a:prstGeom>
          <a:noFill/>
          <a:ln/>
        </p:spPr>
        <p:txBody>
          <a:bodyPr wrap="square" lIns="0" tIns="0" rIns="0" bIns="0" rtlCol="0" anchor="t"/>
          <a:lstStyle/>
          <a:p>
            <a:pPr algn="l" indent="0" marL="0">
              <a:spcBef>
                <a:spcPts val="1200"/>
              </a:spcBef>
              <a:spcAft>
                <a:spcPts val="1200"/>
              </a:spcAft>
              <a:buNone/>
            </a:pPr>
            <a:r>
              <a:rPr lang="en-US" sz="1200" dirty="0">
                <a:solidFill>
                  <a:srgbClr val="FFFFFF"/>
                </a:solidFill>
                <a:latin typeface="Arial" pitchFamily="34" charset="0"/>
                <a:ea typeface="Arial" pitchFamily="34" charset="-122"/>
                <a:cs typeface="Arial" pitchFamily="34" charset="-120"/>
              </a:rPr>
              <a:t>→</a:t>
            </a:r>
            <a:endParaRPr lang="en-US" sz="1200" dirty="0"/>
          </a:p>
        </p:txBody>
      </p:sp>
      <p:sp>
        <p:nvSpPr>
          <p:cNvPr id="42" name="Text 40"/>
          <p:cNvSpPr/>
          <p:nvPr/>
        </p:nvSpPr>
        <p:spPr>
          <a:xfrm>
            <a:off x="7255966" y="2503140"/>
            <a:ext cx="1507034" cy="761702"/>
          </a:xfrm>
          <a:prstGeom prst="rect">
            <a:avLst/>
          </a:prstGeom>
          <a:solidFill>
            <a:srgbClr val="E74C3C">
              <a:alpha val="10000"/>
            </a:srgbClr>
          </a:solidFill>
          <a:ln w="9525">
            <a:solidFill>
              <a:srgbClr val="E74C3C"/>
            </a:solidFill>
          </a:ln>
        </p:spPr>
        <p:txBody>
          <a:bodyPr wrap="square" rtlCol="0" anchor="ctr"/>
          <a:lstStyle/>
          <a:p>
            <a:pPr indent="0" marL="0">
              <a:buNone/>
            </a:pPr>
            <a:endParaRPr lang="en-US" dirty="0"/>
          </a:p>
        </p:txBody>
      </p:sp>
      <p:sp>
        <p:nvSpPr>
          <p:cNvPr id="43" name="Text 41"/>
          <p:cNvSpPr/>
          <p:nvPr/>
        </p:nvSpPr>
        <p:spPr>
          <a:xfrm>
            <a:off x="7354142" y="2715816"/>
            <a:ext cx="1310682" cy="133350"/>
          </a:xfrm>
          <a:prstGeom prst="rect">
            <a:avLst/>
          </a:prstGeom>
          <a:noFill/>
          <a:ln/>
        </p:spPr>
        <p:txBody>
          <a:bodyPr wrap="square" lIns="0" tIns="0" rIns="0" bIns="0" rtlCol="0" anchor="t"/>
          <a:lstStyle/>
          <a:p>
            <a:pPr algn="ctr" indent="0" marL="0">
              <a:spcBef>
                <a:spcPts val="900"/>
              </a:spcBef>
              <a:spcAft>
                <a:spcPts val="200"/>
              </a:spcAft>
              <a:buNone/>
            </a:pPr>
            <a:r>
              <a:rPr lang="en-US" sz="900" b="1" dirty="0">
                <a:solidFill>
                  <a:srgbClr val="E74C3C"/>
                </a:solidFill>
                <a:latin typeface="Arial" pitchFamily="34" charset="0"/>
                <a:ea typeface="Arial" pitchFamily="34" charset="-122"/>
                <a:cs typeface="Arial" pitchFamily="34" charset="-120"/>
              </a:rPr>
              <a:t>OUTPUT</a:t>
            </a:r>
            <a:endParaRPr lang="en-US" sz="900" dirty="0"/>
          </a:p>
        </p:txBody>
      </p:sp>
      <p:sp>
        <p:nvSpPr>
          <p:cNvPr id="44" name="Text 42"/>
          <p:cNvSpPr/>
          <p:nvPr/>
        </p:nvSpPr>
        <p:spPr>
          <a:xfrm>
            <a:off x="7354142" y="2950666"/>
            <a:ext cx="1310682" cy="114300"/>
          </a:xfrm>
          <a:prstGeom prst="rect">
            <a:avLst/>
          </a:prstGeom>
          <a:noFill/>
          <a:ln/>
        </p:spPr>
        <p:txBody>
          <a:bodyPr wrap="square" lIns="0" tIns="0" rIns="0" bIns="0" rtlCol="0" anchor="t"/>
          <a:lstStyle/>
          <a:p>
            <a:pPr algn="ctr" indent="0" marL="0">
              <a:spcBef>
                <a:spcPts val="800"/>
              </a:spcBef>
              <a:spcAft>
                <a:spcPts val="800"/>
              </a:spcAft>
              <a:buNone/>
            </a:pPr>
            <a:r>
              <a:rPr lang="en-US" sz="800" dirty="0">
                <a:solidFill>
                  <a:srgbClr val="8B8B8B"/>
                </a:solidFill>
                <a:latin typeface="Arial" pitchFamily="34" charset="0"/>
                <a:ea typeface="Arial" pitchFamily="34" charset="-122"/>
                <a:cs typeface="Arial" pitchFamily="34" charset="-120"/>
              </a:rPr>
              <a:t>Report / code</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50A1E"/>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D4FF"/>
          </a:solidFill>
          <a:ln/>
        </p:spPr>
        <p:txBody>
          <a:bodyPr wrap="square" rtlCol="0" anchor="ctr"/>
          <a:lstStyle/>
          <a:p>
            <a:pPr indent="0" marL="0">
              <a:buNone/>
            </a:pPr>
            <a:endParaRPr lang="en-US" dirty="0"/>
          </a:p>
        </p:txBody>
      </p:sp>
      <p:sp>
        <p:nvSpPr>
          <p:cNvPr id="3" name="Text 1"/>
          <p:cNvSpPr/>
          <p:nvPr/>
        </p:nvSpPr>
        <p:spPr>
          <a:xfrm>
            <a:off x="381000" y="886123"/>
            <a:ext cx="8549640" cy="133350"/>
          </a:xfrm>
          <a:prstGeom prst="rect">
            <a:avLst/>
          </a:prstGeom>
          <a:noFill/>
          <a:ln/>
        </p:spPr>
        <p:txBody>
          <a:bodyPr wrap="square" lIns="0" tIns="0" rIns="0" bIns="0" rtlCol="0" anchor="t"/>
          <a:lstStyle/>
          <a:p>
            <a:pPr algn="l" indent="0" marL="0">
              <a:spcBef>
                <a:spcPts val="900"/>
              </a:spcBef>
              <a:spcAft>
                <a:spcPts val="600"/>
              </a:spcAft>
              <a:buNone/>
            </a:pPr>
            <a:r>
              <a:rPr lang="en-US" sz="900" dirty="0">
                <a:solidFill>
                  <a:srgbClr val="00D4FF"/>
                </a:solidFill>
                <a:latin typeface="Arial" pitchFamily="34" charset="0"/>
                <a:ea typeface="Arial" pitchFamily="34" charset="-122"/>
                <a:cs typeface="Arial" pitchFamily="34" charset="-120"/>
              </a:rPr>
              <a:t>CROSS-FIELD APPLICATIONS</a:t>
            </a:r>
            <a:endParaRPr lang="en-US" sz="900" dirty="0"/>
          </a:p>
        </p:txBody>
      </p:sp>
      <p:sp>
        <p:nvSpPr>
          <p:cNvPr id="4" name="Text 2"/>
          <p:cNvSpPr/>
          <p:nvPr/>
        </p:nvSpPr>
        <p:spPr>
          <a:xfrm>
            <a:off x="381000" y="1095673"/>
            <a:ext cx="8549640" cy="295275"/>
          </a:xfrm>
          <a:prstGeom prst="rect">
            <a:avLst/>
          </a:prstGeom>
          <a:noFill/>
          <a:ln/>
        </p:spPr>
        <p:txBody>
          <a:bodyPr wrap="square" lIns="0" tIns="0" rIns="0" bIns="0" rtlCol="0" anchor="t"/>
          <a:lstStyle/>
          <a:p>
            <a:pPr algn="l" indent="0" marL="0">
              <a:spcAft>
                <a:spcPts val="1200"/>
              </a:spcAft>
              <a:buNone/>
            </a:pPr>
            <a:r>
              <a:rPr lang="en-US" sz="2000" dirty="0">
                <a:solidFill>
                  <a:srgbClr val="FFFFFF"/>
                </a:solidFill>
                <a:latin typeface="Arial" pitchFamily="34" charset="0"/>
                <a:ea typeface="Arial" pitchFamily="34" charset="-122"/>
                <a:cs typeface="Arial" pitchFamily="34" charset="-120"/>
              </a:rPr>
              <a:t>AI Harness Works </a:t>
            </a:r>
            <a:pPr algn="l" indent="0" marL="0">
              <a:spcAft>
                <a:spcPts val="1200"/>
              </a:spcAft>
              <a:buNone/>
            </a:pPr>
            <a:r>
              <a:rPr lang="en-US" sz="2000" b="1" dirty="0">
                <a:solidFill>
                  <a:srgbClr val="00D4FF"/>
                </a:solidFill>
                <a:latin typeface="Arial" pitchFamily="34" charset="0"/>
                <a:ea typeface="Arial" pitchFamily="34" charset="-122"/>
                <a:cs typeface="Arial" pitchFamily="34" charset="-120"/>
              </a:rPr>
              <a:t>Everywhere</a:t>
            </a:r>
            <a:pPr algn="l" indent="0" marL="0">
              <a:spcAft>
                <a:spcPts val="1200"/>
              </a:spcAft>
              <a:buNone/>
            </a:pPr>
            <a:r>
              <a:rPr lang="en-US" sz="2000" dirty="0">
                <a:solidFill>
                  <a:srgbClr val="FFFFFF"/>
                </a:solidFill>
                <a:latin typeface="Arial" pitchFamily="34" charset="0"/>
                <a:ea typeface="Arial" pitchFamily="34" charset="-122"/>
                <a:cs typeface="Arial" pitchFamily="34" charset="-120"/>
              </a:rPr>
              <a:t> Knowledge Matters</a:t>
            </a:r>
            <a:endParaRPr lang="en-US" sz="2000" dirty="0"/>
          </a:p>
        </p:txBody>
      </p:sp>
      <p:sp>
        <p:nvSpPr>
          <p:cNvPr id="5" name="Text 3"/>
          <p:cNvSpPr/>
          <p:nvPr/>
        </p:nvSpPr>
        <p:spPr>
          <a:xfrm>
            <a:off x="381000" y="1543348"/>
            <a:ext cx="2000250" cy="2022277"/>
          </a:xfrm>
          <a:prstGeom prst="rect">
            <a:avLst/>
          </a:prstGeom>
          <a:solidFill>
            <a:srgbClr val="E74C3C">
              <a:alpha val="5000"/>
            </a:srgbClr>
          </a:solidFill>
          <a:ln w="9525">
            <a:solidFill>
              <a:srgbClr val="E74C3C"/>
            </a:solidFill>
          </a:ln>
        </p:spPr>
        <p:txBody>
          <a:bodyPr wrap="square" rtlCol="0" anchor="ctr"/>
          <a:lstStyle/>
          <a:p>
            <a:pPr indent="0" marL="0">
              <a:buNone/>
            </a:pPr>
            <a:endParaRPr lang="en-US" dirty="0"/>
          </a:p>
        </p:txBody>
      </p:sp>
      <p:sp>
        <p:nvSpPr>
          <p:cNvPr id="6" name="Text 4"/>
          <p:cNvSpPr/>
          <p:nvPr/>
        </p:nvSpPr>
        <p:spPr>
          <a:xfrm>
            <a:off x="517475" y="1844873"/>
            <a:ext cx="204026" cy="257175"/>
          </a:xfrm>
          <a:prstGeom prst="rect">
            <a:avLst/>
          </a:prstGeom>
          <a:noFill/>
          <a:ln/>
        </p:spPr>
        <p:txBody>
          <a:bodyPr wrap="square" lIns="0" tIns="0" rIns="0" bIns="0" rtlCol="0" anchor="t"/>
          <a:lstStyle/>
          <a:p>
            <a:pPr algn="l" indent="0" marL="0">
              <a:spcBef>
                <a:spcPts val="1300"/>
              </a:spcBef>
              <a:spcAft>
                <a:spcPts val="1300"/>
              </a:spcAft>
              <a:buNone/>
            </a:pPr>
            <a:r>
              <a:rPr lang="en-US" sz="1300" dirty="0">
                <a:solidFill>
                  <a:srgbClr val="000000"/>
                </a:solidFill>
                <a:latin typeface="Arial" pitchFamily="34" charset="0"/>
                <a:ea typeface="Arial" pitchFamily="34" charset="-122"/>
                <a:cs typeface="Arial" pitchFamily="34" charset="-120"/>
              </a:rPr>
              <a:t>🏥</a:t>
            </a:r>
            <a:endParaRPr lang="en-US" sz="1300" dirty="0"/>
          </a:p>
        </p:txBody>
      </p:sp>
      <p:sp>
        <p:nvSpPr>
          <p:cNvPr id="7" name="Text 5"/>
          <p:cNvSpPr/>
          <p:nvPr/>
        </p:nvSpPr>
        <p:spPr>
          <a:xfrm>
            <a:off x="793700" y="1897261"/>
            <a:ext cx="609496" cy="152400"/>
          </a:xfrm>
          <a:prstGeom prst="rect">
            <a:avLst/>
          </a:prstGeom>
          <a:noFill/>
          <a:ln/>
        </p:spPr>
        <p:txBody>
          <a:bodyPr wrap="square" lIns="0" tIns="0" rIns="0" bIns="0" rtlCol="0" anchor="t"/>
          <a:lstStyle/>
          <a:p>
            <a:pPr algn="l" indent="0" marL="0">
              <a:spcBef>
                <a:spcPts val="1100"/>
              </a:spcBef>
              <a:spcAft>
                <a:spcPts val="1100"/>
              </a:spcAft>
              <a:buNone/>
            </a:pPr>
            <a:r>
              <a:rPr lang="en-US" sz="1100" b="1" dirty="0">
                <a:solidFill>
                  <a:srgbClr val="E74C3C"/>
                </a:solidFill>
                <a:latin typeface="Arial" pitchFamily="34" charset="0"/>
                <a:ea typeface="Arial" pitchFamily="34" charset="-122"/>
                <a:cs typeface="Arial" pitchFamily="34" charset="-120"/>
              </a:rPr>
              <a:t>Medicine</a:t>
            </a:r>
            <a:endParaRPr lang="en-US" sz="1100" dirty="0"/>
          </a:p>
        </p:txBody>
      </p:sp>
      <p:sp>
        <p:nvSpPr>
          <p:cNvPr id="8" name="Text 6"/>
          <p:cNvSpPr/>
          <p:nvPr/>
        </p:nvSpPr>
        <p:spPr>
          <a:xfrm>
            <a:off x="517475" y="2381399"/>
            <a:ext cx="1761845" cy="133350"/>
          </a:xfrm>
          <a:prstGeom prst="rect">
            <a:avLst/>
          </a:prstGeom>
          <a:noFill/>
          <a:ln/>
        </p:spPr>
        <p:txBody>
          <a:bodyPr wrap="square" lIns="76200" tIns="0" rIns="0" bIns="0" rtlCol="0" anchor="t"/>
          <a:lstStyle/>
          <a:p>
            <a:pPr algn="l" indent="0" marL="0">
              <a:spcBef>
                <a:spcPts val="900"/>
              </a:spcBef>
              <a:spcAft>
                <a:spcPts val="300"/>
              </a:spcAft>
              <a:buNone/>
            </a:pPr>
            <a:r>
              <a:rPr lang="en-US" sz="900" dirty="0">
                <a:solidFill>
                  <a:srgbClr val="B0BEC5"/>
                </a:solidFill>
                <a:latin typeface="Arial" pitchFamily="34" charset="0"/>
                <a:ea typeface="Arial" pitchFamily="34" charset="-122"/>
                <a:cs typeface="Arial" pitchFamily="34" charset="-120"/>
              </a:rPr>
              <a:t>Tumor board simulation</a:t>
            </a:r>
            <a:endParaRPr lang="en-US" sz="900" dirty="0"/>
          </a:p>
        </p:txBody>
      </p:sp>
      <p:sp>
        <p:nvSpPr>
          <p:cNvPr id="9" name="Text 7"/>
          <p:cNvSpPr/>
          <p:nvPr/>
        </p:nvSpPr>
        <p:spPr>
          <a:xfrm>
            <a:off x="517475" y="2629049"/>
            <a:ext cx="1761845" cy="133350"/>
          </a:xfrm>
          <a:prstGeom prst="rect">
            <a:avLst/>
          </a:prstGeom>
          <a:noFill/>
          <a:ln/>
        </p:spPr>
        <p:txBody>
          <a:bodyPr wrap="square" lIns="76200" tIns="0" rIns="0" bIns="0" rtlCol="0" anchor="t"/>
          <a:lstStyle/>
          <a:p>
            <a:pPr algn="l" indent="0" marL="0">
              <a:spcBef>
                <a:spcPts val="900"/>
              </a:spcBef>
              <a:spcAft>
                <a:spcPts val="300"/>
              </a:spcAft>
              <a:buNone/>
            </a:pPr>
            <a:r>
              <a:rPr lang="en-US" sz="900" dirty="0">
                <a:solidFill>
                  <a:srgbClr val="B0BEC5"/>
                </a:solidFill>
                <a:latin typeface="Arial" pitchFamily="34" charset="0"/>
                <a:ea typeface="Arial" pitchFamily="34" charset="-122"/>
                <a:cs typeface="Arial" pitchFamily="34" charset="-120"/>
              </a:rPr>
              <a:t>OPD note automation</a:t>
            </a:r>
            <a:endParaRPr lang="en-US" sz="900" dirty="0"/>
          </a:p>
        </p:txBody>
      </p:sp>
      <p:sp>
        <p:nvSpPr>
          <p:cNvPr id="10" name="Text 8"/>
          <p:cNvSpPr/>
          <p:nvPr/>
        </p:nvSpPr>
        <p:spPr>
          <a:xfrm>
            <a:off x="517475" y="2876699"/>
            <a:ext cx="1761845" cy="133350"/>
          </a:xfrm>
          <a:prstGeom prst="rect">
            <a:avLst/>
          </a:prstGeom>
          <a:noFill/>
          <a:ln/>
        </p:spPr>
        <p:txBody>
          <a:bodyPr wrap="square" lIns="76200" tIns="0" rIns="0" bIns="0" rtlCol="0" anchor="t"/>
          <a:lstStyle/>
          <a:p>
            <a:pPr algn="l" indent="0" marL="0">
              <a:spcBef>
                <a:spcPts val="900"/>
              </a:spcBef>
              <a:spcAft>
                <a:spcPts val="300"/>
              </a:spcAft>
              <a:buNone/>
            </a:pPr>
            <a:r>
              <a:rPr lang="en-US" sz="900" dirty="0">
                <a:solidFill>
                  <a:srgbClr val="B0BEC5"/>
                </a:solidFill>
                <a:latin typeface="Arial" pitchFamily="34" charset="0"/>
                <a:ea typeface="Arial" pitchFamily="34" charset="-122"/>
                <a:cs typeface="Arial" pitchFamily="34" charset="-120"/>
              </a:rPr>
              <a:t>IRB submission drafting</a:t>
            </a:r>
            <a:endParaRPr lang="en-US" sz="900" dirty="0"/>
          </a:p>
        </p:txBody>
      </p:sp>
      <p:sp>
        <p:nvSpPr>
          <p:cNvPr id="11" name="Text 9"/>
          <p:cNvSpPr/>
          <p:nvPr/>
        </p:nvSpPr>
        <p:spPr>
          <a:xfrm>
            <a:off x="517475" y="3124349"/>
            <a:ext cx="1761845" cy="133350"/>
          </a:xfrm>
          <a:prstGeom prst="rect">
            <a:avLst/>
          </a:prstGeom>
          <a:noFill/>
          <a:ln/>
        </p:spPr>
        <p:txBody>
          <a:bodyPr wrap="square" lIns="76200" tIns="0" rIns="0" bIns="0" rtlCol="0" anchor="t"/>
          <a:lstStyle/>
          <a:p>
            <a:pPr algn="l" indent="0" marL="0">
              <a:spcBef>
                <a:spcPts val="900"/>
              </a:spcBef>
              <a:spcAft>
                <a:spcPts val="300"/>
              </a:spcAft>
              <a:buNone/>
            </a:pPr>
            <a:r>
              <a:rPr lang="en-US" sz="900" dirty="0">
                <a:solidFill>
                  <a:srgbClr val="B0BEC5"/>
                </a:solidFill>
                <a:latin typeface="Arial" pitchFamily="34" charset="0"/>
                <a:ea typeface="Arial" pitchFamily="34" charset="-122"/>
                <a:cs typeface="Arial" pitchFamily="34" charset="-120"/>
              </a:rPr>
              <a:t>Radiology report parsing</a:t>
            </a:r>
            <a:endParaRPr lang="en-US" sz="900" dirty="0"/>
          </a:p>
        </p:txBody>
      </p:sp>
      <p:sp>
        <p:nvSpPr>
          <p:cNvPr id="12" name="Text 10"/>
          <p:cNvSpPr/>
          <p:nvPr/>
        </p:nvSpPr>
        <p:spPr>
          <a:xfrm>
            <a:off x="2508200" y="1543348"/>
            <a:ext cx="2000399" cy="2022277"/>
          </a:xfrm>
          <a:prstGeom prst="rect">
            <a:avLst/>
          </a:prstGeom>
          <a:solidFill>
            <a:srgbClr val="3498DB">
              <a:alpha val="5000"/>
            </a:srgbClr>
          </a:solidFill>
          <a:ln w="9525">
            <a:solidFill>
              <a:srgbClr val="3498DB"/>
            </a:solidFill>
          </a:ln>
        </p:spPr>
        <p:txBody>
          <a:bodyPr wrap="square" rtlCol="0" anchor="ctr"/>
          <a:lstStyle/>
          <a:p>
            <a:pPr indent="0" marL="0">
              <a:buNone/>
            </a:pPr>
            <a:endParaRPr lang="en-US" dirty="0"/>
          </a:p>
        </p:txBody>
      </p:sp>
      <p:sp>
        <p:nvSpPr>
          <p:cNvPr id="13" name="Text 11"/>
          <p:cNvSpPr/>
          <p:nvPr/>
        </p:nvSpPr>
        <p:spPr>
          <a:xfrm>
            <a:off x="2644676" y="1844873"/>
            <a:ext cx="204026" cy="257175"/>
          </a:xfrm>
          <a:prstGeom prst="rect">
            <a:avLst/>
          </a:prstGeom>
          <a:noFill/>
          <a:ln/>
        </p:spPr>
        <p:txBody>
          <a:bodyPr wrap="square" lIns="0" tIns="0" rIns="0" bIns="0" rtlCol="0" anchor="t"/>
          <a:lstStyle/>
          <a:p>
            <a:pPr algn="l" indent="0" marL="0">
              <a:spcBef>
                <a:spcPts val="1300"/>
              </a:spcBef>
              <a:spcAft>
                <a:spcPts val="1300"/>
              </a:spcAft>
              <a:buNone/>
            </a:pPr>
            <a:r>
              <a:rPr lang="en-US" sz="1300" dirty="0">
                <a:solidFill>
                  <a:srgbClr val="000000"/>
                </a:solidFill>
                <a:latin typeface="Arial" pitchFamily="34" charset="0"/>
                <a:ea typeface="Arial" pitchFamily="34" charset="-122"/>
                <a:cs typeface="Arial" pitchFamily="34" charset="-120"/>
              </a:rPr>
              <a:t>⚖️</a:t>
            </a:r>
            <a:endParaRPr lang="en-US" sz="1300" dirty="0"/>
          </a:p>
        </p:txBody>
      </p:sp>
      <p:sp>
        <p:nvSpPr>
          <p:cNvPr id="14" name="Text 12"/>
          <p:cNvSpPr/>
          <p:nvPr/>
        </p:nvSpPr>
        <p:spPr>
          <a:xfrm>
            <a:off x="2920901" y="1897261"/>
            <a:ext cx="277044" cy="152400"/>
          </a:xfrm>
          <a:prstGeom prst="rect">
            <a:avLst/>
          </a:prstGeom>
          <a:noFill/>
          <a:ln/>
        </p:spPr>
        <p:txBody>
          <a:bodyPr wrap="square" lIns="0" tIns="0" rIns="0" bIns="0" rtlCol="0" anchor="t"/>
          <a:lstStyle/>
          <a:p>
            <a:pPr algn="l" indent="0" marL="0">
              <a:spcBef>
                <a:spcPts val="1100"/>
              </a:spcBef>
              <a:spcAft>
                <a:spcPts val="1100"/>
              </a:spcAft>
              <a:buNone/>
            </a:pPr>
            <a:r>
              <a:rPr lang="en-US" sz="1100" b="1" dirty="0">
                <a:solidFill>
                  <a:srgbClr val="3498DB"/>
                </a:solidFill>
                <a:latin typeface="Arial" pitchFamily="34" charset="0"/>
                <a:ea typeface="Arial" pitchFamily="34" charset="-122"/>
                <a:cs typeface="Arial" pitchFamily="34" charset="-120"/>
              </a:rPr>
              <a:t>Law</a:t>
            </a:r>
            <a:endParaRPr lang="en-US" sz="1100" dirty="0"/>
          </a:p>
        </p:txBody>
      </p:sp>
      <p:sp>
        <p:nvSpPr>
          <p:cNvPr id="15" name="Text 13"/>
          <p:cNvSpPr/>
          <p:nvPr/>
        </p:nvSpPr>
        <p:spPr>
          <a:xfrm>
            <a:off x="2644676" y="2381399"/>
            <a:ext cx="1761997" cy="266700"/>
          </a:xfrm>
          <a:prstGeom prst="rect">
            <a:avLst/>
          </a:prstGeom>
          <a:noFill/>
          <a:ln/>
        </p:spPr>
        <p:txBody>
          <a:bodyPr wrap="square" lIns="76200" tIns="0" rIns="0" bIns="0" rtlCol="0" anchor="t"/>
          <a:lstStyle/>
          <a:p>
            <a:pPr algn="l" indent="0" marL="0">
              <a:spcBef>
                <a:spcPts val="900"/>
              </a:spcBef>
              <a:spcAft>
                <a:spcPts val="300"/>
              </a:spcAft>
              <a:buNone/>
            </a:pPr>
            <a:r>
              <a:rPr lang="en-US" sz="900" dirty="0">
                <a:solidFill>
                  <a:srgbClr val="B0BEC5"/>
                </a:solidFill>
                <a:latin typeface="Arial" pitchFamily="34" charset="0"/>
                <a:ea typeface="Arial" pitchFamily="34" charset="-122"/>
                <a:cs typeface="Arial" pitchFamily="34" charset="-120"/>
              </a:rPr>
              <a:t>Case research &amp; precedent search</a:t>
            </a:r>
            <a:endParaRPr lang="en-US" sz="900" dirty="0"/>
          </a:p>
        </p:txBody>
      </p:sp>
      <p:sp>
        <p:nvSpPr>
          <p:cNvPr id="16" name="Text 14"/>
          <p:cNvSpPr/>
          <p:nvPr/>
        </p:nvSpPr>
        <p:spPr>
          <a:xfrm>
            <a:off x="2644676" y="2762399"/>
            <a:ext cx="1761997" cy="133350"/>
          </a:xfrm>
          <a:prstGeom prst="rect">
            <a:avLst/>
          </a:prstGeom>
          <a:noFill/>
          <a:ln/>
        </p:spPr>
        <p:txBody>
          <a:bodyPr wrap="square" lIns="76200" tIns="0" rIns="0" bIns="0" rtlCol="0" anchor="t"/>
          <a:lstStyle/>
          <a:p>
            <a:pPr algn="l" indent="0" marL="0">
              <a:spcBef>
                <a:spcPts val="900"/>
              </a:spcBef>
              <a:spcAft>
                <a:spcPts val="300"/>
              </a:spcAft>
              <a:buNone/>
            </a:pPr>
            <a:r>
              <a:rPr lang="en-US" sz="900" dirty="0">
                <a:solidFill>
                  <a:srgbClr val="B0BEC5"/>
                </a:solidFill>
                <a:latin typeface="Arial" pitchFamily="34" charset="0"/>
                <a:ea typeface="Arial" pitchFamily="34" charset="-122"/>
                <a:cs typeface="Arial" pitchFamily="34" charset="-120"/>
              </a:rPr>
              <a:t>Contract review agents</a:t>
            </a:r>
            <a:endParaRPr lang="en-US" sz="900" dirty="0"/>
          </a:p>
        </p:txBody>
      </p:sp>
      <p:sp>
        <p:nvSpPr>
          <p:cNvPr id="17" name="Text 15"/>
          <p:cNvSpPr/>
          <p:nvPr/>
        </p:nvSpPr>
        <p:spPr>
          <a:xfrm>
            <a:off x="2644676" y="3010049"/>
            <a:ext cx="1761997" cy="133350"/>
          </a:xfrm>
          <a:prstGeom prst="rect">
            <a:avLst/>
          </a:prstGeom>
          <a:noFill/>
          <a:ln/>
        </p:spPr>
        <p:txBody>
          <a:bodyPr wrap="square" lIns="76200" tIns="0" rIns="0" bIns="0" rtlCol="0" anchor="t"/>
          <a:lstStyle/>
          <a:p>
            <a:pPr algn="l" indent="0" marL="0">
              <a:spcBef>
                <a:spcPts val="900"/>
              </a:spcBef>
              <a:spcAft>
                <a:spcPts val="300"/>
              </a:spcAft>
              <a:buNone/>
            </a:pPr>
            <a:r>
              <a:rPr lang="en-US" sz="900" dirty="0">
                <a:solidFill>
                  <a:srgbClr val="B0BEC5"/>
                </a:solidFill>
                <a:latin typeface="Arial" pitchFamily="34" charset="0"/>
                <a:ea typeface="Arial" pitchFamily="34" charset="-122"/>
                <a:cs typeface="Arial" pitchFamily="34" charset="-120"/>
              </a:rPr>
              <a:t>Regulatory compliance bots</a:t>
            </a:r>
            <a:endParaRPr lang="en-US" sz="900" dirty="0"/>
          </a:p>
        </p:txBody>
      </p:sp>
      <p:sp>
        <p:nvSpPr>
          <p:cNvPr id="18" name="Text 16"/>
          <p:cNvSpPr/>
          <p:nvPr/>
        </p:nvSpPr>
        <p:spPr>
          <a:xfrm>
            <a:off x="2644676" y="3257699"/>
            <a:ext cx="1761997" cy="133350"/>
          </a:xfrm>
          <a:prstGeom prst="rect">
            <a:avLst/>
          </a:prstGeom>
          <a:noFill/>
          <a:ln/>
        </p:spPr>
        <p:txBody>
          <a:bodyPr wrap="square" lIns="76200" tIns="0" rIns="0" bIns="0" rtlCol="0" anchor="t"/>
          <a:lstStyle/>
          <a:p>
            <a:pPr algn="l" indent="0" marL="0">
              <a:spcBef>
                <a:spcPts val="900"/>
              </a:spcBef>
              <a:spcAft>
                <a:spcPts val="300"/>
              </a:spcAft>
              <a:buNone/>
            </a:pPr>
            <a:r>
              <a:rPr lang="en-US" sz="900" dirty="0">
                <a:solidFill>
                  <a:srgbClr val="B0BEC5"/>
                </a:solidFill>
                <a:latin typeface="Arial" pitchFamily="34" charset="0"/>
                <a:ea typeface="Arial" pitchFamily="34" charset="-122"/>
                <a:cs typeface="Arial" pitchFamily="34" charset="-120"/>
              </a:rPr>
              <a:t>Deposition prep workflows</a:t>
            </a:r>
            <a:endParaRPr lang="en-US" sz="900" dirty="0"/>
          </a:p>
        </p:txBody>
      </p:sp>
      <p:sp>
        <p:nvSpPr>
          <p:cNvPr id="19" name="Text 17"/>
          <p:cNvSpPr/>
          <p:nvPr/>
        </p:nvSpPr>
        <p:spPr>
          <a:xfrm>
            <a:off x="4635550" y="1543348"/>
            <a:ext cx="2000250" cy="2022277"/>
          </a:xfrm>
          <a:prstGeom prst="rect">
            <a:avLst/>
          </a:prstGeom>
          <a:solidFill>
            <a:srgbClr val="2ECC71">
              <a:alpha val="5000"/>
            </a:srgbClr>
          </a:solidFill>
          <a:ln w="9525">
            <a:solidFill>
              <a:srgbClr val="2ECC71"/>
            </a:solidFill>
          </a:ln>
        </p:spPr>
        <p:txBody>
          <a:bodyPr wrap="square" rtlCol="0" anchor="ctr"/>
          <a:lstStyle/>
          <a:p>
            <a:pPr indent="0" marL="0">
              <a:buNone/>
            </a:pPr>
            <a:endParaRPr lang="en-US" dirty="0"/>
          </a:p>
        </p:txBody>
      </p:sp>
      <p:sp>
        <p:nvSpPr>
          <p:cNvPr id="20" name="Text 18"/>
          <p:cNvSpPr/>
          <p:nvPr/>
        </p:nvSpPr>
        <p:spPr>
          <a:xfrm>
            <a:off x="4772025" y="1844873"/>
            <a:ext cx="204026" cy="257175"/>
          </a:xfrm>
          <a:prstGeom prst="rect">
            <a:avLst/>
          </a:prstGeom>
          <a:noFill/>
          <a:ln/>
        </p:spPr>
        <p:txBody>
          <a:bodyPr wrap="square" lIns="0" tIns="0" rIns="0" bIns="0" rtlCol="0" anchor="t"/>
          <a:lstStyle/>
          <a:p>
            <a:pPr algn="l" indent="0" marL="0">
              <a:spcBef>
                <a:spcPts val="1300"/>
              </a:spcBef>
              <a:spcAft>
                <a:spcPts val="1300"/>
              </a:spcAft>
              <a:buNone/>
            </a:pPr>
            <a:r>
              <a:rPr lang="en-US" sz="1300" dirty="0">
                <a:solidFill>
                  <a:srgbClr val="000000"/>
                </a:solidFill>
                <a:latin typeface="Arial" pitchFamily="34" charset="0"/>
                <a:ea typeface="Arial" pitchFamily="34" charset="-122"/>
                <a:cs typeface="Arial" pitchFamily="34" charset="-120"/>
              </a:rPr>
              <a:t>📚</a:t>
            </a:r>
            <a:endParaRPr lang="en-US" sz="1300" dirty="0"/>
          </a:p>
        </p:txBody>
      </p:sp>
      <p:sp>
        <p:nvSpPr>
          <p:cNvPr id="21" name="Text 19"/>
          <p:cNvSpPr/>
          <p:nvPr/>
        </p:nvSpPr>
        <p:spPr>
          <a:xfrm>
            <a:off x="5048250" y="1897261"/>
            <a:ext cx="688434" cy="152400"/>
          </a:xfrm>
          <a:prstGeom prst="rect">
            <a:avLst/>
          </a:prstGeom>
          <a:noFill/>
          <a:ln/>
        </p:spPr>
        <p:txBody>
          <a:bodyPr wrap="square" lIns="0" tIns="0" rIns="0" bIns="0" rtlCol="0" anchor="t"/>
          <a:lstStyle/>
          <a:p>
            <a:pPr algn="l" indent="0" marL="0">
              <a:spcBef>
                <a:spcPts val="1100"/>
              </a:spcBef>
              <a:spcAft>
                <a:spcPts val="1100"/>
              </a:spcAft>
              <a:buNone/>
            </a:pPr>
            <a:r>
              <a:rPr lang="en-US" sz="1100" b="1" dirty="0">
                <a:solidFill>
                  <a:srgbClr val="2ECC71"/>
                </a:solidFill>
                <a:latin typeface="Arial" pitchFamily="34" charset="0"/>
                <a:ea typeface="Arial" pitchFamily="34" charset="-122"/>
                <a:cs typeface="Arial" pitchFamily="34" charset="-120"/>
              </a:rPr>
              <a:t>Education</a:t>
            </a:r>
            <a:endParaRPr lang="en-US" sz="1100" dirty="0"/>
          </a:p>
        </p:txBody>
      </p:sp>
      <p:sp>
        <p:nvSpPr>
          <p:cNvPr id="22" name="Text 20"/>
          <p:cNvSpPr/>
          <p:nvPr/>
        </p:nvSpPr>
        <p:spPr>
          <a:xfrm>
            <a:off x="4772025" y="2381399"/>
            <a:ext cx="1761845" cy="133350"/>
          </a:xfrm>
          <a:prstGeom prst="rect">
            <a:avLst/>
          </a:prstGeom>
          <a:noFill/>
          <a:ln/>
        </p:spPr>
        <p:txBody>
          <a:bodyPr wrap="square" lIns="76200" tIns="0" rIns="0" bIns="0" rtlCol="0" anchor="t"/>
          <a:lstStyle/>
          <a:p>
            <a:pPr algn="l" indent="0" marL="0">
              <a:spcBef>
                <a:spcPts val="900"/>
              </a:spcBef>
              <a:spcAft>
                <a:spcPts val="300"/>
              </a:spcAft>
              <a:buNone/>
            </a:pPr>
            <a:r>
              <a:rPr lang="en-US" sz="900" dirty="0">
                <a:solidFill>
                  <a:srgbClr val="B0BEC5"/>
                </a:solidFill>
                <a:latin typeface="Arial" pitchFamily="34" charset="0"/>
                <a:ea typeface="Arial" pitchFamily="34" charset="-122"/>
                <a:cs typeface="Arial" pitchFamily="34" charset="-120"/>
              </a:rPr>
              <a:t>Course content generation</a:t>
            </a:r>
            <a:endParaRPr lang="en-US" sz="900" dirty="0"/>
          </a:p>
        </p:txBody>
      </p:sp>
      <p:sp>
        <p:nvSpPr>
          <p:cNvPr id="23" name="Text 21"/>
          <p:cNvSpPr/>
          <p:nvPr/>
        </p:nvSpPr>
        <p:spPr>
          <a:xfrm>
            <a:off x="4772025" y="2629049"/>
            <a:ext cx="1761845" cy="133350"/>
          </a:xfrm>
          <a:prstGeom prst="rect">
            <a:avLst/>
          </a:prstGeom>
          <a:noFill/>
          <a:ln/>
        </p:spPr>
        <p:txBody>
          <a:bodyPr wrap="square" lIns="76200" tIns="0" rIns="0" bIns="0" rtlCol="0" anchor="t"/>
          <a:lstStyle/>
          <a:p>
            <a:pPr algn="l" indent="0" marL="0">
              <a:spcBef>
                <a:spcPts val="900"/>
              </a:spcBef>
              <a:spcAft>
                <a:spcPts val="300"/>
              </a:spcAft>
              <a:buNone/>
            </a:pPr>
            <a:r>
              <a:rPr lang="en-US" sz="900" dirty="0">
                <a:solidFill>
                  <a:srgbClr val="B0BEC5"/>
                </a:solidFill>
                <a:latin typeface="Arial" pitchFamily="34" charset="0"/>
                <a:ea typeface="Arial" pitchFamily="34" charset="-122"/>
                <a:cs typeface="Arial" pitchFamily="34" charset="-120"/>
              </a:rPr>
              <a:t>Adaptive quiz creation</a:t>
            </a:r>
            <a:endParaRPr lang="en-US" sz="900" dirty="0"/>
          </a:p>
        </p:txBody>
      </p:sp>
      <p:sp>
        <p:nvSpPr>
          <p:cNvPr id="24" name="Text 22"/>
          <p:cNvSpPr/>
          <p:nvPr/>
        </p:nvSpPr>
        <p:spPr>
          <a:xfrm>
            <a:off x="4772025" y="2876699"/>
            <a:ext cx="1761845" cy="133350"/>
          </a:xfrm>
          <a:prstGeom prst="rect">
            <a:avLst/>
          </a:prstGeom>
          <a:noFill/>
          <a:ln/>
        </p:spPr>
        <p:txBody>
          <a:bodyPr wrap="square" lIns="76200" tIns="0" rIns="0" bIns="0" rtlCol="0" anchor="t"/>
          <a:lstStyle/>
          <a:p>
            <a:pPr algn="l" indent="0" marL="0">
              <a:spcBef>
                <a:spcPts val="900"/>
              </a:spcBef>
              <a:spcAft>
                <a:spcPts val="300"/>
              </a:spcAft>
              <a:buNone/>
            </a:pPr>
            <a:r>
              <a:rPr lang="en-US" sz="900" dirty="0">
                <a:solidFill>
                  <a:srgbClr val="B0BEC5"/>
                </a:solidFill>
                <a:latin typeface="Arial" pitchFamily="34" charset="0"/>
                <a:ea typeface="Arial" pitchFamily="34" charset="-122"/>
                <a:cs typeface="Arial" pitchFamily="34" charset="-120"/>
              </a:rPr>
              <a:t>Student progress analysis</a:t>
            </a:r>
            <a:endParaRPr lang="en-US" sz="900" dirty="0"/>
          </a:p>
        </p:txBody>
      </p:sp>
      <p:sp>
        <p:nvSpPr>
          <p:cNvPr id="25" name="Text 23"/>
          <p:cNvSpPr/>
          <p:nvPr/>
        </p:nvSpPr>
        <p:spPr>
          <a:xfrm>
            <a:off x="4772025" y="3124349"/>
            <a:ext cx="1761845" cy="133350"/>
          </a:xfrm>
          <a:prstGeom prst="rect">
            <a:avLst/>
          </a:prstGeom>
          <a:noFill/>
          <a:ln/>
        </p:spPr>
        <p:txBody>
          <a:bodyPr wrap="square" lIns="76200" tIns="0" rIns="0" bIns="0" rtlCol="0" anchor="t"/>
          <a:lstStyle/>
          <a:p>
            <a:pPr algn="l" indent="0" marL="0">
              <a:spcBef>
                <a:spcPts val="900"/>
              </a:spcBef>
              <a:spcAft>
                <a:spcPts val="300"/>
              </a:spcAft>
              <a:buNone/>
            </a:pPr>
            <a:r>
              <a:rPr lang="en-US" sz="900" dirty="0">
                <a:solidFill>
                  <a:srgbClr val="B0BEC5"/>
                </a:solidFill>
                <a:latin typeface="Arial" pitchFamily="34" charset="0"/>
                <a:ea typeface="Arial" pitchFamily="34" charset="-122"/>
                <a:cs typeface="Arial" pitchFamily="34" charset="-120"/>
              </a:rPr>
              <a:t>Curriculum gap detection</a:t>
            </a:r>
            <a:endParaRPr lang="en-US" sz="900" dirty="0"/>
          </a:p>
        </p:txBody>
      </p:sp>
      <p:sp>
        <p:nvSpPr>
          <p:cNvPr id="26" name="Text 24"/>
          <p:cNvSpPr/>
          <p:nvPr/>
        </p:nvSpPr>
        <p:spPr>
          <a:xfrm>
            <a:off x="6762750" y="1543348"/>
            <a:ext cx="2000250" cy="2022277"/>
          </a:xfrm>
          <a:prstGeom prst="rect">
            <a:avLst/>
          </a:prstGeom>
          <a:solidFill>
            <a:srgbClr val="F1C40F">
              <a:alpha val="5000"/>
            </a:srgbClr>
          </a:solidFill>
          <a:ln w="9525">
            <a:solidFill>
              <a:srgbClr val="F1C40F"/>
            </a:solidFill>
          </a:ln>
        </p:spPr>
        <p:txBody>
          <a:bodyPr wrap="square" rtlCol="0" anchor="ctr"/>
          <a:lstStyle/>
          <a:p>
            <a:pPr indent="0" marL="0">
              <a:buNone/>
            </a:pPr>
            <a:endParaRPr lang="en-US" dirty="0"/>
          </a:p>
        </p:txBody>
      </p:sp>
      <p:sp>
        <p:nvSpPr>
          <p:cNvPr id="27" name="Text 25"/>
          <p:cNvSpPr/>
          <p:nvPr/>
        </p:nvSpPr>
        <p:spPr>
          <a:xfrm>
            <a:off x="6899225" y="1844873"/>
            <a:ext cx="204026" cy="257175"/>
          </a:xfrm>
          <a:prstGeom prst="rect">
            <a:avLst/>
          </a:prstGeom>
          <a:noFill/>
          <a:ln/>
        </p:spPr>
        <p:txBody>
          <a:bodyPr wrap="square" lIns="0" tIns="0" rIns="0" bIns="0" rtlCol="0" anchor="t"/>
          <a:lstStyle/>
          <a:p>
            <a:pPr algn="l" indent="0" marL="0">
              <a:spcBef>
                <a:spcPts val="1300"/>
              </a:spcBef>
              <a:spcAft>
                <a:spcPts val="1300"/>
              </a:spcAft>
              <a:buNone/>
            </a:pPr>
            <a:r>
              <a:rPr lang="en-US" sz="1300" dirty="0">
                <a:solidFill>
                  <a:srgbClr val="000000"/>
                </a:solidFill>
                <a:latin typeface="Arial" pitchFamily="34" charset="0"/>
                <a:ea typeface="Arial" pitchFamily="34" charset="-122"/>
                <a:cs typeface="Arial" pitchFamily="34" charset="-120"/>
              </a:rPr>
              <a:t>🔬</a:t>
            </a:r>
            <a:endParaRPr lang="en-US" sz="1300" dirty="0"/>
          </a:p>
        </p:txBody>
      </p:sp>
      <p:sp>
        <p:nvSpPr>
          <p:cNvPr id="28" name="Text 26"/>
          <p:cNvSpPr/>
          <p:nvPr/>
        </p:nvSpPr>
        <p:spPr>
          <a:xfrm>
            <a:off x="7175450" y="1897261"/>
            <a:ext cx="641375" cy="152400"/>
          </a:xfrm>
          <a:prstGeom prst="rect">
            <a:avLst/>
          </a:prstGeom>
          <a:noFill/>
          <a:ln/>
        </p:spPr>
        <p:txBody>
          <a:bodyPr wrap="square" lIns="0" tIns="0" rIns="0" bIns="0" rtlCol="0" anchor="t"/>
          <a:lstStyle/>
          <a:p>
            <a:pPr algn="l" indent="0" marL="0">
              <a:spcBef>
                <a:spcPts val="1100"/>
              </a:spcBef>
              <a:spcAft>
                <a:spcPts val="1100"/>
              </a:spcAft>
              <a:buNone/>
            </a:pPr>
            <a:r>
              <a:rPr lang="en-US" sz="1100" b="1" dirty="0">
                <a:solidFill>
                  <a:srgbClr val="F1C40F"/>
                </a:solidFill>
                <a:latin typeface="Arial" pitchFamily="34" charset="0"/>
                <a:ea typeface="Arial" pitchFamily="34" charset="-122"/>
                <a:cs typeface="Arial" pitchFamily="34" charset="-120"/>
              </a:rPr>
              <a:t>Research</a:t>
            </a:r>
            <a:endParaRPr lang="en-US" sz="1100" dirty="0"/>
          </a:p>
        </p:txBody>
      </p:sp>
      <p:sp>
        <p:nvSpPr>
          <p:cNvPr id="29" name="Text 27"/>
          <p:cNvSpPr/>
          <p:nvPr/>
        </p:nvSpPr>
        <p:spPr>
          <a:xfrm>
            <a:off x="6899225" y="2381399"/>
            <a:ext cx="1761845" cy="133350"/>
          </a:xfrm>
          <a:prstGeom prst="rect">
            <a:avLst/>
          </a:prstGeom>
          <a:noFill/>
          <a:ln/>
        </p:spPr>
        <p:txBody>
          <a:bodyPr wrap="square" lIns="76200" tIns="0" rIns="0" bIns="0" rtlCol="0" anchor="t"/>
          <a:lstStyle/>
          <a:p>
            <a:pPr algn="l" indent="0" marL="0">
              <a:spcBef>
                <a:spcPts val="900"/>
              </a:spcBef>
              <a:spcAft>
                <a:spcPts val="300"/>
              </a:spcAft>
              <a:buNone/>
            </a:pPr>
            <a:r>
              <a:rPr lang="en-US" sz="900" dirty="0">
                <a:solidFill>
                  <a:srgbClr val="B0BEC5"/>
                </a:solidFill>
                <a:latin typeface="Arial" pitchFamily="34" charset="0"/>
                <a:ea typeface="Arial" pitchFamily="34" charset="-122"/>
                <a:cs typeface="Arial" pitchFamily="34" charset="-120"/>
              </a:rPr>
              <a:t>Systematic literature review</a:t>
            </a:r>
            <a:endParaRPr lang="en-US" sz="900" dirty="0"/>
          </a:p>
        </p:txBody>
      </p:sp>
      <p:sp>
        <p:nvSpPr>
          <p:cNvPr id="30" name="Text 28"/>
          <p:cNvSpPr/>
          <p:nvPr/>
        </p:nvSpPr>
        <p:spPr>
          <a:xfrm>
            <a:off x="6899225" y="2629049"/>
            <a:ext cx="1761845" cy="133350"/>
          </a:xfrm>
          <a:prstGeom prst="rect">
            <a:avLst/>
          </a:prstGeom>
          <a:noFill/>
          <a:ln/>
        </p:spPr>
        <p:txBody>
          <a:bodyPr wrap="square" lIns="76200" tIns="0" rIns="0" bIns="0" rtlCol="0" anchor="t"/>
          <a:lstStyle/>
          <a:p>
            <a:pPr algn="l" indent="0" marL="0">
              <a:spcBef>
                <a:spcPts val="900"/>
              </a:spcBef>
              <a:spcAft>
                <a:spcPts val="300"/>
              </a:spcAft>
              <a:buNone/>
            </a:pPr>
            <a:r>
              <a:rPr lang="en-US" sz="900" dirty="0">
                <a:solidFill>
                  <a:srgbClr val="B0BEC5"/>
                </a:solidFill>
                <a:latin typeface="Arial" pitchFamily="34" charset="0"/>
                <a:ea typeface="Arial" pitchFamily="34" charset="-122"/>
                <a:cs typeface="Arial" pitchFamily="34" charset="-120"/>
              </a:rPr>
              <a:t>Statistical analysis pipelines</a:t>
            </a:r>
            <a:endParaRPr lang="en-US" sz="900" dirty="0"/>
          </a:p>
        </p:txBody>
      </p:sp>
      <p:sp>
        <p:nvSpPr>
          <p:cNvPr id="31" name="Text 29"/>
          <p:cNvSpPr/>
          <p:nvPr/>
        </p:nvSpPr>
        <p:spPr>
          <a:xfrm>
            <a:off x="6899225" y="2876699"/>
            <a:ext cx="1761845" cy="133350"/>
          </a:xfrm>
          <a:prstGeom prst="rect">
            <a:avLst/>
          </a:prstGeom>
          <a:noFill/>
          <a:ln/>
        </p:spPr>
        <p:txBody>
          <a:bodyPr wrap="square" lIns="76200" tIns="0" rIns="0" bIns="0" rtlCol="0" anchor="t"/>
          <a:lstStyle/>
          <a:p>
            <a:pPr algn="l" indent="0" marL="0">
              <a:spcBef>
                <a:spcPts val="900"/>
              </a:spcBef>
              <a:spcAft>
                <a:spcPts val="300"/>
              </a:spcAft>
              <a:buNone/>
            </a:pPr>
            <a:r>
              <a:rPr lang="en-US" sz="900" dirty="0">
                <a:solidFill>
                  <a:srgbClr val="B0BEC5"/>
                </a:solidFill>
                <a:latin typeface="Arial" pitchFamily="34" charset="0"/>
                <a:ea typeface="Arial" pitchFamily="34" charset="-122"/>
                <a:cs typeface="Arial" pitchFamily="34" charset="-120"/>
              </a:rPr>
              <a:t>Grant writing assistance</a:t>
            </a:r>
            <a:endParaRPr lang="en-US" sz="900" dirty="0"/>
          </a:p>
        </p:txBody>
      </p:sp>
      <p:sp>
        <p:nvSpPr>
          <p:cNvPr id="32" name="Text 30"/>
          <p:cNvSpPr/>
          <p:nvPr/>
        </p:nvSpPr>
        <p:spPr>
          <a:xfrm>
            <a:off x="6899225" y="3124349"/>
            <a:ext cx="1761845" cy="133350"/>
          </a:xfrm>
          <a:prstGeom prst="rect">
            <a:avLst/>
          </a:prstGeom>
          <a:noFill/>
          <a:ln/>
        </p:spPr>
        <p:txBody>
          <a:bodyPr wrap="square" lIns="76200" tIns="0" rIns="0" bIns="0" rtlCol="0" anchor="t"/>
          <a:lstStyle/>
          <a:p>
            <a:pPr algn="l" indent="0" marL="0">
              <a:spcBef>
                <a:spcPts val="900"/>
              </a:spcBef>
              <a:spcAft>
                <a:spcPts val="300"/>
              </a:spcAft>
              <a:buNone/>
            </a:pPr>
            <a:r>
              <a:rPr lang="en-US" sz="900" dirty="0">
                <a:solidFill>
                  <a:srgbClr val="B0BEC5"/>
                </a:solidFill>
                <a:latin typeface="Arial" pitchFamily="34" charset="0"/>
                <a:ea typeface="Arial" pitchFamily="34" charset="-122"/>
                <a:cs typeface="Arial" pitchFamily="34" charset="-120"/>
              </a:rPr>
              <a:t>Peer review simulation</a:t>
            </a:r>
            <a:endParaRPr lang="en-US" sz="900" dirty="0"/>
          </a:p>
        </p:txBody>
      </p:sp>
      <p:sp>
        <p:nvSpPr>
          <p:cNvPr id="33" name="Text 31"/>
          <p:cNvSpPr/>
          <p:nvPr/>
        </p:nvSpPr>
        <p:spPr>
          <a:xfrm>
            <a:off x="381000" y="3718024"/>
            <a:ext cx="8382000" cy="653653"/>
          </a:xfrm>
          <a:prstGeom prst="rect">
            <a:avLst/>
          </a:prstGeom>
          <a:solidFill>
            <a:srgbClr val="00D4FF">
              <a:alpha val="8000"/>
            </a:srgbClr>
          </a:solidFill>
          <a:ln w="9525">
            <a:solidFill>
              <a:srgbClr val="00D4FF"/>
            </a:solidFill>
          </a:ln>
        </p:spPr>
        <p:txBody>
          <a:bodyPr wrap="square" rtlCol="0" anchor="ctr"/>
          <a:lstStyle/>
          <a:p>
            <a:pPr indent="0" marL="0">
              <a:buNone/>
            </a:pPr>
            <a:endParaRPr lang="en-US" dirty="0"/>
          </a:p>
        </p:txBody>
      </p:sp>
      <p:sp>
        <p:nvSpPr>
          <p:cNvPr id="34" name="Text 32"/>
          <p:cNvSpPr/>
          <p:nvPr/>
        </p:nvSpPr>
        <p:spPr>
          <a:xfrm>
            <a:off x="488150" y="3968651"/>
            <a:ext cx="8167699" cy="152400"/>
          </a:xfrm>
          <a:prstGeom prst="rect">
            <a:avLst/>
          </a:prstGeom>
          <a:noFill/>
          <a:ln/>
        </p:spPr>
        <p:txBody>
          <a:bodyPr wrap="square" lIns="0" tIns="0" rIns="0" bIns="0" rtlCol="0" anchor="t"/>
          <a:lstStyle/>
          <a:p>
            <a:pPr algn="ctr" indent="0" marL="0">
              <a:spcBef>
                <a:spcPts val="1100"/>
              </a:spcBef>
              <a:spcAft>
                <a:spcPts val="1100"/>
              </a:spcAft>
              <a:buNone/>
            </a:pPr>
            <a:r>
              <a:rPr lang="en-US" sz="1100" dirty="0">
                <a:solidFill>
                  <a:srgbClr val="00D4FF"/>
                </a:solidFill>
                <a:latin typeface="Arial" pitchFamily="34" charset="0"/>
                <a:ea typeface="Arial" pitchFamily="34" charset="-122"/>
                <a:cs typeface="Arial" pitchFamily="34" charset="-120"/>
              </a:rPr>
              <a:t>The harness pattern is </a:t>
            </a:r>
            <a:pPr algn="ctr" indent="0" marL="0">
              <a:spcBef>
                <a:spcPts val="1100"/>
              </a:spcBef>
              <a:spcAft>
                <a:spcPts val="1100"/>
              </a:spcAft>
              <a:buNone/>
            </a:pPr>
            <a:r>
              <a:rPr lang="en-US" sz="1100" b="1" dirty="0">
                <a:solidFill>
                  <a:srgbClr val="00D4FF"/>
                </a:solidFill>
                <a:latin typeface="Arial" pitchFamily="34" charset="0"/>
                <a:ea typeface="Arial" pitchFamily="34" charset="-122"/>
                <a:cs typeface="Arial" pitchFamily="34" charset="-120"/>
              </a:rPr>
              <a:t>domain-agnostic</a:t>
            </a:r>
            <a:pPr algn="ctr" indent="0" marL="0">
              <a:spcBef>
                <a:spcPts val="1100"/>
              </a:spcBef>
              <a:spcAft>
                <a:spcPts val="1100"/>
              </a:spcAft>
              <a:buNone/>
            </a:pPr>
            <a:r>
              <a:rPr lang="en-US" sz="1100" dirty="0">
                <a:solidFill>
                  <a:srgbClr val="00D4FF"/>
                </a:solidFill>
                <a:latin typeface="Arial" pitchFamily="34" charset="0"/>
                <a:ea typeface="Arial" pitchFamily="34" charset="-122"/>
                <a:cs typeface="Arial" pitchFamily="34" charset="-120"/>
              </a:rPr>
              <a:t>. If your work involves knowledge, documents, and decisions — AI agents can help.</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50A1E"/>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F1C40F"/>
          </a:solidFill>
          <a:ln/>
        </p:spPr>
        <p:txBody>
          <a:bodyPr wrap="square" rtlCol="0" anchor="ctr"/>
          <a:lstStyle/>
          <a:p>
            <a:pPr indent="0" marL="0">
              <a:buNone/>
            </a:pPr>
            <a:endParaRPr lang="en-US" dirty="0"/>
          </a:p>
        </p:txBody>
      </p:sp>
      <p:sp>
        <p:nvSpPr>
          <p:cNvPr id="3" name="Text 1"/>
          <p:cNvSpPr/>
          <p:nvPr/>
        </p:nvSpPr>
        <p:spPr>
          <a:xfrm>
            <a:off x="279350" y="307777"/>
            <a:ext cx="3886200" cy="142875"/>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F1C40F"/>
                </a:solidFill>
                <a:latin typeface="Arial" pitchFamily="34" charset="0"/>
                <a:ea typeface="Arial" pitchFamily="34" charset="-122"/>
                <a:cs typeface="Arial" pitchFamily="34" charset="-120"/>
              </a:rPr>
              <a:t>CASE STUDY: NSTC GRANT 2026</a:t>
            </a:r>
            <a:endParaRPr lang="en-US" sz="1000" dirty="0"/>
          </a:p>
        </p:txBody>
      </p:sp>
      <p:sp>
        <p:nvSpPr>
          <p:cNvPr id="4" name="Text 2"/>
          <p:cNvSpPr/>
          <p:nvPr/>
        </p:nvSpPr>
        <p:spPr>
          <a:xfrm>
            <a:off x="279350" y="577602"/>
            <a:ext cx="3886200" cy="670322"/>
          </a:xfrm>
          <a:prstGeom prst="rect">
            <a:avLst/>
          </a:prstGeom>
          <a:noFill/>
          <a:ln/>
        </p:spPr>
        <p:txBody>
          <a:bodyPr wrap="square" lIns="0" tIns="0" rIns="0" bIns="0" rtlCol="0" anchor="t"/>
          <a:lstStyle/>
          <a:p>
            <a:pPr algn="l" indent="0" marL="0">
              <a:lnSpc>
                <a:spcPts val="2640"/>
              </a:lnSpc>
              <a:spcAft>
                <a:spcPts val="1000"/>
              </a:spcAft>
              <a:buNone/>
            </a:pPr>
            <a:r>
              <a:rPr lang="en-US" sz="2200" b="1" dirty="0">
                <a:solidFill>
                  <a:srgbClr val="F1C40F"/>
                </a:solidFill>
                <a:latin typeface="Arial" pitchFamily="34" charset="0"/>
                <a:ea typeface="Arial" pitchFamily="34" charset="-122"/>
                <a:cs typeface="Arial" pitchFamily="34" charset="-120"/>
              </a:rPr>
              <a:t>67–80%</a:t>
            </a:r>
            <a:pPr algn="l" indent="0" marL="0">
              <a:lnSpc>
                <a:spcPts val="2640"/>
              </a:lnSpc>
              <a:spcAft>
                <a:spcPts val="1000"/>
              </a:spcAft>
              <a:buNone/>
            </a:pPr>
            <a:r>
              <a:rPr lang="en-US" sz="2200" dirty="0">
                <a:solidFill>
                  <a:srgbClr val="FFFFFF"/>
                </a:solidFill>
                <a:latin typeface="Arial" pitchFamily="34" charset="0"/>
                <a:ea typeface="Arial" pitchFamily="34" charset="-122"/>
                <a:cs typeface="Arial" pitchFamily="34" charset="-120"/>
              </a:rPr>
              <a:t> Efficiency Gain on Government Grant</a:t>
            </a:r>
            <a:endParaRPr lang="en-US" sz="2200" dirty="0"/>
          </a:p>
        </p:txBody>
      </p:sp>
      <p:sp>
        <p:nvSpPr>
          <p:cNvPr id="5" name="Text 3"/>
          <p:cNvSpPr/>
          <p:nvPr/>
        </p:nvSpPr>
        <p:spPr>
          <a:xfrm>
            <a:off x="279350" y="1514475"/>
            <a:ext cx="3886200" cy="670620"/>
          </a:xfrm>
          <a:prstGeom prst="rect">
            <a:avLst/>
          </a:prstGeom>
          <a:noFill/>
          <a:ln/>
        </p:spPr>
        <p:txBody>
          <a:bodyPr wrap="square" lIns="0" tIns="0" rIns="0" bIns="0" rtlCol="0" anchor="t"/>
          <a:lstStyle/>
          <a:p>
            <a:pPr algn="l" indent="0" marL="0">
              <a:lnSpc>
                <a:spcPts val="1760"/>
              </a:lnSpc>
              <a:spcBef>
                <a:spcPts val="1100"/>
              </a:spcBef>
              <a:spcAft>
                <a:spcPts val="1400"/>
              </a:spcAft>
              <a:buNone/>
            </a:pPr>
            <a:r>
              <a:rPr lang="en-US" sz="1100" dirty="0">
                <a:solidFill>
                  <a:srgbClr val="B0BEC5"/>
                </a:solidFill>
                <a:latin typeface="Arial" pitchFamily="34" charset="0"/>
                <a:ea typeface="Arial" pitchFamily="34" charset="-122"/>
                <a:cs typeface="Arial" pitchFamily="34" charset="-120"/>
              </a:rPr>
              <a:t>Taiwan's National Science and Technology Council grant — the most rigorous academic funding process. Built with 4 agent modules.</a:t>
            </a:r>
            <a:endParaRPr lang="en-US" sz="1100" dirty="0"/>
          </a:p>
        </p:txBody>
      </p:sp>
      <p:sp>
        <p:nvSpPr>
          <p:cNvPr id="6" name="Text 4"/>
          <p:cNvSpPr/>
          <p:nvPr/>
        </p:nvSpPr>
        <p:spPr>
          <a:xfrm>
            <a:off x="279350" y="2362795"/>
            <a:ext cx="1720751" cy="1244501"/>
          </a:xfrm>
          <a:prstGeom prst="rect">
            <a:avLst/>
          </a:prstGeom>
          <a:solidFill>
            <a:srgbClr val="F1C40F">
              <a:alpha val="10000"/>
            </a:srgbClr>
          </a:solidFill>
          <a:ln w="9525">
            <a:solidFill>
              <a:srgbClr val="F1C40F"/>
            </a:solidFill>
          </a:ln>
        </p:spPr>
        <p:txBody>
          <a:bodyPr wrap="square" rtlCol="0" anchor="ctr"/>
          <a:lstStyle/>
          <a:p>
            <a:pPr indent="0" marL="0">
              <a:buNone/>
            </a:pPr>
            <a:endParaRPr lang="en-US" dirty="0"/>
          </a:p>
        </p:txBody>
      </p:sp>
      <p:sp>
        <p:nvSpPr>
          <p:cNvPr id="7" name="Text 5"/>
          <p:cNvSpPr/>
          <p:nvPr/>
        </p:nvSpPr>
        <p:spPr>
          <a:xfrm>
            <a:off x="427306" y="2727871"/>
            <a:ext cx="1424839" cy="266700"/>
          </a:xfrm>
          <a:prstGeom prst="rect">
            <a:avLst/>
          </a:prstGeom>
          <a:noFill/>
          <a:ln/>
        </p:spPr>
        <p:txBody>
          <a:bodyPr wrap="square" lIns="0" tIns="0" rIns="0" bIns="0" rtlCol="0" anchor="t"/>
          <a:lstStyle/>
          <a:p>
            <a:pPr algn="ctr" indent="0" marL="0">
              <a:spcBef>
                <a:spcPts val="1800"/>
              </a:spcBef>
              <a:spcAft>
                <a:spcPts val="1800"/>
              </a:spcAft>
              <a:buNone/>
            </a:pPr>
            <a:r>
              <a:rPr lang="en-US" sz="1800" b="1" dirty="0">
                <a:solidFill>
                  <a:srgbClr val="F1C40F"/>
                </a:solidFill>
                <a:latin typeface="Arial" pitchFamily="34" charset="0"/>
                <a:ea typeface="Arial" pitchFamily="34" charset="-122"/>
                <a:cs typeface="Arial" pitchFamily="34" charset="-120"/>
              </a:rPr>
              <a:t>4</a:t>
            </a:r>
            <a:endParaRPr lang="en-US" sz="1800" dirty="0"/>
          </a:p>
        </p:txBody>
      </p:sp>
      <p:sp>
        <p:nvSpPr>
          <p:cNvPr id="8" name="Text 6"/>
          <p:cNvSpPr/>
          <p:nvPr/>
        </p:nvSpPr>
        <p:spPr>
          <a:xfrm>
            <a:off x="427306" y="3223171"/>
            <a:ext cx="1424839" cy="133350"/>
          </a:xfrm>
          <a:prstGeom prst="rect">
            <a:avLst/>
          </a:prstGeom>
          <a:noFill/>
          <a:ln/>
        </p:spPr>
        <p:txBody>
          <a:bodyPr wrap="square" lIns="0" tIns="0" rIns="0" bIns="0" rtlCol="0" anchor="t"/>
          <a:lstStyle/>
          <a:p>
            <a:pPr algn="ctr" indent="0" marL="0">
              <a:spcBef>
                <a:spcPts val="900"/>
              </a:spcBef>
              <a:spcAft>
                <a:spcPts val="900"/>
              </a:spcAft>
              <a:buNone/>
            </a:pPr>
            <a:r>
              <a:rPr lang="en-US" sz="900" dirty="0">
                <a:solidFill>
                  <a:srgbClr val="B0BEC5"/>
                </a:solidFill>
                <a:latin typeface="Arial" pitchFamily="34" charset="0"/>
                <a:ea typeface="Arial" pitchFamily="34" charset="-122"/>
                <a:cs typeface="Arial" pitchFamily="34" charset="-120"/>
              </a:rPr>
              <a:t>Agent Modules</a:t>
            </a:r>
            <a:endParaRPr lang="en-US" sz="900" dirty="0"/>
          </a:p>
        </p:txBody>
      </p:sp>
      <p:sp>
        <p:nvSpPr>
          <p:cNvPr id="9" name="Text 7"/>
          <p:cNvSpPr/>
          <p:nvPr/>
        </p:nvSpPr>
        <p:spPr>
          <a:xfrm>
            <a:off x="2101602" y="2362795"/>
            <a:ext cx="1720751" cy="1244501"/>
          </a:xfrm>
          <a:prstGeom prst="rect">
            <a:avLst/>
          </a:prstGeom>
          <a:solidFill>
            <a:srgbClr val="F1C40F">
              <a:alpha val="10000"/>
            </a:srgbClr>
          </a:solidFill>
          <a:ln w="9525">
            <a:solidFill>
              <a:srgbClr val="F1C40F"/>
            </a:solidFill>
          </a:ln>
        </p:spPr>
        <p:txBody>
          <a:bodyPr wrap="square" rtlCol="0" anchor="ctr"/>
          <a:lstStyle/>
          <a:p>
            <a:pPr indent="0" marL="0">
              <a:buNone/>
            </a:pPr>
            <a:endParaRPr lang="en-US" dirty="0"/>
          </a:p>
        </p:txBody>
      </p:sp>
      <p:sp>
        <p:nvSpPr>
          <p:cNvPr id="10" name="Text 8"/>
          <p:cNvSpPr/>
          <p:nvPr/>
        </p:nvSpPr>
        <p:spPr>
          <a:xfrm>
            <a:off x="2249558" y="2727871"/>
            <a:ext cx="1424839" cy="266700"/>
          </a:xfrm>
          <a:prstGeom prst="rect">
            <a:avLst/>
          </a:prstGeom>
          <a:noFill/>
          <a:ln/>
        </p:spPr>
        <p:txBody>
          <a:bodyPr wrap="square" lIns="0" tIns="0" rIns="0" bIns="0" rtlCol="0" anchor="t"/>
          <a:lstStyle/>
          <a:p>
            <a:pPr algn="ctr" indent="0" marL="0">
              <a:spcBef>
                <a:spcPts val="1800"/>
              </a:spcBef>
              <a:spcAft>
                <a:spcPts val="1800"/>
              </a:spcAft>
              <a:buNone/>
            </a:pPr>
            <a:r>
              <a:rPr lang="en-US" sz="1800" b="1" dirty="0">
                <a:solidFill>
                  <a:srgbClr val="F1C40F"/>
                </a:solidFill>
                <a:latin typeface="Arial" pitchFamily="34" charset="0"/>
                <a:ea typeface="Arial" pitchFamily="34" charset="-122"/>
                <a:cs typeface="Arial" pitchFamily="34" charset="-120"/>
              </a:rPr>
              <a:t>67%</a:t>
            </a:r>
            <a:endParaRPr lang="en-US" sz="1800" dirty="0"/>
          </a:p>
        </p:txBody>
      </p:sp>
      <p:sp>
        <p:nvSpPr>
          <p:cNvPr id="11" name="Text 9"/>
          <p:cNvSpPr/>
          <p:nvPr/>
        </p:nvSpPr>
        <p:spPr>
          <a:xfrm>
            <a:off x="2249558" y="3223171"/>
            <a:ext cx="1424839" cy="133350"/>
          </a:xfrm>
          <a:prstGeom prst="rect">
            <a:avLst/>
          </a:prstGeom>
          <a:noFill/>
          <a:ln/>
        </p:spPr>
        <p:txBody>
          <a:bodyPr wrap="square" lIns="0" tIns="0" rIns="0" bIns="0" rtlCol="0" anchor="t"/>
          <a:lstStyle/>
          <a:p>
            <a:pPr algn="ctr" indent="0" marL="0">
              <a:spcBef>
                <a:spcPts val="900"/>
              </a:spcBef>
              <a:spcAft>
                <a:spcPts val="900"/>
              </a:spcAft>
              <a:buNone/>
            </a:pPr>
            <a:r>
              <a:rPr lang="en-US" sz="900" dirty="0">
                <a:solidFill>
                  <a:srgbClr val="B0BEC5"/>
                </a:solidFill>
                <a:latin typeface="Arial" pitchFamily="34" charset="0"/>
                <a:ea typeface="Arial" pitchFamily="34" charset="-122"/>
                <a:cs typeface="Arial" pitchFamily="34" charset="-120"/>
              </a:rPr>
              <a:t>Min Efficiency Gain</a:t>
            </a:r>
            <a:endParaRPr lang="en-US" sz="900" dirty="0"/>
          </a:p>
        </p:txBody>
      </p:sp>
      <p:sp>
        <p:nvSpPr>
          <p:cNvPr id="12" name="Text 10"/>
          <p:cNvSpPr/>
          <p:nvPr/>
        </p:nvSpPr>
        <p:spPr>
          <a:xfrm>
            <a:off x="279350" y="3708797"/>
            <a:ext cx="1720751" cy="1254026"/>
          </a:xfrm>
          <a:prstGeom prst="rect">
            <a:avLst/>
          </a:prstGeom>
          <a:solidFill>
            <a:srgbClr val="F1C40F">
              <a:alpha val="10000"/>
            </a:srgbClr>
          </a:solidFill>
          <a:ln w="9525">
            <a:solidFill>
              <a:srgbClr val="F1C40F"/>
            </a:solidFill>
          </a:ln>
        </p:spPr>
        <p:txBody>
          <a:bodyPr wrap="square" rtlCol="0" anchor="ctr"/>
          <a:lstStyle/>
          <a:p>
            <a:pPr indent="0" marL="0">
              <a:buNone/>
            </a:pPr>
            <a:endParaRPr lang="en-US" dirty="0"/>
          </a:p>
        </p:txBody>
      </p:sp>
      <p:sp>
        <p:nvSpPr>
          <p:cNvPr id="13" name="Text 11"/>
          <p:cNvSpPr/>
          <p:nvPr/>
        </p:nvSpPr>
        <p:spPr>
          <a:xfrm>
            <a:off x="427306" y="4073872"/>
            <a:ext cx="1424839" cy="266700"/>
          </a:xfrm>
          <a:prstGeom prst="rect">
            <a:avLst/>
          </a:prstGeom>
          <a:noFill/>
          <a:ln/>
        </p:spPr>
        <p:txBody>
          <a:bodyPr wrap="square" lIns="0" tIns="0" rIns="0" bIns="0" rtlCol="0" anchor="t"/>
          <a:lstStyle/>
          <a:p>
            <a:pPr algn="ctr" indent="0" marL="0">
              <a:spcBef>
                <a:spcPts val="1800"/>
              </a:spcBef>
              <a:spcAft>
                <a:spcPts val="1800"/>
              </a:spcAft>
              <a:buNone/>
            </a:pPr>
            <a:r>
              <a:rPr lang="en-US" sz="1800" b="1" dirty="0">
                <a:solidFill>
                  <a:srgbClr val="F1C40F"/>
                </a:solidFill>
                <a:latin typeface="Arial" pitchFamily="34" charset="0"/>
                <a:ea typeface="Arial" pitchFamily="34" charset="-122"/>
                <a:cs typeface="Arial" pitchFamily="34" charset="-120"/>
              </a:rPr>
              <a:t>80%</a:t>
            </a:r>
            <a:endParaRPr lang="en-US" sz="1800" dirty="0"/>
          </a:p>
        </p:txBody>
      </p:sp>
      <p:sp>
        <p:nvSpPr>
          <p:cNvPr id="14" name="Text 12"/>
          <p:cNvSpPr/>
          <p:nvPr/>
        </p:nvSpPr>
        <p:spPr>
          <a:xfrm>
            <a:off x="427306" y="4569172"/>
            <a:ext cx="1424839" cy="133350"/>
          </a:xfrm>
          <a:prstGeom prst="rect">
            <a:avLst/>
          </a:prstGeom>
          <a:noFill/>
          <a:ln/>
        </p:spPr>
        <p:txBody>
          <a:bodyPr wrap="square" lIns="0" tIns="0" rIns="0" bIns="0" rtlCol="0" anchor="t"/>
          <a:lstStyle/>
          <a:p>
            <a:pPr algn="ctr" indent="0" marL="0">
              <a:spcBef>
                <a:spcPts val="900"/>
              </a:spcBef>
              <a:spcAft>
                <a:spcPts val="900"/>
              </a:spcAft>
              <a:buNone/>
            </a:pPr>
            <a:r>
              <a:rPr lang="en-US" sz="900" dirty="0">
                <a:solidFill>
                  <a:srgbClr val="B0BEC5"/>
                </a:solidFill>
                <a:latin typeface="Arial" pitchFamily="34" charset="0"/>
                <a:ea typeface="Arial" pitchFamily="34" charset="-122"/>
                <a:cs typeface="Arial" pitchFamily="34" charset="-120"/>
              </a:rPr>
              <a:t>Max Efficiency Gain</a:t>
            </a:r>
            <a:endParaRPr lang="en-US" sz="900" dirty="0"/>
          </a:p>
        </p:txBody>
      </p:sp>
      <p:sp>
        <p:nvSpPr>
          <p:cNvPr id="15" name="Text 13"/>
          <p:cNvSpPr/>
          <p:nvPr/>
        </p:nvSpPr>
        <p:spPr>
          <a:xfrm>
            <a:off x="2101602" y="3708797"/>
            <a:ext cx="1720751" cy="1254026"/>
          </a:xfrm>
          <a:prstGeom prst="rect">
            <a:avLst/>
          </a:prstGeom>
          <a:solidFill>
            <a:srgbClr val="F1C40F">
              <a:alpha val="10000"/>
            </a:srgbClr>
          </a:solidFill>
          <a:ln w="9525">
            <a:solidFill>
              <a:srgbClr val="F1C40F"/>
            </a:solidFill>
          </a:ln>
        </p:spPr>
        <p:txBody>
          <a:bodyPr wrap="square" rtlCol="0" anchor="ctr"/>
          <a:lstStyle/>
          <a:p>
            <a:pPr indent="0" marL="0">
              <a:buNone/>
            </a:pPr>
            <a:endParaRPr lang="en-US" dirty="0"/>
          </a:p>
        </p:txBody>
      </p:sp>
      <p:sp>
        <p:nvSpPr>
          <p:cNvPr id="16" name="Text 14"/>
          <p:cNvSpPr/>
          <p:nvPr/>
        </p:nvSpPr>
        <p:spPr>
          <a:xfrm>
            <a:off x="2249558" y="4073872"/>
            <a:ext cx="1424839" cy="276225"/>
          </a:xfrm>
          <a:prstGeom prst="rect">
            <a:avLst/>
          </a:prstGeom>
          <a:noFill/>
          <a:ln/>
        </p:spPr>
        <p:txBody>
          <a:bodyPr wrap="square" lIns="0" tIns="0" rIns="0" bIns="0" rtlCol="0" anchor="t"/>
          <a:lstStyle/>
          <a:p>
            <a:pPr algn="ctr" indent="0" marL="0">
              <a:spcBef>
                <a:spcPts val="1800"/>
              </a:spcBef>
              <a:spcAft>
                <a:spcPts val="1800"/>
              </a:spcAft>
              <a:buNone/>
            </a:pPr>
            <a:r>
              <a:rPr lang="en-US" sz="1800" b="1" dirty="0">
                <a:solidFill>
                  <a:srgbClr val="F1C40F"/>
                </a:solidFill>
                <a:latin typeface="Arial" pitchFamily="34" charset="0"/>
                <a:ea typeface="Arial" pitchFamily="34" charset="-122"/>
                <a:cs typeface="Arial" pitchFamily="34" charset="-120"/>
              </a:rPr>
              <a:t>✓</a:t>
            </a:r>
            <a:endParaRPr lang="en-US" sz="1800" dirty="0"/>
          </a:p>
        </p:txBody>
      </p:sp>
      <p:sp>
        <p:nvSpPr>
          <p:cNvPr id="17" name="Text 15"/>
          <p:cNvSpPr/>
          <p:nvPr/>
        </p:nvSpPr>
        <p:spPr>
          <a:xfrm>
            <a:off x="2249558" y="4578697"/>
            <a:ext cx="1424839" cy="133350"/>
          </a:xfrm>
          <a:prstGeom prst="rect">
            <a:avLst/>
          </a:prstGeom>
          <a:noFill/>
          <a:ln/>
        </p:spPr>
        <p:txBody>
          <a:bodyPr wrap="square" lIns="0" tIns="0" rIns="0" bIns="0" rtlCol="0" anchor="t"/>
          <a:lstStyle/>
          <a:p>
            <a:pPr algn="ctr" indent="0" marL="0">
              <a:spcBef>
                <a:spcPts val="900"/>
              </a:spcBef>
              <a:spcAft>
                <a:spcPts val="900"/>
              </a:spcAft>
              <a:buNone/>
            </a:pPr>
            <a:r>
              <a:rPr lang="en-US" sz="900" dirty="0">
                <a:solidFill>
                  <a:srgbClr val="B0BEC5"/>
                </a:solidFill>
                <a:latin typeface="Arial" pitchFamily="34" charset="0"/>
                <a:ea typeface="Arial" pitchFamily="34" charset="-122"/>
                <a:cs typeface="Arial" pitchFamily="34" charset="-120"/>
              </a:rPr>
              <a:t>Committee Verified</a:t>
            </a:r>
            <a:endParaRPr lang="en-US" sz="900" dirty="0"/>
          </a:p>
        </p:txBody>
      </p:sp>
      <p:sp>
        <p:nvSpPr>
          <p:cNvPr id="18" name="Shape 16"/>
          <p:cNvSpPr/>
          <p:nvPr/>
        </p:nvSpPr>
        <p:spPr>
          <a:xfrm>
            <a:off x="4378226" y="0"/>
            <a:ext cx="0" cy="5143500"/>
          </a:xfrm>
          <a:prstGeom prst="line">
            <a:avLst/>
          </a:prstGeom>
          <a:noFill/>
          <a:ln w="19050">
            <a:solidFill>
              <a:srgbClr val="F1C40F"/>
            </a:solidFill>
            <a:prstDash val="solid"/>
          </a:ln>
        </p:spPr>
      </p:sp>
      <p:sp>
        <p:nvSpPr>
          <p:cNvPr id="19" name="Text 17"/>
          <p:cNvSpPr/>
          <p:nvPr/>
        </p:nvSpPr>
        <p:spPr>
          <a:xfrm>
            <a:off x="4616351" y="175617"/>
            <a:ext cx="4385030" cy="133350"/>
          </a:xfrm>
          <a:prstGeom prst="rect">
            <a:avLst/>
          </a:prstGeom>
          <a:noFill/>
          <a:ln/>
        </p:spPr>
        <p:txBody>
          <a:bodyPr wrap="square" lIns="0" tIns="0" rIns="0" bIns="0" rtlCol="0" anchor="t"/>
          <a:lstStyle/>
          <a:p>
            <a:pPr algn="l" indent="0" marL="0">
              <a:spcBef>
                <a:spcPts val="900"/>
              </a:spcBef>
              <a:spcAft>
                <a:spcPts val="1000"/>
              </a:spcAft>
              <a:buNone/>
            </a:pPr>
            <a:r>
              <a:rPr lang="en-US" sz="900" dirty="0">
                <a:solidFill>
                  <a:srgbClr val="8B8B8B"/>
                </a:solidFill>
                <a:latin typeface="Arial" pitchFamily="34" charset="0"/>
                <a:ea typeface="Arial" pitchFamily="34" charset="-122"/>
                <a:cs typeface="Arial" pitchFamily="34" charset="-120"/>
              </a:rPr>
              <a:t>THE 4 AGENT MODULES</a:t>
            </a:r>
            <a:endParaRPr lang="en-US" sz="900" dirty="0"/>
          </a:p>
        </p:txBody>
      </p:sp>
      <p:sp>
        <p:nvSpPr>
          <p:cNvPr id="20" name="Text 18"/>
          <p:cNvSpPr/>
          <p:nvPr/>
        </p:nvSpPr>
        <p:spPr>
          <a:xfrm>
            <a:off x="4616351" y="435918"/>
            <a:ext cx="4299049" cy="1129903"/>
          </a:xfrm>
          <a:prstGeom prst="rect">
            <a:avLst/>
          </a:prstGeom>
          <a:solidFill>
            <a:srgbClr val="F1C40F">
              <a:alpha val="6000"/>
            </a:srgbClr>
          </a:solidFill>
          <a:ln w="9525">
            <a:solidFill>
              <a:srgbClr val="F1C40F"/>
            </a:solidFill>
          </a:ln>
        </p:spPr>
        <p:txBody>
          <a:bodyPr wrap="square" rtlCol="0" anchor="ctr"/>
          <a:lstStyle/>
          <a:p>
            <a:pPr indent="0" marL="0">
              <a:buNone/>
            </a:pPr>
            <a:endParaRPr lang="en-US" dirty="0"/>
          </a:p>
        </p:txBody>
      </p:sp>
      <p:sp>
        <p:nvSpPr>
          <p:cNvPr id="21" name="Text 19"/>
          <p:cNvSpPr/>
          <p:nvPr/>
        </p:nvSpPr>
        <p:spPr>
          <a:xfrm>
            <a:off x="4778276" y="699343"/>
            <a:ext cx="1036219" cy="142875"/>
          </a:xfrm>
          <a:prstGeom prst="rect">
            <a:avLst/>
          </a:prstGeom>
          <a:noFill/>
          <a:ln/>
        </p:spPr>
        <p:txBody>
          <a:bodyPr wrap="square" lIns="0" tIns="0" rIns="0" bIns="0" rtlCol="0" anchor="t"/>
          <a:lstStyle/>
          <a:p>
            <a:pPr algn="l" indent="0" marL="0">
              <a:spcBef>
                <a:spcPts val="1000"/>
              </a:spcBef>
              <a:spcAft>
                <a:spcPts val="1000"/>
              </a:spcAft>
              <a:buNone/>
            </a:pPr>
            <a:r>
              <a:rPr lang="en-US" sz="1000" b="1" dirty="0">
                <a:solidFill>
                  <a:srgbClr val="F1C40F"/>
                </a:solidFill>
                <a:latin typeface="Arial" pitchFamily="34" charset="0"/>
                <a:ea typeface="Arial" pitchFamily="34" charset="-122"/>
                <a:cs typeface="Arial" pitchFamily="34" charset="-120"/>
              </a:rPr>
              <a:t>MODULE 1</a:t>
            </a:r>
            <a:endParaRPr lang="en-US" sz="1000" dirty="0"/>
          </a:p>
        </p:txBody>
      </p:sp>
      <p:sp>
        <p:nvSpPr>
          <p:cNvPr id="22" name="Text 20"/>
          <p:cNvSpPr/>
          <p:nvPr/>
        </p:nvSpPr>
        <p:spPr>
          <a:xfrm>
            <a:off x="5921127" y="699343"/>
            <a:ext cx="2888995" cy="355402"/>
          </a:xfrm>
          <a:prstGeom prst="rect">
            <a:avLst/>
          </a:prstGeom>
          <a:noFill/>
          <a:ln/>
        </p:spPr>
        <p:txBody>
          <a:bodyPr wrap="square" lIns="0" tIns="0" rIns="0" bIns="0" rtlCol="0" anchor="t"/>
          <a:lstStyle/>
          <a:p>
            <a:pPr algn="l" indent="0" marL="0">
              <a:lnSpc>
                <a:spcPts val="1400"/>
              </a:lnSpc>
              <a:spcBef>
                <a:spcPts val="1000"/>
              </a:spcBef>
              <a:spcAft>
                <a:spcPts val="1000"/>
              </a:spcAft>
              <a:buNone/>
            </a:pPr>
            <a:r>
              <a:rPr lang="en-US" sz="1000" b="1" dirty="0">
                <a:solidFill>
                  <a:srgbClr val="E0E0E0"/>
                </a:solidFill>
                <a:latin typeface="Arial" pitchFamily="34" charset="0"/>
                <a:ea typeface="Arial" pitchFamily="34" charset="-122"/>
                <a:cs typeface="Arial" pitchFamily="34" charset="-120"/>
              </a:rPr>
              <a:t>Literature Agent</a:t>
            </a:r>
            <a:pPr algn="l" indent="0" marL="0">
              <a:lnSpc>
                <a:spcPts val="1400"/>
              </a:lnSpc>
              <a:spcBef>
                <a:spcPts val="1000"/>
              </a:spcBef>
              <a:spcAft>
                <a:spcPts val="1000"/>
              </a:spcAft>
              <a:buNone/>
            </a:pPr>
            <a:r>
              <a:rPr lang="en-US" sz="1000" dirty="0">
                <a:solidFill>
                  <a:srgbClr val="E0E0E0"/>
                </a:solidFill>
                <a:latin typeface="Arial" pitchFamily="34" charset="0"/>
                <a:ea typeface="Arial" pitchFamily="34" charset="-122"/>
                <a:cs typeface="Arial" pitchFamily="34" charset="-120"/>
              </a:rPr>
              <a:t> — systematic review of 200+ papers</a:t>
            </a:r>
            <a:endParaRPr lang="en-US" sz="1000" dirty="0"/>
          </a:p>
        </p:txBody>
      </p:sp>
      <p:sp>
        <p:nvSpPr>
          <p:cNvPr id="23" name="Text 21"/>
          <p:cNvSpPr/>
          <p:nvPr/>
        </p:nvSpPr>
        <p:spPr>
          <a:xfrm>
            <a:off x="5921127" y="1181695"/>
            <a:ext cx="2888995" cy="133350"/>
          </a:xfrm>
          <a:prstGeom prst="rect">
            <a:avLst/>
          </a:prstGeom>
          <a:noFill/>
          <a:ln/>
        </p:spPr>
        <p:txBody>
          <a:bodyPr wrap="square" lIns="0" tIns="0" rIns="0" bIns="0" rtlCol="0" anchor="t"/>
          <a:lstStyle/>
          <a:p>
            <a:pPr algn="l" indent="0" marL="0">
              <a:spcBef>
                <a:spcPts val="200"/>
              </a:spcBef>
              <a:spcAft>
                <a:spcPts val="900"/>
              </a:spcAft>
              <a:buNone/>
            </a:pPr>
            <a:r>
              <a:rPr lang="en-US" sz="900" dirty="0">
                <a:solidFill>
                  <a:srgbClr val="2ECC71"/>
                </a:solidFill>
                <a:latin typeface="Arial" pitchFamily="34" charset="0"/>
                <a:ea typeface="Arial" pitchFamily="34" charset="-122"/>
                <a:cs typeface="Arial" pitchFamily="34" charset="-120"/>
              </a:rPr>
              <a:t>Output: annotated bibliography + gap analysis</a:t>
            </a:r>
            <a:endParaRPr lang="en-US" sz="900" dirty="0"/>
          </a:p>
        </p:txBody>
      </p:sp>
      <p:sp>
        <p:nvSpPr>
          <p:cNvPr id="24" name="Text 22"/>
          <p:cNvSpPr/>
          <p:nvPr/>
        </p:nvSpPr>
        <p:spPr>
          <a:xfrm>
            <a:off x="4616351" y="1667321"/>
            <a:ext cx="4299049" cy="1129903"/>
          </a:xfrm>
          <a:prstGeom prst="rect">
            <a:avLst/>
          </a:prstGeom>
          <a:solidFill>
            <a:srgbClr val="F1C40F">
              <a:alpha val="6000"/>
            </a:srgbClr>
          </a:solidFill>
          <a:ln w="9525">
            <a:solidFill>
              <a:srgbClr val="F1C40F"/>
            </a:solidFill>
          </a:ln>
        </p:spPr>
        <p:txBody>
          <a:bodyPr wrap="square" rtlCol="0" anchor="ctr"/>
          <a:lstStyle/>
          <a:p>
            <a:pPr indent="0" marL="0">
              <a:buNone/>
            </a:pPr>
            <a:endParaRPr lang="en-US" dirty="0"/>
          </a:p>
        </p:txBody>
      </p:sp>
      <p:sp>
        <p:nvSpPr>
          <p:cNvPr id="25" name="Text 23"/>
          <p:cNvSpPr/>
          <p:nvPr/>
        </p:nvSpPr>
        <p:spPr>
          <a:xfrm>
            <a:off x="4778276" y="1930747"/>
            <a:ext cx="1036219" cy="142875"/>
          </a:xfrm>
          <a:prstGeom prst="rect">
            <a:avLst/>
          </a:prstGeom>
          <a:noFill/>
          <a:ln/>
        </p:spPr>
        <p:txBody>
          <a:bodyPr wrap="square" lIns="0" tIns="0" rIns="0" bIns="0" rtlCol="0" anchor="t"/>
          <a:lstStyle/>
          <a:p>
            <a:pPr algn="l" indent="0" marL="0">
              <a:spcBef>
                <a:spcPts val="1000"/>
              </a:spcBef>
              <a:spcAft>
                <a:spcPts val="1000"/>
              </a:spcAft>
              <a:buNone/>
            </a:pPr>
            <a:r>
              <a:rPr lang="en-US" sz="1000" b="1" dirty="0">
                <a:solidFill>
                  <a:srgbClr val="F1C40F"/>
                </a:solidFill>
                <a:latin typeface="Arial" pitchFamily="34" charset="0"/>
                <a:ea typeface="Arial" pitchFamily="34" charset="-122"/>
                <a:cs typeface="Arial" pitchFamily="34" charset="-120"/>
              </a:rPr>
              <a:t>MODULE 2</a:t>
            </a:r>
            <a:endParaRPr lang="en-US" sz="1000" dirty="0"/>
          </a:p>
        </p:txBody>
      </p:sp>
      <p:sp>
        <p:nvSpPr>
          <p:cNvPr id="26" name="Text 24"/>
          <p:cNvSpPr/>
          <p:nvPr/>
        </p:nvSpPr>
        <p:spPr>
          <a:xfrm>
            <a:off x="5921127" y="1930747"/>
            <a:ext cx="2888995" cy="355402"/>
          </a:xfrm>
          <a:prstGeom prst="rect">
            <a:avLst/>
          </a:prstGeom>
          <a:noFill/>
          <a:ln/>
        </p:spPr>
        <p:txBody>
          <a:bodyPr wrap="square" lIns="0" tIns="0" rIns="0" bIns="0" rtlCol="0" anchor="t"/>
          <a:lstStyle/>
          <a:p>
            <a:pPr algn="l" indent="0" marL="0">
              <a:lnSpc>
                <a:spcPts val="1400"/>
              </a:lnSpc>
              <a:spcBef>
                <a:spcPts val="1000"/>
              </a:spcBef>
              <a:spcAft>
                <a:spcPts val="1000"/>
              </a:spcAft>
              <a:buNone/>
            </a:pPr>
            <a:r>
              <a:rPr lang="en-US" sz="1000" b="1" dirty="0">
                <a:solidFill>
                  <a:srgbClr val="E0E0E0"/>
                </a:solidFill>
                <a:latin typeface="Arial" pitchFamily="34" charset="0"/>
                <a:ea typeface="Arial" pitchFamily="34" charset="-122"/>
                <a:cs typeface="Arial" pitchFamily="34" charset="-120"/>
              </a:rPr>
              <a:t>Hypothesis Agent</a:t>
            </a:r>
            <a:pPr algn="l" indent="0" marL="0">
              <a:lnSpc>
                <a:spcPts val="1400"/>
              </a:lnSpc>
              <a:spcBef>
                <a:spcPts val="1000"/>
              </a:spcBef>
              <a:spcAft>
                <a:spcPts val="1000"/>
              </a:spcAft>
              <a:buNone/>
            </a:pPr>
            <a:r>
              <a:rPr lang="en-US" sz="1000" dirty="0">
                <a:solidFill>
                  <a:srgbClr val="E0E0E0"/>
                </a:solidFill>
                <a:latin typeface="Arial" pitchFamily="34" charset="0"/>
                <a:ea typeface="Arial" pitchFamily="34" charset="-122"/>
                <a:cs typeface="Arial" pitchFamily="34" charset="-120"/>
              </a:rPr>
              <a:t> — generates testable research questions</a:t>
            </a:r>
            <a:endParaRPr lang="en-US" sz="1000" dirty="0"/>
          </a:p>
        </p:txBody>
      </p:sp>
      <p:sp>
        <p:nvSpPr>
          <p:cNvPr id="27" name="Text 25"/>
          <p:cNvSpPr/>
          <p:nvPr/>
        </p:nvSpPr>
        <p:spPr>
          <a:xfrm>
            <a:off x="5921127" y="2413099"/>
            <a:ext cx="2888995" cy="133350"/>
          </a:xfrm>
          <a:prstGeom prst="rect">
            <a:avLst/>
          </a:prstGeom>
          <a:noFill/>
          <a:ln/>
        </p:spPr>
        <p:txBody>
          <a:bodyPr wrap="square" lIns="0" tIns="0" rIns="0" bIns="0" rtlCol="0" anchor="t"/>
          <a:lstStyle/>
          <a:p>
            <a:pPr algn="l" indent="0" marL="0">
              <a:spcBef>
                <a:spcPts val="200"/>
              </a:spcBef>
              <a:spcAft>
                <a:spcPts val="900"/>
              </a:spcAft>
              <a:buNone/>
            </a:pPr>
            <a:r>
              <a:rPr lang="en-US" sz="900" dirty="0">
                <a:solidFill>
                  <a:srgbClr val="2ECC71"/>
                </a:solidFill>
                <a:latin typeface="Arial" pitchFamily="34" charset="0"/>
                <a:ea typeface="Arial" pitchFamily="34" charset="-122"/>
                <a:cs typeface="Arial" pitchFamily="34" charset="-120"/>
              </a:rPr>
              <a:t>Output: 3 ranked specific aims with justification</a:t>
            </a:r>
            <a:endParaRPr lang="en-US" sz="900" dirty="0"/>
          </a:p>
        </p:txBody>
      </p:sp>
      <p:sp>
        <p:nvSpPr>
          <p:cNvPr id="28" name="Text 26"/>
          <p:cNvSpPr/>
          <p:nvPr/>
        </p:nvSpPr>
        <p:spPr>
          <a:xfrm>
            <a:off x="4616351" y="2898725"/>
            <a:ext cx="4299049" cy="952202"/>
          </a:xfrm>
          <a:prstGeom prst="rect">
            <a:avLst/>
          </a:prstGeom>
          <a:solidFill>
            <a:srgbClr val="F1C40F">
              <a:alpha val="6000"/>
            </a:srgbClr>
          </a:solidFill>
          <a:ln w="9525">
            <a:solidFill>
              <a:srgbClr val="F1C40F"/>
            </a:solidFill>
          </a:ln>
        </p:spPr>
        <p:txBody>
          <a:bodyPr wrap="square" rtlCol="0" anchor="ctr"/>
          <a:lstStyle/>
          <a:p>
            <a:pPr indent="0" marL="0">
              <a:buNone/>
            </a:pPr>
            <a:endParaRPr lang="en-US" dirty="0"/>
          </a:p>
        </p:txBody>
      </p:sp>
      <p:sp>
        <p:nvSpPr>
          <p:cNvPr id="29" name="Text 27"/>
          <p:cNvSpPr/>
          <p:nvPr/>
        </p:nvSpPr>
        <p:spPr>
          <a:xfrm>
            <a:off x="4778276" y="3162151"/>
            <a:ext cx="1036219" cy="142875"/>
          </a:xfrm>
          <a:prstGeom prst="rect">
            <a:avLst/>
          </a:prstGeom>
          <a:noFill/>
          <a:ln/>
        </p:spPr>
        <p:txBody>
          <a:bodyPr wrap="square" lIns="0" tIns="0" rIns="0" bIns="0" rtlCol="0" anchor="t"/>
          <a:lstStyle/>
          <a:p>
            <a:pPr algn="l" indent="0" marL="0">
              <a:spcBef>
                <a:spcPts val="1000"/>
              </a:spcBef>
              <a:spcAft>
                <a:spcPts val="1000"/>
              </a:spcAft>
              <a:buNone/>
            </a:pPr>
            <a:r>
              <a:rPr lang="en-US" sz="1000" b="1" dirty="0">
                <a:solidFill>
                  <a:srgbClr val="F1C40F"/>
                </a:solidFill>
                <a:latin typeface="Arial" pitchFamily="34" charset="0"/>
                <a:ea typeface="Arial" pitchFamily="34" charset="-122"/>
                <a:cs typeface="Arial" pitchFamily="34" charset="-120"/>
              </a:rPr>
              <a:t>MODULE 3</a:t>
            </a:r>
            <a:endParaRPr lang="en-US" sz="1000" dirty="0"/>
          </a:p>
        </p:txBody>
      </p:sp>
      <p:sp>
        <p:nvSpPr>
          <p:cNvPr id="30" name="Text 28"/>
          <p:cNvSpPr/>
          <p:nvPr/>
        </p:nvSpPr>
        <p:spPr>
          <a:xfrm>
            <a:off x="5921127" y="3162151"/>
            <a:ext cx="2641402" cy="177701"/>
          </a:xfrm>
          <a:prstGeom prst="rect">
            <a:avLst/>
          </a:prstGeom>
          <a:noFill/>
          <a:ln/>
        </p:spPr>
        <p:txBody>
          <a:bodyPr wrap="square" lIns="0" tIns="0" rIns="0" bIns="0" rtlCol="0" anchor="t"/>
          <a:lstStyle/>
          <a:p>
            <a:pPr algn="l" indent="0" marL="0">
              <a:lnSpc>
                <a:spcPts val="1400"/>
              </a:lnSpc>
              <a:spcBef>
                <a:spcPts val="1000"/>
              </a:spcBef>
              <a:spcAft>
                <a:spcPts val="1000"/>
              </a:spcAft>
              <a:buNone/>
            </a:pPr>
            <a:r>
              <a:rPr lang="en-US" sz="1000" b="1" dirty="0">
                <a:solidFill>
                  <a:srgbClr val="E0E0E0"/>
                </a:solidFill>
                <a:latin typeface="Arial" pitchFamily="34" charset="0"/>
                <a:ea typeface="Arial" pitchFamily="34" charset="-122"/>
                <a:cs typeface="Arial" pitchFamily="34" charset="-120"/>
              </a:rPr>
              <a:t>Writing Agent</a:t>
            </a:r>
            <a:pPr algn="l" indent="0" marL="0">
              <a:lnSpc>
                <a:spcPts val="1400"/>
              </a:lnSpc>
              <a:spcBef>
                <a:spcPts val="1000"/>
              </a:spcBef>
              <a:spcAft>
                <a:spcPts val="1000"/>
              </a:spcAft>
              <a:buNone/>
            </a:pPr>
            <a:r>
              <a:rPr lang="en-US" sz="1000" dirty="0">
                <a:solidFill>
                  <a:srgbClr val="E0E0E0"/>
                </a:solidFill>
                <a:latin typeface="Arial" pitchFamily="34" charset="0"/>
                <a:ea typeface="Arial" pitchFamily="34" charset="-122"/>
                <a:cs typeface="Arial" pitchFamily="34" charset="-120"/>
              </a:rPr>
              <a:t> — drafts full proposal narrative</a:t>
            </a:r>
            <a:endParaRPr lang="en-US" sz="1000" dirty="0"/>
          </a:p>
        </p:txBody>
      </p:sp>
      <p:sp>
        <p:nvSpPr>
          <p:cNvPr id="31" name="Text 29"/>
          <p:cNvSpPr/>
          <p:nvPr/>
        </p:nvSpPr>
        <p:spPr>
          <a:xfrm>
            <a:off x="5921127" y="3466802"/>
            <a:ext cx="2641402" cy="133350"/>
          </a:xfrm>
          <a:prstGeom prst="rect">
            <a:avLst/>
          </a:prstGeom>
          <a:noFill/>
          <a:ln/>
        </p:spPr>
        <p:txBody>
          <a:bodyPr wrap="square" lIns="0" tIns="0" rIns="0" bIns="0" rtlCol="0" anchor="t"/>
          <a:lstStyle/>
          <a:p>
            <a:pPr algn="l" indent="0" marL="0">
              <a:spcBef>
                <a:spcPts val="200"/>
              </a:spcBef>
              <a:spcAft>
                <a:spcPts val="900"/>
              </a:spcAft>
              <a:buNone/>
            </a:pPr>
            <a:r>
              <a:rPr lang="en-US" sz="900" dirty="0">
                <a:solidFill>
                  <a:srgbClr val="2ECC71"/>
                </a:solidFill>
                <a:latin typeface="Arial" pitchFamily="34" charset="0"/>
                <a:ea typeface="Arial" pitchFamily="34" charset="-122"/>
                <a:cs typeface="Arial" pitchFamily="34" charset="-120"/>
              </a:rPr>
              <a:t>Output: NSTC-formatted 20-page draft</a:t>
            </a:r>
            <a:endParaRPr lang="en-US" sz="900" dirty="0"/>
          </a:p>
        </p:txBody>
      </p:sp>
      <p:sp>
        <p:nvSpPr>
          <p:cNvPr id="32" name="Text 30"/>
          <p:cNvSpPr/>
          <p:nvPr/>
        </p:nvSpPr>
        <p:spPr>
          <a:xfrm>
            <a:off x="4616351" y="3952429"/>
            <a:ext cx="4299049" cy="1129903"/>
          </a:xfrm>
          <a:prstGeom prst="rect">
            <a:avLst/>
          </a:prstGeom>
          <a:solidFill>
            <a:srgbClr val="F1C40F">
              <a:alpha val="6000"/>
            </a:srgbClr>
          </a:solidFill>
          <a:ln w="9525">
            <a:solidFill>
              <a:srgbClr val="F1C40F"/>
            </a:solidFill>
          </a:ln>
        </p:spPr>
        <p:txBody>
          <a:bodyPr wrap="square" rtlCol="0" anchor="ctr"/>
          <a:lstStyle/>
          <a:p>
            <a:pPr indent="0" marL="0">
              <a:buNone/>
            </a:pPr>
            <a:endParaRPr lang="en-US" dirty="0"/>
          </a:p>
        </p:txBody>
      </p:sp>
      <p:sp>
        <p:nvSpPr>
          <p:cNvPr id="33" name="Text 31"/>
          <p:cNvSpPr/>
          <p:nvPr/>
        </p:nvSpPr>
        <p:spPr>
          <a:xfrm>
            <a:off x="4778276" y="4215854"/>
            <a:ext cx="1036219" cy="142875"/>
          </a:xfrm>
          <a:prstGeom prst="rect">
            <a:avLst/>
          </a:prstGeom>
          <a:noFill/>
          <a:ln/>
        </p:spPr>
        <p:txBody>
          <a:bodyPr wrap="square" lIns="0" tIns="0" rIns="0" bIns="0" rtlCol="0" anchor="t"/>
          <a:lstStyle/>
          <a:p>
            <a:pPr algn="l" indent="0" marL="0">
              <a:spcBef>
                <a:spcPts val="1000"/>
              </a:spcBef>
              <a:spcAft>
                <a:spcPts val="1000"/>
              </a:spcAft>
              <a:buNone/>
            </a:pPr>
            <a:r>
              <a:rPr lang="en-US" sz="1000" b="1" dirty="0">
                <a:solidFill>
                  <a:srgbClr val="F1C40F"/>
                </a:solidFill>
                <a:latin typeface="Arial" pitchFamily="34" charset="0"/>
                <a:ea typeface="Arial" pitchFamily="34" charset="-122"/>
                <a:cs typeface="Arial" pitchFamily="34" charset="-120"/>
              </a:rPr>
              <a:t>MODULE 4</a:t>
            </a:r>
            <a:endParaRPr lang="en-US" sz="1000" dirty="0"/>
          </a:p>
        </p:txBody>
      </p:sp>
      <p:sp>
        <p:nvSpPr>
          <p:cNvPr id="34" name="Text 32"/>
          <p:cNvSpPr/>
          <p:nvPr/>
        </p:nvSpPr>
        <p:spPr>
          <a:xfrm>
            <a:off x="5921127" y="4215854"/>
            <a:ext cx="2888995" cy="355402"/>
          </a:xfrm>
          <a:prstGeom prst="rect">
            <a:avLst/>
          </a:prstGeom>
          <a:noFill/>
          <a:ln/>
        </p:spPr>
        <p:txBody>
          <a:bodyPr wrap="square" lIns="0" tIns="0" rIns="0" bIns="0" rtlCol="0" anchor="t"/>
          <a:lstStyle/>
          <a:p>
            <a:pPr algn="l" indent="0" marL="0">
              <a:lnSpc>
                <a:spcPts val="1400"/>
              </a:lnSpc>
              <a:spcBef>
                <a:spcPts val="1000"/>
              </a:spcBef>
              <a:spcAft>
                <a:spcPts val="1000"/>
              </a:spcAft>
              <a:buNone/>
            </a:pPr>
            <a:r>
              <a:rPr lang="en-US" sz="1000" b="1" dirty="0">
                <a:solidFill>
                  <a:srgbClr val="E0E0E0"/>
                </a:solidFill>
                <a:latin typeface="Arial" pitchFamily="34" charset="0"/>
                <a:ea typeface="Arial" pitchFamily="34" charset="-122"/>
                <a:cs typeface="Arial" pitchFamily="34" charset="-120"/>
              </a:rPr>
              <a:t>Review Agent</a:t>
            </a:r>
            <a:pPr algn="l" indent="0" marL="0">
              <a:lnSpc>
                <a:spcPts val="1400"/>
              </a:lnSpc>
              <a:spcBef>
                <a:spcPts val="1000"/>
              </a:spcBef>
              <a:spcAft>
                <a:spcPts val="1000"/>
              </a:spcAft>
              <a:buNone/>
            </a:pPr>
            <a:r>
              <a:rPr lang="en-US" sz="1000" dirty="0">
                <a:solidFill>
                  <a:srgbClr val="E0E0E0"/>
                </a:solidFill>
                <a:latin typeface="Arial" pitchFamily="34" charset="0"/>
                <a:ea typeface="Arial" pitchFamily="34" charset="-122"/>
                <a:cs typeface="Arial" pitchFamily="34" charset="-120"/>
              </a:rPr>
              <a:t> — critiques and suggests improvements</a:t>
            </a:r>
            <a:endParaRPr lang="en-US" sz="1000" dirty="0"/>
          </a:p>
        </p:txBody>
      </p:sp>
      <p:sp>
        <p:nvSpPr>
          <p:cNvPr id="35" name="Text 33"/>
          <p:cNvSpPr/>
          <p:nvPr/>
        </p:nvSpPr>
        <p:spPr>
          <a:xfrm>
            <a:off x="5921127" y="4698206"/>
            <a:ext cx="2888995" cy="133350"/>
          </a:xfrm>
          <a:prstGeom prst="rect">
            <a:avLst/>
          </a:prstGeom>
          <a:noFill/>
          <a:ln/>
        </p:spPr>
        <p:txBody>
          <a:bodyPr wrap="square" lIns="0" tIns="0" rIns="0" bIns="0" rtlCol="0" anchor="t"/>
          <a:lstStyle/>
          <a:p>
            <a:pPr algn="l" indent="0" marL="0">
              <a:spcBef>
                <a:spcPts val="200"/>
              </a:spcBef>
              <a:spcAft>
                <a:spcPts val="900"/>
              </a:spcAft>
              <a:buNone/>
            </a:pPr>
            <a:r>
              <a:rPr lang="en-US" sz="900" dirty="0">
                <a:solidFill>
                  <a:srgbClr val="2ECC71"/>
                </a:solidFill>
                <a:latin typeface="Arial" pitchFamily="34" charset="0"/>
                <a:ea typeface="Arial" pitchFamily="34" charset="-122"/>
                <a:cs typeface="Arial" pitchFamily="34" charset="-120"/>
              </a:rPr>
              <a:t>Output: scored rubric + revision recommendations</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50A1E"/>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D4FF"/>
          </a:solidFill>
          <a:ln/>
        </p:spPr>
        <p:txBody>
          <a:bodyPr wrap="square" rtlCol="0" anchor="ctr"/>
          <a:lstStyle/>
          <a:p>
            <a:pPr indent="0" marL="0">
              <a:buNone/>
            </a:pPr>
            <a:endParaRPr lang="en-US" dirty="0"/>
          </a:p>
        </p:txBody>
      </p:sp>
      <p:sp>
        <p:nvSpPr>
          <p:cNvPr id="3" name="Text 1"/>
          <p:cNvSpPr/>
          <p:nvPr/>
        </p:nvSpPr>
        <p:spPr>
          <a:xfrm>
            <a:off x="3162002" y="262533"/>
            <a:ext cx="2876395" cy="142875"/>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00D4FF"/>
                </a:solidFill>
                <a:latin typeface="Arial" pitchFamily="34" charset="0"/>
                <a:ea typeface="Arial" pitchFamily="34" charset="-122"/>
                <a:cs typeface="Arial" pitchFamily="34" charset="-120"/>
              </a:rPr>
              <a:t>PART 6 — YOUR ACTION PLAN</a:t>
            </a:r>
            <a:endParaRPr lang="en-US" sz="1000" dirty="0"/>
          </a:p>
        </p:txBody>
      </p:sp>
      <p:sp>
        <p:nvSpPr>
          <p:cNvPr id="4" name="Text 2"/>
          <p:cNvSpPr/>
          <p:nvPr/>
        </p:nvSpPr>
        <p:spPr>
          <a:xfrm>
            <a:off x="2711330" y="532358"/>
            <a:ext cx="3721340" cy="409575"/>
          </a:xfrm>
          <a:prstGeom prst="rect">
            <a:avLst/>
          </a:prstGeom>
          <a:noFill/>
          <a:ln/>
        </p:spPr>
        <p:txBody>
          <a:bodyPr wrap="square" lIns="0" tIns="0" rIns="0" bIns="0" rtlCol="0" anchor="t"/>
          <a:lstStyle/>
          <a:p>
            <a:pPr algn="ctr" indent="0" marL="0">
              <a:spcAft>
                <a:spcPts val="600"/>
              </a:spcAft>
              <a:buNone/>
            </a:pPr>
            <a:r>
              <a:rPr lang="en-US" sz="2800" dirty="0">
                <a:solidFill>
                  <a:srgbClr val="FFFFFF"/>
                </a:solidFill>
                <a:latin typeface="Arial" pitchFamily="34" charset="0"/>
                <a:ea typeface="Arial" pitchFamily="34" charset="-122"/>
                <a:cs typeface="Arial" pitchFamily="34" charset="-120"/>
              </a:rPr>
              <a:t>3 Things to </a:t>
            </a:r>
            <a:pPr algn="ctr" indent="0" marL="0">
              <a:spcAft>
                <a:spcPts val="600"/>
              </a:spcAft>
              <a:buNone/>
            </a:pPr>
            <a:r>
              <a:rPr lang="en-US" sz="2800" b="1" dirty="0">
                <a:solidFill>
                  <a:srgbClr val="00D4FF"/>
                </a:solidFill>
                <a:latin typeface="Arial" pitchFamily="34" charset="0"/>
                <a:ea typeface="Arial" pitchFamily="34" charset="-122"/>
                <a:cs typeface="Arial" pitchFamily="34" charset="-120"/>
              </a:rPr>
              <a:t>Try Today</a:t>
            </a:r>
            <a:endParaRPr lang="en-US" sz="2800" dirty="0"/>
          </a:p>
        </p:txBody>
      </p:sp>
      <p:sp>
        <p:nvSpPr>
          <p:cNvPr id="5" name="Text 3"/>
          <p:cNvSpPr/>
          <p:nvPr/>
        </p:nvSpPr>
        <p:spPr>
          <a:xfrm>
            <a:off x="3140180" y="1183184"/>
            <a:ext cx="2863492" cy="200025"/>
          </a:xfrm>
          <a:prstGeom prst="rect">
            <a:avLst/>
          </a:prstGeom>
          <a:noFill/>
          <a:ln/>
        </p:spPr>
        <p:txBody>
          <a:bodyPr wrap="square" lIns="0" tIns="0" rIns="0" bIns="0" rtlCol="0" anchor="t"/>
          <a:lstStyle/>
          <a:p>
            <a:pPr algn="ctr" indent="0" marL="0">
              <a:spcBef>
                <a:spcPts val="1300"/>
              </a:spcBef>
              <a:spcAft>
                <a:spcPts val="2600"/>
              </a:spcAft>
              <a:buNone/>
            </a:pPr>
            <a:r>
              <a:rPr lang="en-US" sz="1300" dirty="0">
                <a:solidFill>
                  <a:srgbClr val="B0BEC5"/>
                </a:solidFill>
                <a:latin typeface="Arial" pitchFamily="34" charset="0"/>
                <a:ea typeface="Arial" pitchFamily="34" charset="-122"/>
                <a:cs typeface="Arial" pitchFamily="34" charset="-120"/>
              </a:rPr>
              <a:t>Start small. Pick one. Build from there.</a:t>
            </a:r>
            <a:endParaRPr lang="en-US" sz="1300" dirty="0"/>
          </a:p>
        </p:txBody>
      </p:sp>
      <p:sp>
        <p:nvSpPr>
          <p:cNvPr id="6" name="Text 4"/>
          <p:cNvSpPr/>
          <p:nvPr/>
        </p:nvSpPr>
        <p:spPr>
          <a:xfrm>
            <a:off x="82748" y="1713309"/>
            <a:ext cx="2857351" cy="3294459"/>
          </a:xfrm>
          <a:prstGeom prst="rect">
            <a:avLst/>
          </a:prstGeom>
          <a:solidFill>
            <a:srgbClr val="00D4FF">
              <a:alpha val="8000"/>
            </a:srgbClr>
          </a:solidFill>
          <a:ln w="19050">
            <a:solidFill>
              <a:srgbClr val="00D4FF"/>
            </a:solidFill>
          </a:ln>
        </p:spPr>
        <p:txBody>
          <a:bodyPr wrap="square" rtlCol="0" anchor="ctr"/>
          <a:lstStyle/>
          <a:p>
            <a:pPr indent="0" marL="0">
              <a:buNone/>
            </a:pPr>
            <a:endParaRPr lang="en-US" dirty="0"/>
          </a:p>
        </p:txBody>
      </p:sp>
      <p:sp>
        <p:nvSpPr>
          <p:cNvPr id="7" name="Text 5"/>
          <p:cNvSpPr/>
          <p:nvPr/>
        </p:nvSpPr>
        <p:spPr>
          <a:xfrm>
            <a:off x="1412528" y="2316510"/>
            <a:ext cx="201748" cy="409575"/>
          </a:xfrm>
          <a:prstGeom prst="rect">
            <a:avLst/>
          </a:prstGeom>
          <a:noFill/>
          <a:ln/>
        </p:spPr>
        <p:txBody>
          <a:bodyPr wrap="square" lIns="0" tIns="0" rIns="0" bIns="0" rtlCol="0" anchor="t"/>
          <a:lstStyle/>
          <a:p>
            <a:pPr algn="l" indent="0" marL="0">
              <a:spcBef>
                <a:spcPts val="2800"/>
              </a:spcBef>
              <a:spcAft>
                <a:spcPts val="800"/>
              </a:spcAft>
              <a:buNone/>
            </a:pPr>
            <a:r>
              <a:rPr lang="en-US" sz="2800" b="1" dirty="0">
                <a:solidFill>
                  <a:srgbClr val="00D4FF"/>
                </a:solidFill>
                <a:latin typeface="Arial" pitchFamily="34" charset="0"/>
                <a:ea typeface="Arial" pitchFamily="34" charset="-122"/>
                <a:cs typeface="Arial" pitchFamily="34" charset="-120"/>
              </a:rPr>
              <a:t>1</a:t>
            </a:r>
            <a:endParaRPr lang="en-US" sz="2800" dirty="0"/>
          </a:p>
        </p:txBody>
      </p:sp>
      <p:sp>
        <p:nvSpPr>
          <p:cNvPr id="8" name="Text 6"/>
          <p:cNvSpPr/>
          <p:nvPr/>
        </p:nvSpPr>
        <p:spPr>
          <a:xfrm>
            <a:off x="670200" y="3005286"/>
            <a:ext cx="1682300" cy="209550"/>
          </a:xfrm>
          <a:prstGeom prst="rect">
            <a:avLst/>
          </a:prstGeom>
          <a:noFill/>
          <a:ln/>
        </p:spPr>
        <p:txBody>
          <a:bodyPr wrap="square" lIns="0" tIns="0" rIns="0" bIns="0" rtlCol="0" anchor="t"/>
          <a:lstStyle/>
          <a:p>
            <a:pPr algn="ctr" indent="0" marL="0">
              <a:spcBef>
                <a:spcPts val="1400"/>
              </a:spcBef>
              <a:spcAft>
                <a:spcPts val="800"/>
              </a:spcAft>
              <a:buNone/>
            </a:pPr>
            <a:r>
              <a:rPr lang="en-US" sz="1400" b="1" dirty="0">
                <a:solidFill>
                  <a:srgbClr val="FFFFFF"/>
                </a:solidFill>
                <a:latin typeface="Arial" pitchFamily="34" charset="0"/>
                <a:ea typeface="Arial" pitchFamily="34" charset="-122"/>
                <a:cs typeface="Arial" pitchFamily="34" charset="-120"/>
              </a:rPr>
              <a:t>Install Claude Code</a:t>
            </a:r>
            <a:endParaRPr lang="en-US" sz="1400" dirty="0"/>
          </a:p>
        </p:txBody>
      </p:sp>
      <p:sp>
        <p:nvSpPr>
          <p:cNvPr id="9" name="Text 7"/>
          <p:cNvSpPr/>
          <p:nvPr/>
        </p:nvSpPr>
        <p:spPr>
          <a:xfrm>
            <a:off x="280819" y="3443288"/>
            <a:ext cx="2461209" cy="571054"/>
          </a:xfrm>
          <a:prstGeom prst="rect">
            <a:avLst/>
          </a:prstGeom>
          <a:noFill/>
          <a:ln/>
        </p:spPr>
        <p:txBody>
          <a:bodyPr wrap="square" lIns="0" tIns="0" rIns="0" bIns="0" rtlCol="0" anchor="t"/>
          <a:lstStyle/>
          <a:p>
            <a:pPr algn="ctr" indent="0" marL="0">
              <a:lnSpc>
                <a:spcPts val="1500"/>
              </a:lnSpc>
              <a:spcBef>
                <a:spcPts val="1000"/>
              </a:spcBef>
              <a:spcAft>
                <a:spcPts val="1000"/>
              </a:spcAft>
              <a:buNone/>
            </a:pPr>
            <a:r>
              <a:rPr lang="en-US" sz="1000" dirty="0">
                <a:solidFill>
                  <a:srgbClr val="B0BEC5"/>
                </a:solidFill>
                <a:latin typeface="Arial" pitchFamily="34" charset="0"/>
                <a:ea typeface="Arial" pitchFamily="34" charset="-122"/>
                <a:cs typeface="Arial" pitchFamily="34" charset="-120"/>
              </a:rPr>
              <a:t>Set up Claude Code on your machine. Spend 30 minutes exploring one task in your current project.</a:t>
            </a:r>
            <a:endParaRPr lang="en-US" sz="1000" dirty="0"/>
          </a:p>
        </p:txBody>
      </p:sp>
      <p:sp>
        <p:nvSpPr>
          <p:cNvPr id="10" name="Text 8"/>
          <p:cNvSpPr/>
          <p:nvPr/>
        </p:nvSpPr>
        <p:spPr>
          <a:xfrm>
            <a:off x="979884" y="4242792"/>
            <a:ext cx="1063079" cy="517327"/>
          </a:xfrm>
          <a:prstGeom prst="rect">
            <a:avLst/>
          </a:prstGeom>
          <a:noFill/>
          <a:ln w="9525">
            <a:solidFill>
              <a:srgbClr val="00D4FF"/>
            </a:solidFill>
          </a:ln>
        </p:spPr>
        <p:txBody>
          <a:bodyPr wrap="square" rtlCol="0" anchor="ctr"/>
          <a:lstStyle/>
          <a:p>
            <a:pPr indent="0" marL="0">
              <a:buNone/>
            </a:pPr>
            <a:endParaRPr lang="en-US" dirty="0"/>
          </a:p>
        </p:txBody>
      </p:sp>
      <p:sp>
        <p:nvSpPr>
          <p:cNvPr id="11" name="Text 9"/>
          <p:cNvSpPr/>
          <p:nvPr/>
        </p:nvSpPr>
        <p:spPr>
          <a:xfrm>
            <a:off x="1108458" y="4430018"/>
            <a:ext cx="805931" cy="142875"/>
          </a:xfrm>
          <a:prstGeom prst="rect">
            <a:avLst/>
          </a:prstGeom>
          <a:noFill/>
          <a:ln/>
        </p:spPr>
        <p:txBody>
          <a:bodyPr wrap="square" lIns="0" tIns="0" rIns="0" bIns="0" rtlCol="0" anchor="t"/>
          <a:lstStyle/>
          <a:p>
            <a:pPr algn="ctr" indent="0" marL="0">
              <a:spcBef>
                <a:spcPts val="1000"/>
              </a:spcBef>
              <a:spcAft>
                <a:spcPts val="1000"/>
              </a:spcAft>
              <a:buNone/>
            </a:pPr>
            <a:r>
              <a:rPr lang="en-US" sz="1000" b="1" dirty="0">
                <a:solidFill>
                  <a:srgbClr val="00D4FF"/>
                </a:solidFill>
                <a:latin typeface="Arial" pitchFamily="34" charset="0"/>
                <a:ea typeface="Arial" pitchFamily="34" charset="-122"/>
                <a:cs typeface="Arial" pitchFamily="34" charset="-120"/>
              </a:rPr>
              <a:t>TIME: 30 MIN</a:t>
            </a:r>
            <a:endParaRPr lang="en-US" sz="1000" dirty="0"/>
          </a:p>
        </p:txBody>
      </p:sp>
      <p:sp>
        <p:nvSpPr>
          <p:cNvPr id="12" name="Text 10"/>
          <p:cNvSpPr/>
          <p:nvPr/>
        </p:nvSpPr>
        <p:spPr>
          <a:xfrm>
            <a:off x="3143250" y="1713309"/>
            <a:ext cx="2857351" cy="3294459"/>
          </a:xfrm>
          <a:prstGeom prst="rect">
            <a:avLst/>
          </a:prstGeom>
          <a:solidFill>
            <a:srgbClr val="9B59B6">
              <a:alpha val="8000"/>
            </a:srgbClr>
          </a:solidFill>
          <a:ln w="19050">
            <a:solidFill>
              <a:srgbClr val="9B59B6"/>
            </a:solidFill>
          </a:ln>
        </p:spPr>
        <p:txBody>
          <a:bodyPr wrap="square" rtlCol="0" anchor="ctr"/>
          <a:lstStyle/>
          <a:p>
            <a:pPr indent="0" marL="0">
              <a:buNone/>
            </a:pPr>
            <a:endParaRPr lang="en-US" dirty="0"/>
          </a:p>
        </p:txBody>
      </p:sp>
      <p:sp>
        <p:nvSpPr>
          <p:cNvPr id="13" name="Text 11"/>
          <p:cNvSpPr/>
          <p:nvPr/>
        </p:nvSpPr>
        <p:spPr>
          <a:xfrm>
            <a:off x="4473029" y="2316510"/>
            <a:ext cx="201748" cy="409575"/>
          </a:xfrm>
          <a:prstGeom prst="rect">
            <a:avLst/>
          </a:prstGeom>
          <a:noFill/>
          <a:ln/>
        </p:spPr>
        <p:txBody>
          <a:bodyPr wrap="square" lIns="0" tIns="0" rIns="0" bIns="0" rtlCol="0" anchor="t"/>
          <a:lstStyle/>
          <a:p>
            <a:pPr algn="l" indent="0" marL="0">
              <a:spcBef>
                <a:spcPts val="2800"/>
              </a:spcBef>
              <a:spcAft>
                <a:spcPts val="800"/>
              </a:spcAft>
              <a:buNone/>
            </a:pPr>
            <a:r>
              <a:rPr lang="en-US" sz="2800" b="1" dirty="0">
                <a:solidFill>
                  <a:srgbClr val="9B59B6"/>
                </a:solidFill>
                <a:latin typeface="Arial" pitchFamily="34" charset="0"/>
                <a:ea typeface="Arial" pitchFamily="34" charset="-122"/>
                <a:cs typeface="Arial" pitchFamily="34" charset="-120"/>
              </a:rPr>
              <a:t>2</a:t>
            </a:r>
            <a:endParaRPr lang="en-US" sz="2800" dirty="0"/>
          </a:p>
        </p:txBody>
      </p:sp>
      <p:sp>
        <p:nvSpPr>
          <p:cNvPr id="14" name="Text 12"/>
          <p:cNvSpPr/>
          <p:nvPr/>
        </p:nvSpPr>
        <p:spPr>
          <a:xfrm>
            <a:off x="3557948" y="3005286"/>
            <a:ext cx="2027807" cy="209550"/>
          </a:xfrm>
          <a:prstGeom prst="rect">
            <a:avLst/>
          </a:prstGeom>
          <a:noFill/>
          <a:ln/>
        </p:spPr>
        <p:txBody>
          <a:bodyPr wrap="square" lIns="0" tIns="0" rIns="0" bIns="0" rtlCol="0" anchor="t"/>
          <a:lstStyle/>
          <a:p>
            <a:pPr algn="ctr" indent="0" marL="0">
              <a:spcBef>
                <a:spcPts val="1400"/>
              </a:spcBef>
              <a:spcAft>
                <a:spcPts val="800"/>
              </a:spcAft>
              <a:buNone/>
            </a:pPr>
            <a:r>
              <a:rPr lang="en-US" sz="1400" b="1" dirty="0">
                <a:solidFill>
                  <a:srgbClr val="FFFFFF"/>
                </a:solidFill>
                <a:latin typeface="Arial" pitchFamily="34" charset="0"/>
                <a:ea typeface="Arial" pitchFamily="34" charset="-122"/>
                <a:cs typeface="Arial" pitchFamily="34" charset="-120"/>
              </a:rPr>
              <a:t>Build Your CLAUDE.md</a:t>
            </a:r>
            <a:endParaRPr lang="en-US" sz="1400" dirty="0"/>
          </a:p>
        </p:txBody>
      </p:sp>
      <p:sp>
        <p:nvSpPr>
          <p:cNvPr id="15" name="Text 13"/>
          <p:cNvSpPr/>
          <p:nvPr/>
        </p:nvSpPr>
        <p:spPr>
          <a:xfrm>
            <a:off x="3341321" y="3443288"/>
            <a:ext cx="2461209" cy="571054"/>
          </a:xfrm>
          <a:prstGeom prst="rect">
            <a:avLst/>
          </a:prstGeom>
          <a:noFill/>
          <a:ln/>
        </p:spPr>
        <p:txBody>
          <a:bodyPr wrap="square" lIns="0" tIns="0" rIns="0" bIns="0" rtlCol="0" anchor="t"/>
          <a:lstStyle/>
          <a:p>
            <a:pPr algn="ctr" indent="0" marL="0">
              <a:lnSpc>
                <a:spcPts val="1500"/>
              </a:lnSpc>
              <a:spcBef>
                <a:spcPts val="1000"/>
              </a:spcBef>
              <a:spcAft>
                <a:spcPts val="1000"/>
              </a:spcAft>
              <a:buNone/>
            </a:pPr>
            <a:r>
              <a:rPr lang="en-US" sz="1000" dirty="0">
                <a:solidFill>
                  <a:srgbClr val="B0BEC5"/>
                </a:solidFill>
                <a:latin typeface="Arial" pitchFamily="34" charset="0"/>
                <a:ea typeface="Arial" pitchFamily="34" charset="-122"/>
                <a:cs typeface="Arial" pitchFamily="34" charset="-120"/>
              </a:rPr>
              <a:t>Write your personal AI manual. Include your name, role, preferences, and three rules for your AI assistant.</a:t>
            </a:r>
            <a:endParaRPr lang="en-US" sz="1000" dirty="0"/>
          </a:p>
        </p:txBody>
      </p:sp>
      <p:sp>
        <p:nvSpPr>
          <p:cNvPr id="16" name="Text 14"/>
          <p:cNvSpPr/>
          <p:nvPr/>
        </p:nvSpPr>
        <p:spPr>
          <a:xfrm>
            <a:off x="4040386" y="4242792"/>
            <a:ext cx="1063079" cy="517327"/>
          </a:xfrm>
          <a:prstGeom prst="rect">
            <a:avLst/>
          </a:prstGeom>
          <a:noFill/>
          <a:ln w="9525">
            <a:solidFill>
              <a:srgbClr val="9B59B6"/>
            </a:solidFill>
          </a:ln>
        </p:spPr>
        <p:txBody>
          <a:bodyPr wrap="square" rtlCol="0" anchor="ctr"/>
          <a:lstStyle/>
          <a:p>
            <a:pPr indent="0" marL="0">
              <a:buNone/>
            </a:pPr>
            <a:endParaRPr lang="en-US" dirty="0"/>
          </a:p>
        </p:txBody>
      </p:sp>
      <p:sp>
        <p:nvSpPr>
          <p:cNvPr id="17" name="Text 15"/>
          <p:cNvSpPr/>
          <p:nvPr/>
        </p:nvSpPr>
        <p:spPr>
          <a:xfrm>
            <a:off x="4168960" y="4430018"/>
            <a:ext cx="805931" cy="142875"/>
          </a:xfrm>
          <a:prstGeom prst="rect">
            <a:avLst/>
          </a:prstGeom>
          <a:noFill/>
          <a:ln/>
        </p:spPr>
        <p:txBody>
          <a:bodyPr wrap="square" lIns="0" tIns="0" rIns="0" bIns="0" rtlCol="0" anchor="t"/>
          <a:lstStyle/>
          <a:p>
            <a:pPr algn="ctr" indent="0" marL="0">
              <a:spcBef>
                <a:spcPts val="1000"/>
              </a:spcBef>
              <a:spcAft>
                <a:spcPts val="1000"/>
              </a:spcAft>
              <a:buNone/>
            </a:pPr>
            <a:r>
              <a:rPr lang="en-US" sz="1000" b="1" dirty="0">
                <a:solidFill>
                  <a:srgbClr val="9B59B6"/>
                </a:solidFill>
                <a:latin typeface="Arial" pitchFamily="34" charset="0"/>
                <a:ea typeface="Arial" pitchFamily="34" charset="-122"/>
                <a:cs typeface="Arial" pitchFamily="34" charset="-120"/>
              </a:rPr>
              <a:t>TIME: 20 MIN</a:t>
            </a:r>
            <a:endParaRPr lang="en-US" sz="1000" dirty="0"/>
          </a:p>
        </p:txBody>
      </p:sp>
      <p:sp>
        <p:nvSpPr>
          <p:cNvPr id="18" name="Text 16"/>
          <p:cNvSpPr/>
          <p:nvPr/>
        </p:nvSpPr>
        <p:spPr>
          <a:xfrm>
            <a:off x="6203752" y="1713309"/>
            <a:ext cx="2857351" cy="3294459"/>
          </a:xfrm>
          <a:prstGeom prst="rect">
            <a:avLst/>
          </a:prstGeom>
          <a:solidFill>
            <a:srgbClr val="F1C40F">
              <a:alpha val="8000"/>
            </a:srgbClr>
          </a:solidFill>
          <a:ln w="19050">
            <a:solidFill>
              <a:srgbClr val="F1C40F"/>
            </a:solidFill>
          </a:ln>
        </p:spPr>
        <p:txBody>
          <a:bodyPr wrap="square" rtlCol="0" anchor="ctr"/>
          <a:lstStyle/>
          <a:p>
            <a:pPr indent="0" marL="0">
              <a:buNone/>
            </a:pPr>
            <a:endParaRPr lang="en-US" dirty="0"/>
          </a:p>
        </p:txBody>
      </p:sp>
      <p:sp>
        <p:nvSpPr>
          <p:cNvPr id="19" name="Text 17"/>
          <p:cNvSpPr/>
          <p:nvPr/>
        </p:nvSpPr>
        <p:spPr>
          <a:xfrm>
            <a:off x="7533531" y="2316510"/>
            <a:ext cx="201748" cy="409575"/>
          </a:xfrm>
          <a:prstGeom prst="rect">
            <a:avLst/>
          </a:prstGeom>
          <a:noFill/>
          <a:ln/>
        </p:spPr>
        <p:txBody>
          <a:bodyPr wrap="square" lIns="0" tIns="0" rIns="0" bIns="0" rtlCol="0" anchor="t"/>
          <a:lstStyle/>
          <a:p>
            <a:pPr algn="l" indent="0" marL="0">
              <a:spcBef>
                <a:spcPts val="2800"/>
              </a:spcBef>
              <a:spcAft>
                <a:spcPts val="800"/>
              </a:spcAft>
              <a:buNone/>
            </a:pPr>
            <a:r>
              <a:rPr lang="en-US" sz="2800" b="1" dirty="0">
                <a:solidFill>
                  <a:srgbClr val="F1C40F"/>
                </a:solidFill>
                <a:latin typeface="Arial" pitchFamily="34" charset="0"/>
                <a:ea typeface="Arial" pitchFamily="34" charset="-122"/>
                <a:cs typeface="Arial" pitchFamily="34" charset="-120"/>
              </a:rPr>
              <a:t>3</a:t>
            </a:r>
            <a:endParaRPr lang="en-US" sz="2800" dirty="0"/>
          </a:p>
        </p:txBody>
      </p:sp>
      <p:sp>
        <p:nvSpPr>
          <p:cNvPr id="20" name="Text 18"/>
          <p:cNvSpPr/>
          <p:nvPr/>
        </p:nvSpPr>
        <p:spPr>
          <a:xfrm>
            <a:off x="6787862" y="3005286"/>
            <a:ext cx="1689131" cy="209550"/>
          </a:xfrm>
          <a:prstGeom prst="rect">
            <a:avLst/>
          </a:prstGeom>
          <a:noFill/>
          <a:ln/>
        </p:spPr>
        <p:txBody>
          <a:bodyPr wrap="square" lIns="0" tIns="0" rIns="0" bIns="0" rtlCol="0" anchor="t"/>
          <a:lstStyle/>
          <a:p>
            <a:pPr algn="ctr" indent="0" marL="0">
              <a:spcBef>
                <a:spcPts val="1400"/>
              </a:spcBef>
              <a:spcAft>
                <a:spcPts val="800"/>
              </a:spcAft>
              <a:buNone/>
            </a:pPr>
            <a:r>
              <a:rPr lang="en-US" sz="1400" b="1" dirty="0">
                <a:solidFill>
                  <a:srgbClr val="FFFFFF"/>
                </a:solidFill>
                <a:latin typeface="Arial" pitchFamily="34" charset="0"/>
                <a:ea typeface="Arial" pitchFamily="34" charset="-122"/>
                <a:cs typeface="Arial" pitchFamily="34" charset="-120"/>
              </a:rPr>
              <a:t>Automate One Task</a:t>
            </a:r>
            <a:endParaRPr lang="en-US" sz="1400" dirty="0"/>
          </a:p>
        </p:txBody>
      </p:sp>
      <p:sp>
        <p:nvSpPr>
          <p:cNvPr id="21" name="Text 19"/>
          <p:cNvSpPr/>
          <p:nvPr/>
        </p:nvSpPr>
        <p:spPr>
          <a:xfrm>
            <a:off x="6401822" y="3443288"/>
            <a:ext cx="2461209" cy="571054"/>
          </a:xfrm>
          <a:prstGeom prst="rect">
            <a:avLst/>
          </a:prstGeom>
          <a:noFill/>
          <a:ln/>
        </p:spPr>
        <p:txBody>
          <a:bodyPr wrap="square" lIns="0" tIns="0" rIns="0" bIns="0" rtlCol="0" anchor="t"/>
          <a:lstStyle/>
          <a:p>
            <a:pPr algn="ctr" indent="0" marL="0">
              <a:lnSpc>
                <a:spcPts val="1500"/>
              </a:lnSpc>
              <a:spcBef>
                <a:spcPts val="1000"/>
              </a:spcBef>
              <a:spcAft>
                <a:spcPts val="1000"/>
              </a:spcAft>
              <a:buNone/>
            </a:pPr>
            <a:r>
              <a:rPr lang="en-US" sz="1000" dirty="0">
                <a:solidFill>
                  <a:srgbClr val="B0BEC5"/>
                </a:solidFill>
                <a:latin typeface="Arial" pitchFamily="34" charset="0"/>
                <a:ea typeface="Arial" pitchFamily="34" charset="-122"/>
                <a:cs typeface="Arial" pitchFamily="34" charset="-120"/>
              </a:rPr>
              <a:t>Pick the most repetitive thing in your workflow. Ask Claude Code to automate it. Measure the time saved.</a:t>
            </a:r>
            <a:endParaRPr lang="en-US" sz="1000" dirty="0"/>
          </a:p>
        </p:txBody>
      </p:sp>
      <p:sp>
        <p:nvSpPr>
          <p:cNvPr id="22" name="Text 20"/>
          <p:cNvSpPr/>
          <p:nvPr/>
        </p:nvSpPr>
        <p:spPr>
          <a:xfrm>
            <a:off x="7065615" y="4242792"/>
            <a:ext cx="1133624" cy="517327"/>
          </a:xfrm>
          <a:prstGeom prst="rect">
            <a:avLst/>
          </a:prstGeom>
          <a:noFill/>
          <a:ln w="9525">
            <a:solidFill>
              <a:srgbClr val="F1C40F"/>
            </a:solidFill>
          </a:ln>
        </p:spPr>
        <p:txBody>
          <a:bodyPr wrap="square" rtlCol="0" anchor="ctr"/>
          <a:lstStyle/>
          <a:p>
            <a:pPr indent="0" marL="0">
              <a:buNone/>
            </a:pPr>
            <a:endParaRPr lang="en-US" dirty="0"/>
          </a:p>
        </p:txBody>
      </p:sp>
      <p:sp>
        <p:nvSpPr>
          <p:cNvPr id="23" name="Text 21"/>
          <p:cNvSpPr/>
          <p:nvPr/>
        </p:nvSpPr>
        <p:spPr>
          <a:xfrm>
            <a:off x="7193484" y="4430018"/>
            <a:ext cx="877887" cy="142875"/>
          </a:xfrm>
          <a:prstGeom prst="rect">
            <a:avLst/>
          </a:prstGeom>
          <a:noFill/>
          <a:ln/>
        </p:spPr>
        <p:txBody>
          <a:bodyPr wrap="square" lIns="0" tIns="0" rIns="0" bIns="0" rtlCol="0" anchor="t"/>
          <a:lstStyle/>
          <a:p>
            <a:pPr algn="ctr" indent="0" marL="0">
              <a:spcBef>
                <a:spcPts val="1000"/>
              </a:spcBef>
              <a:spcAft>
                <a:spcPts val="1000"/>
              </a:spcAft>
              <a:buNone/>
            </a:pPr>
            <a:r>
              <a:rPr lang="en-US" sz="1000" b="1" dirty="0">
                <a:solidFill>
                  <a:srgbClr val="F1C40F"/>
                </a:solidFill>
                <a:latin typeface="Arial" pitchFamily="34" charset="0"/>
                <a:ea typeface="Arial" pitchFamily="34" charset="-122"/>
                <a:cs typeface="Arial" pitchFamily="34" charset="-120"/>
              </a:rPr>
              <a:t>TIME: 1 HOUR</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50A1E"/>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9B59B6"/>
          </a:solidFill>
          <a:ln/>
        </p:spPr>
        <p:txBody>
          <a:bodyPr wrap="square" rtlCol="0" anchor="ctr"/>
          <a:lstStyle/>
          <a:p>
            <a:pPr indent="0" marL="0">
              <a:buNone/>
            </a:pPr>
            <a:endParaRPr lang="en-US" dirty="0"/>
          </a:p>
        </p:txBody>
      </p:sp>
      <p:sp>
        <p:nvSpPr>
          <p:cNvPr id="3" name="Text 1"/>
          <p:cNvSpPr/>
          <p:nvPr/>
        </p:nvSpPr>
        <p:spPr>
          <a:xfrm>
            <a:off x="381000" y="-48071"/>
            <a:ext cx="8549640" cy="133350"/>
          </a:xfrm>
          <a:prstGeom prst="rect">
            <a:avLst/>
          </a:prstGeom>
          <a:noFill/>
          <a:ln/>
        </p:spPr>
        <p:txBody>
          <a:bodyPr wrap="square" lIns="0" tIns="0" rIns="0" bIns="0" rtlCol="0" anchor="t"/>
          <a:lstStyle/>
          <a:p>
            <a:pPr algn="l" indent="0" marL="0">
              <a:spcBef>
                <a:spcPts val="900"/>
              </a:spcBef>
              <a:spcAft>
                <a:spcPts val="400"/>
              </a:spcAft>
              <a:buNone/>
            </a:pPr>
            <a:r>
              <a:rPr lang="en-US" sz="900" dirty="0">
                <a:solidFill>
                  <a:srgbClr val="9B59B6"/>
                </a:solidFill>
                <a:latin typeface="Arial" pitchFamily="34" charset="0"/>
                <a:ea typeface="Arial" pitchFamily="34" charset="-122"/>
                <a:cs typeface="Arial" pitchFamily="34" charset="-120"/>
              </a:rPr>
              <a:t>RESOURCES</a:t>
            </a:r>
            <a:endParaRPr lang="en-US" sz="900" dirty="0"/>
          </a:p>
        </p:txBody>
      </p:sp>
      <p:sp>
        <p:nvSpPr>
          <p:cNvPr id="4" name="Text 2"/>
          <p:cNvSpPr/>
          <p:nvPr/>
        </p:nvSpPr>
        <p:spPr>
          <a:xfrm>
            <a:off x="381000" y="136029"/>
            <a:ext cx="8549640" cy="295275"/>
          </a:xfrm>
          <a:prstGeom prst="rect">
            <a:avLst/>
          </a:prstGeom>
          <a:noFill/>
          <a:ln/>
        </p:spPr>
        <p:txBody>
          <a:bodyPr wrap="square" lIns="0" tIns="0" rIns="0" bIns="0" rtlCol="0" anchor="t"/>
          <a:lstStyle/>
          <a:p>
            <a:pPr algn="l" indent="0" marL="0">
              <a:spcAft>
                <a:spcPts val="800"/>
              </a:spcAft>
              <a:buNone/>
            </a:pPr>
            <a:r>
              <a:rPr lang="en-US" sz="2000" dirty="0">
                <a:solidFill>
                  <a:srgbClr val="FFFFFF"/>
                </a:solidFill>
                <a:latin typeface="Arial" pitchFamily="34" charset="0"/>
                <a:ea typeface="Arial" pitchFamily="34" charset="-122"/>
                <a:cs typeface="Arial" pitchFamily="34" charset="-120"/>
              </a:rPr>
              <a:t>Where to Go </a:t>
            </a:r>
            <a:pPr algn="l" indent="0" marL="0">
              <a:spcAft>
                <a:spcPts val="800"/>
              </a:spcAft>
              <a:buNone/>
            </a:pPr>
            <a:r>
              <a:rPr lang="en-US" sz="2000" b="1" dirty="0">
                <a:solidFill>
                  <a:srgbClr val="9B59B6"/>
                </a:solidFill>
                <a:latin typeface="Arial" pitchFamily="34" charset="0"/>
                <a:ea typeface="Arial" pitchFamily="34" charset="-122"/>
                <a:cs typeface="Arial" pitchFamily="34" charset="-120"/>
              </a:rPr>
              <a:t>Next</a:t>
            </a:r>
            <a:endParaRPr lang="en-US" sz="2000" dirty="0"/>
          </a:p>
        </p:txBody>
      </p:sp>
      <p:sp>
        <p:nvSpPr>
          <p:cNvPr id="5" name="Text 3"/>
          <p:cNvSpPr/>
          <p:nvPr/>
        </p:nvSpPr>
        <p:spPr>
          <a:xfrm>
            <a:off x="381000" y="634305"/>
            <a:ext cx="4184193" cy="114300"/>
          </a:xfrm>
          <a:prstGeom prst="rect">
            <a:avLst/>
          </a:prstGeom>
          <a:noFill/>
          <a:ln/>
        </p:spPr>
        <p:txBody>
          <a:bodyPr wrap="square" lIns="0" tIns="0" rIns="0" bIns="0" rtlCol="0" anchor="t"/>
          <a:lstStyle/>
          <a:p>
            <a:pPr algn="l" indent="0" marL="0">
              <a:spcBef>
                <a:spcPts val="800"/>
              </a:spcBef>
              <a:spcAft>
                <a:spcPts val="600"/>
              </a:spcAft>
              <a:buNone/>
            </a:pPr>
            <a:r>
              <a:rPr lang="en-US" sz="800" dirty="0">
                <a:solidFill>
                  <a:srgbClr val="8B8B8B"/>
                </a:solidFill>
                <a:latin typeface="Arial" pitchFamily="34" charset="0"/>
                <a:ea typeface="Arial" pitchFamily="34" charset="-122"/>
                <a:cs typeface="Arial" pitchFamily="34" charset="-120"/>
              </a:rPr>
              <a:t>TOOLS</a:t>
            </a:r>
            <a:endParaRPr lang="en-US" sz="800" dirty="0"/>
          </a:p>
        </p:txBody>
      </p:sp>
      <p:sp>
        <p:nvSpPr>
          <p:cNvPr id="6" name="Text 4"/>
          <p:cNvSpPr/>
          <p:nvPr/>
        </p:nvSpPr>
        <p:spPr>
          <a:xfrm>
            <a:off x="381000" y="824805"/>
            <a:ext cx="4102150" cy="974229"/>
          </a:xfrm>
          <a:prstGeom prst="rect">
            <a:avLst/>
          </a:prstGeom>
          <a:solidFill>
            <a:srgbClr val="9B59B6">
              <a:alpha val="7000"/>
            </a:srgbClr>
          </a:solidFill>
          <a:ln w="9525">
            <a:solidFill>
              <a:srgbClr val="9B59B6"/>
            </a:solidFill>
          </a:ln>
        </p:spPr>
        <p:txBody>
          <a:bodyPr wrap="square" rtlCol="0" anchor="ctr"/>
          <a:lstStyle/>
          <a:p>
            <a:pPr indent="0" marL="0">
              <a:buNone/>
            </a:pPr>
            <a:endParaRPr lang="en-US" dirty="0"/>
          </a:p>
        </p:txBody>
      </p:sp>
      <p:sp>
        <p:nvSpPr>
          <p:cNvPr id="7" name="Text 5"/>
          <p:cNvSpPr/>
          <p:nvPr/>
        </p:nvSpPr>
        <p:spPr>
          <a:xfrm>
            <a:off x="492026" y="1037332"/>
            <a:ext cx="207213" cy="228600"/>
          </a:xfrm>
          <a:prstGeom prst="rect">
            <a:avLst/>
          </a:prstGeom>
          <a:noFill/>
          <a:ln/>
        </p:spPr>
        <p:txBody>
          <a:bodyPr wrap="square" lIns="0" tIns="0" rIns="0" bIns="0" rtlCol="0" anchor="t"/>
          <a:lstStyle/>
          <a:p>
            <a:pPr algn="l" indent="0" marL="0">
              <a:spcBef>
                <a:spcPts val="1100"/>
              </a:spcBef>
              <a:spcAft>
                <a:spcPts val="1100"/>
              </a:spcAft>
              <a:buNone/>
            </a:pPr>
            <a:r>
              <a:rPr lang="en-US" sz="1100" dirty="0">
                <a:solidFill>
                  <a:srgbClr val="9B59B6"/>
                </a:solidFill>
                <a:latin typeface="Arial" pitchFamily="34" charset="0"/>
                <a:ea typeface="Arial" pitchFamily="34" charset="-122"/>
                <a:cs typeface="Arial" pitchFamily="34" charset="-120"/>
              </a:rPr>
              <a:t>⚡</a:t>
            </a:r>
            <a:endParaRPr lang="en-US" sz="1100" dirty="0"/>
          </a:p>
        </p:txBody>
      </p:sp>
      <p:sp>
        <p:nvSpPr>
          <p:cNvPr id="8" name="Text 6"/>
          <p:cNvSpPr/>
          <p:nvPr/>
        </p:nvSpPr>
        <p:spPr>
          <a:xfrm>
            <a:off x="796677" y="1024682"/>
            <a:ext cx="1583171" cy="142875"/>
          </a:xfrm>
          <a:prstGeom prst="rect">
            <a:avLst/>
          </a:prstGeom>
          <a:noFill/>
          <a:ln/>
        </p:spPr>
        <p:txBody>
          <a:bodyPr wrap="square" lIns="0" tIns="0" rIns="0" bIns="0" rtlCol="0" anchor="t"/>
          <a:lstStyle/>
          <a:p>
            <a:pPr algn="l" indent="0" marL="0">
              <a:spcBef>
                <a:spcPts val="1000"/>
              </a:spcBef>
              <a:spcAft>
                <a:spcPts val="1000"/>
              </a:spcAft>
              <a:buNone/>
            </a:pPr>
            <a:r>
              <a:rPr lang="en-US" sz="1000" b="1" dirty="0">
                <a:solidFill>
                  <a:srgbClr val="FFFFFF"/>
                </a:solidFill>
                <a:latin typeface="Arial" pitchFamily="34" charset="0"/>
                <a:ea typeface="Arial" pitchFamily="34" charset="-122"/>
                <a:cs typeface="Arial" pitchFamily="34" charset="-120"/>
              </a:rPr>
              <a:t>Claude Code</a:t>
            </a:r>
            <a:endParaRPr lang="en-US" sz="1000" dirty="0"/>
          </a:p>
        </p:txBody>
      </p:sp>
      <p:sp>
        <p:nvSpPr>
          <p:cNvPr id="9" name="Text 7"/>
          <p:cNvSpPr/>
          <p:nvPr/>
        </p:nvSpPr>
        <p:spPr>
          <a:xfrm>
            <a:off x="796677" y="1294507"/>
            <a:ext cx="1583171" cy="114300"/>
          </a:xfrm>
          <a:prstGeom prst="rect">
            <a:avLst/>
          </a:prstGeom>
          <a:noFill/>
          <a:ln/>
        </p:spPr>
        <p:txBody>
          <a:bodyPr wrap="square" lIns="0" tIns="0" rIns="0" bIns="0" rtlCol="0" anchor="t"/>
          <a:lstStyle/>
          <a:p>
            <a:pPr algn="l" indent="0" marL="0">
              <a:spcBef>
                <a:spcPts val="100"/>
              </a:spcBef>
              <a:spcAft>
                <a:spcPts val="800"/>
              </a:spcAft>
              <a:buNone/>
            </a:pPr>
            <a:r>
              <a:rPr lang="en-US" sz="800" dirty="0">
                <a:solidFill>
                  <a:srgbClr val="00D4FF"/>
                </a:solidFill>
                <a:latin typeface="Courier New" pitchFamily="34" charset="0"/>
                <a:ea typeface="Courier New" pitchFamily="34" charset="-122"/>
                <a:cs typeface="Courier New" pitchFamily="34" charset="-120"/>
              </a:rPr>
              <a:t>claude.ai/code</a:t>
            </a:r>
            <a:endParaRPr lang="en-US" sz="800" dirty="0"/>
          </a:p>
        </p:txBody>
      </p:sp>
      <p:sp>
        <p:nvSpPr>
          <p:cNvPr id="10" name="Text 8"/>
          <p:cNvSpPr/>
          <p:nvPr/>
        </p:nvSpPr>
        <p:spPr>
          <a:xfrm>
            <a:off x="796677" y="1510308"/>
            <a:ext cx="1583171" cy="114300"/>
          </a:xfrm>
          <a:prstGeom prst="rect">
            <a:avLst/>
          </a:prstGeom>
          <a:noFill/>
          <a:ln/>
        </p:spPr>
        <p:txBody>
          <a:bodyPr wrap="square" lIns="0" tIns="0" rIns="0" bIns="0" rtlCol="0" anchor="t"/>
          <a:lstStyle/>
          <a:p>
            <a:pPr algn="l" indent="0" marL="0">
              <a:spcBef>
                <a:spcPts val="100"/>
              </a:spcBef>
              <a:spcAft>
                <a:spcPts val="800"/>
              </a:spcAft>
              <a:buNone/>
            </a:pPr>
            <a:r>
              <a:rPr lang="en-US" sz="800" dirty="0">
                <a:solidFill>
                  <a:srgbClr val="8B8B8B"/>
                </a:solidFill>
                <a:latin typeface="Arial" pitchFamily="34" charset="0"/>
                <a:ea typeface="Arial" pitchFamily="34" charset="-122"/>
                <a:cs typeface="Arial" pitchFamily="34" charset="-120"/>
              </a:rPr>
              <a:t>The terminal AI agent — start here</a:t>
            </a:r>
            <a:endParaRPr lang="en-US" sz="800" dirty="0"/>
          </a:p>
        </p:txBody>
      </p:sp>
      <p:sp>
        <p:nvSpPr>
          <p:cNvPr id="11" name="Text 9"/>
          <p:cNvSpPr/>
          <p:nvPr/>
        </p:nvSpPr>
        <p:spPr>
          <a:xfrm>
            <a:off x="381000" y="1849785"/>
            <a:ext cx="4102150" cy="974229"/>
          </a:xfrm>
          <a:prstGeom prst="rect">
            <a:avLst/>
          </a:prstGeom>
          <a:solidFill>
            <a:srgbClr val="9B59B6">
              <a:alpha val="7000"/>
            </a:srgbClr>
          </a:solidFill>
          <a:ln w="9525">
            <a:solidFill>
              <a:srgbClr val="9B59B6"/>
            </a:solidFill>
          </a:ln>
        </p:spPr>
        <p:txBody>
          <a:bodyPr wrap="square" rtlCol="0" anchor="ctr"/>
          <a:lstStyle/>
          <a:p>
            <a:pPr indent="0" marL="0">
              <a:buNone/>
            </a:pPr>
            <a:endParaRPr lang="en-US" dirty="0"/>
          </a:p>
        </p:txBody>
      </p:sp>
      <p:sp>
        <p:nvSpPr>
          <p:cNvPr id="12" name="Text 10"/>
          <p:cNvSpPr/>
          <p:nvPr/>
        </p:nvSpPr>
        <p:spPr>
          <a:xfrm>
            <a:off x="492026" y="2062311"/>
            <a:ext cx="207213" cy="228600"/>
          </a:xfrm>
          <a:prstGeom prst="rect">
            <a:avLst/>
          </a:prstGeom>
          <a:noFill/>
          <a:ln/>
        </p:spPr>
        <p:txBody>
          <a:bodyPr wrap="square" lIns="0" tIns="0" rIns="0" bIns="0" rtlCol="0" anchor="t"/>
          <a:lstStyle/>
          <a:p>
            <a:pPr algn="l" indent="0" marL="0">
              <a:spcBef>
                <a:spcPts val="1100"/>
              </a:spcBef>
              <a:spcAft>
                <a:spcPts val="1100"/>
              </a:spcAft>
              <a:buNone/>
            </a:pPr>
            <a:r>
              <a:rPr lang="en-US" sz="1100" dirty="0">
                <a:solidFill>
                  <a:srgbClr val="9B59B6"/>
                </a:solidFill>
                <a:latin typeface="Arial" pitchFamily="34" charset="0"/>
                <a:ea typeface="Arial" pitchFamily="34" charset="-122"/>
                <a:cs typeface="Arial" pitchFamily="34" charset="-120"/>
              </a:rPr>
              <a:t>🤖</a:t>
            </a:r>
            <a:endParaRPr lang="en-US" sz="1100" dirty="0"/>
          </a:p>
        </p:txBody>
      </p:sp>
      <p:sp>
        <p:nvSpPr>
          <p:cNvPr id="13" name="Text 11"/>
          <p:cNvSpPr/>
          <p:nvPr/>
        </p:nvSpPr>
        <p:spPr>
          <a:xfrm>
            <a:off x="796677" y="2049661"/>
            <a:ext cx="1445181" cy="142875"/>
          </a:xfrm>
          <a:prstGeom prst="rect">
            <a:avLst/>
          </a:prstGeom>
          <a:noFill/>
          <a:ln/>
        </p:spPr>
        <p:txBody>
          <a:bodyPr wrap="square" lIns="0" tIns="0" rIns="0" bIns="0" rtlCol="0" anchor="t"/>
          <a:lstStyle/>
          <a:p>
            <a:pPr algn="l" indent="0" marL="0">
              <a:spcBef>
                <a:spcPts val="1000"/>
              </a:spcBef>
              <a:spcAft>
                <a:spcPts val="1000"/>
              </a:spcAft>
              <a:buNone/>
            </a:pPr>
            <a:r>
              <a:rPr lang="en-US" sz="1000" b="1" dirty="0">
                <a:solidFill>
                  <a:srgbClr val="FFFFFF"/>
                </a:solidFill>
                <a:latin typeface="Arial" pitchFamily="34" charset="0"/>
                <a:ea typeface="Arial" pitchFamily="34" charset="-122"/>
                <a:cs typeface="Arial" pitchFamily="34" charset="-120"/>
              </a:rPr>
              <a:t>Anthropic API</a:t>
            </a:r>
            <a:endParaRPr lang="en-US" sz="1000" dirty="0"/>
          </a:p>
        </p:txBody>
      </p:sp>
      <p:sp>
        <p:nvSpPr>
          <p:cNvPr id="14" name="Text 12"/>
          <p:cNvSpPr/>
          <p:nvPr/>
        </p:nvSpPr>
        <p:spPr>
          <a:xfrm>
            <a:off x="796677" y="2319486"/>
            <a:ext cx="1445181" cy="114300"/>
          </a:xfrm>
          <a:prstGeom prst="rect">
            <a:avLst/>
          </a:prstGeom>
          <a:noFill/>
          <a:ln/>
        </p:spPr>
        <p:txBody>
          <a:bodyPr wrap="square" lIns="0" tIns="0" rIns="0" bIns="0" rtlCol="0" anchor="t"/>
          <a:lstStyle/>
          <a:p>
            <a:pPr algn="l" indent="0" marL="0">
              <a:spcBef>
                <a:spcPts val="100"/>
              </a:spcBef>
              <a:spcAft>
                <a:spcPts val="800"/>
              </a:spcAft>
              <a:buNone/>
            </a:pPr>
            <a:r>
              <a:rPr lang="en-US" sz="800" dirty="0">
                <a:solidFill>
                  <a:srgbClr val="00D4FF"/>
                </a:solidFill>
                <a:latin typeface="Courier New" pitchFamily="34" charset="0"/>
                <a:ea typeface="Courier New" pitchFamily="34" charset="-122"/>
                <a:cs typeface="Courier New" pitchFamily="34" charset="-120"/>
              </a:rPr>
              <a:t>anthropic.com/api</a:t>
            </a:r>
            <a:endParaRPr lang="en-US" sz="800" dirty="0"/>
          </a:p>
        </p:txBody>
      </p:sp>
      <p:sp>
        <p:nvSpPr>
          <p:cNvPr id="15" name="Text 13"/>
          <p:cNvSpPr/>
          <p:nvPr/>
        </p:nvSpPr>
        <p:spPr>
          <a:xfrm>
            <a:off x="796677" y="2535287"/>
            <a:ext cx="1445181" cy="114300"/>
          </a:xfrm>
          <a:prstGeom prst="rect">
            <a:avLst/>
          </a:prstGeom>
          <a:noFill/>
          <a:ln/>
        </p:spPr>
        <p:txBody>
          <a:bodyPr wrap="square" lIns="0" tIns="0" rIns="0" bIns="0" rtlCol="0" anchor="t"/>
          <a:lstStyle/>
          <a:p>
            <a:pPr algn="l" indent="0" marL="0">
              <a:spcBef>
                <a:spcPts val="100"/>
              </a:spcBef>
              <a:spcAft>
                <a:spcPts val="800"/>
              </a:spcAft>
              <a:buNone/>
            </a:pPr>
            <a:r>
              <a:rPr lang="en-US" sz="800" dirty="0">
                <a:solidFill>
                  <a:srgbClr val="8B8B8B"/>
                </a:solidFill>
                <a:latin typeface="Arial" pitchFamily="34" charset="0"/>
                <a:ea typeface="Arial" pitchFamily="34" charset="-122"/>
                <a:cs typeface="Arial" pitchFamily="34" charset="-120"/>
              </a:rPr>
              <a:t>Build custom agent integrations</a:t>
            </a:r>
            <a:endParaRPr lang="en-US" sz="800" dirty="0"/>
          </a:p>
        </p:txBody>
      </p:sp>
      <p:sp>
        <p:nvSpPr>
          <p:cNvPr id="16" name="Text 14"/>
          <p:cNvSpPr/>
          <p:nvPr/>
        </p:nvSpPr>
        <p:spPr>
          <a:xfrm>
            <a:off x="381000" y="2874764"/>
            <a:ext cx="4102150" cy="974229"/>
          </a:xfrm>
          <a:prstGeom prst="rect">
            <a:avLst/>
          </a:prstGeom>
          <a:solidFill>
            <a:srgbClr val="9B59B6">
              <a:alpha val="7000"/>
            </a:srgbClr>
          </a:solidFill>
          <a:ln w="9525">
            <a:solidFill>
              <a:srgbClr val="9B59B6"/>
            </a:solidFill>
          </a:ln>
        </p:spPr>
        <p:txBody>
          <a:bodyPr wrap="square" rtlCol="0" anchor="ctr"/>
          <a:lstStyle/>
          <a:p>
            <a:pPr indent="0" marL="0">
              <a:buNone/>
            </a:pPr>
            <a:endParaRPr lang="en-US" dirty="0"/>
          </a:p>
        </p:txBody>
      </p:sp>
      <p:sp>
        <p:nvSpPr>
          <p:cNvPr id="17" name="Text 15"/>
          <p:cNvSpPr/>
          <p:nvPr/>
        </p:nvSpPr>
        <p:spPr>
          <a:xfrm>
            <a:off x="492026" y="3087291"/>
            <a:ext cx="207213" cy="228600"/>
          </a:xfrm>
          <a:prstGeom prst="rect">
            <a:avLst/>
          </a:prstGeom>
          <a:noFill/>
          <a:ln/>
        </p:spPr>
        <p:txBody>
          <a:bodyPr wrap="square" lIns="0" tIns="0" rIns="0" bIns="0" rtlCol="0" anchor="t"/>
          <a:lstStyle/>
          <a:p>
            <a:pPr algn="l" indent="0" marL="0">
              <a:spcBef>
                <a:spcPts val="1100"/>
              </a:spcBef>
              <a:spcAft>
                <a:spcPts val="1100"/>
              </a:spcAft>
              <a:buNone/>
            </a:pPr>
            <a:r>
              <a:rPr lang="en-US" sz="1100" dirty="0">
                <a:solidFill>
                  <a:srgbClr val="9B59B6"/>
                </a:solidFill>
                <a:latin typeface="Arial" pitchFamily="34" charset="0"/>
                <a:ea typeface="Arial" pitchFamily="34" charset="-122"/>
                <a:cs typeface="Arial" pitchFamily="34" charset="-120"/>
              </a:rPr>
              <a:t>🔗</a:t>
            </a:r>
            <a:endParaRPr lang="en-US" sz="1100" dirty="0"/>
          </a:p>
        </p:txBody>
      </p:sp>
      <p:sp>
        <p:nvSpPr>
          <p:cNvPr id="18" name="Text 16"/>
          <p:cNvSpPr/>
          <p:nvPr/>
        </p:nvSpPr>
        <p:spPr>
          <a:xfrm>
            <a:off x="796677" y="3074640"/>
            <a:ext cx="1646625" cy="142875"/>
          </a:xfrm>
          <a:prstGeom prst="rect">
            <a:avLst/>
          </a:prstGeom>
          <a:noFill/>
          <a:ln/>
        </p:spPr>
        <p:txBody>
          <a:bodyPr wrap="square" lIns="0" tIns="0" rIns="0" bIns="0" rtlCol="0" anchor="t"/>
          <a:lstStyle/>
          <a:p>
            <a:pPr algn="l" indent="0" marL="0">
              <a:spcBef>
                <a:spcPts val="1000"/>
              </a:spcBef>
              <a:spcAft>
                <a:spcPts val="1000"/>
              </a:spcAft>
              <a:buNone/>
            </a:pPr>
            <a:r>
              <a:rPr lang="en-US" sz="1000" b="1" dirty="0">
                <a:solidFill>
                  <a:srgbClr val="FFFFFF"/>
                </a:solidFill>
                <a:latin typeface="Arial" pitchFamily="34" charset="0"/>
                <a:ea typeface="Arial" pitchFamily="34" charset="-122"/>
                <a:cs typeface="Arial" pitchFamily="34" charset="-120"/>
              </a:rPr>
              <a:t>MCP Registry</a:t>
            </a:r>
            <a:endParaRPr lang="en-US" sz="1000" dirty="0"/>
          </a:p>
        </p:txBody>
      </p:sp>
      <p:sp>
        <p:nvSpPr>
          <p:cNvPr id="19" name="Text 17"/>
          <p:cNvSpPr/>
          <p:nvPr/>
        </p:nvSpPr>
        <p:spPr>
          <a:xfrm>
            <a:off x="796677" y="3344466"/>
            <a:ext cx="1646625" cy="114300"/>
          </a:xfrm>
          <a:prstGeom prst="rect">
            <a:avLst/>
          </a:prstGeom>
          <a:noFill/>
          <a:ln/>
        </p:spPr>
        <p:txBody>
          <a:bodyPr wrap="square" lIns="0" tIns="0" rIns="0" bIns="0" rtlCol="0" anchor="t"/>
          <a:lstStyle/>
          <a:p>
            <a:pPr algn="l" indent="0" marL="0">
              <a:spcBef>
                <a:spcPts val="100"/>
              </a:spcBef>
              <a:spcAft>
                <a:spcPts val="800"/>
              </a:spcAft>
              <a:buNone/>
            </a:pPr>
            <a:r>
              <a:rPr lang="en-US" sz="800" dirty="0">
                <a:solidFill>
                  <a:srgbClr val="00D4FF"/>
                </a:solidFill>
                <a:latin typeface="Courier New" pitchFamily="34" charset="0"/>
                <a:ea typeface="Courier New" pitchFamily="34" charset="-122"/>
                <a:cs typeface="Courier New" pitchFamily="34" charset="-120"/>
              </a:rPr>
              <a:t>modelcontextprotocol.io</a:t>
            </a:r>
            <a:endParaRPr lang="en-US" sz="800" dirty="0"/>
          </a:p>
        </p:txBody>
      </p:sp>
      <p:sp>
        <p:nvSpPr>
          <p:cNvPr id="20" name="Text 18"/>
          <p:cNvSpPr/>
          <p:nvPr/>
        </p:nvSpPr>
        <p:spPr>
          <a:xfrm>
            <a:off x="796677" y="3560266"/>
            <a:ext cx="1646625" cy="114300"/>
          </a:xfrm>
          <a:prstGeom prst="rect">
            <a:avLst/>
          </a:prstGeom>
          <a:noFill/>
          <a:ln/>
        </p:spPr>
        <p:txBody>
          <a:bodyPr wrap="square" lIns="0" tIns="0" rIns="0" bIns="0" rtlCol="0" anchor="t"/>
          <a:lstStyle/>
          <a:p>
            <a:pPr algn="l" indent="0" marL="0">
              <a:spcBef>
                <a:spcPts val="100"/>
              </a:spcBef>
              <a:spcAft>
                <a:spcPts val="800"/>
              </a:spcAft>
              <a:buNone/>
            </a:pPr>
            <a:r>
              <a:rPr lang="en-US" sz="800" dirty="0">
                <a:solidFill>
                  <a:srgbClr val="8B8B8B"/>
                </a:solidFill>
                <a:latin typeface="Arial" pitchFamily="34" charset="0"/>
                <a:ea typeface="Arial" pitchFamily="34" charset="-122"/>
                <a:cs typeface="Arial" pitchFamily="34" charset="-120"/>
              </a:rPr>
              <a:t>Connect Claude to any external tool</a:t>
            </a:r>
            <a:endParaRPr lang="en-US" sz="800" dirty="0"/>
          </a:p>
        </p:txBody>
      </p:sp>
      <p:sp>
        <p:nvSpPr>
          <p:cNvPr id="21" name="Text 19"/>
          <p:cNvSpPr/>
          <p:nvPr/>
        </p:nvSpPr>
        <p:spPr>
          <a:xfrm>
            <a:off x="4660850" y="634305"/>
            <a:ext cx="4184193" cy="114300"/>
          </a:xfrm>
          <a:prstGeom prst="rect">
            <a:avLst/>
          </a:prstGeom>
          <a:noFill/>
          <a:ln/>
        </p:spPr>
        <p:txBody>
          <a:bodyPr wrap="square" lIns="0" tIns="0" rIns="0" bIns="0" rtlCol="0" anchor="t"/>
          <a:lstStyle/>
          <a:p>
            <a:pPr algn="l" indent="0" marL="0">
              <a:spcBef>
                <a:spcPts val="800"/>
              </a:spcBef>
              <a:spcAft>
                <a:spcPts val="600"/>
              </a:spcAft>
              <a:buNone/>
            </a:pPr>
            <a:r>
              <a:rPr lang="en-US" sz="800" dirty="0">
                <a:solidFill>
                  <a:srgbClr val="8B8B8B"/>
                </a:solidFill>
                <a:latin typeface="Arial" pitchFamily="34" charset="0"/>
                <a:ea typeface="Arial" pitchFamily="34" charset="-122"/>
                <a:cs typeface="Arial" pitchFamily="34" charset="-120"/>
              </a:rPr>
              <a:t>LEARNING</a:t>
            </a:r>
            <a:endParaRPr lang="en-US" sz="800" dirty="0"/>
          </a:p>
        </p:txBody>
      </p:sp>
      <p:sp>
        <p:nvSpPr>
          <p:cNvPr id="22" name="Text 20"/>
          <p:cNvSpPr/>
          <p:nvPr/>
        </p:nvSpPr>
        <p:spPr>
          <a:xfrm>
            <a:off x="4660850" y="824805"/>
            <a:ext cx="4102150" cy="974229"/>
          </a:xfrm>
          <a:prstGeom prst="rect">
            <a:avLst/>
          </a:prstGeom>
          <a:solidFill>
            <a:srgbClr val="9B59B6">
              <a:alpha val="7000"/>
            </a:srgbClr>
          </a:solidFill>
          <a:ln w="9525">
            <a:solidFill>
              <a:srgbClr val="9B59B6"/>
            </a:solidFill>
          </a:ln>
        </p:spPr>
        <p:txBody>
          <a:bodyPr wrap="square" rtlCol="0" anchor="ctr"/>
          <a:lstStyle/>
          <a:p>
            <a:pPr indent="0" marL="0">
              <a:buNone/>
            </a:pPr>
            <a:endParaRPr lang="en-US" dirty="0"/>
          </a:p>
        </p:txBody>
      </p:sp>
      <p:sp>
        <p:nvSpPr>
          <p:cNvPr id="23" name="Text 21"/>
          <p:cNvSpPr/>
          <p:nvPr/>
        </p:nvSpPr>
        <p:spPr>
          <a:xfrm>
            <a:off x="4771876" y="1037332"/>
            <a:ext cx="207213" cy="228600"/>
          </a:xfrm>
          <a:prstGeom prst="rect">
            <a:avLst/>
          </a:prstGeom>
          <a:noFill/>
          <a:ln/>
        </p:spPr>
        <p:txBody>
          <a:bodyPr wrap="square" lIns="0" tIns="0" rIns="0" bIns="0" rtlCol="0" anchor="t"/>
          <a:lstStyle/>
          <a:p>
            <a:pPr algn="l" indent="0" marL="0">
              <a:spcBef>
                <a:spcPts val="1100"/>
              </a:spcBef>
              <a:spcAft>
                <a:spcPts val="1100"/>
              </a:spcAft>
              <a:buNone/>
            </a:pPr>
            <a:r>
              <a:rPr lang="en-US" sz="1100" dirty="0">
                <a:solidFill>
                  <a:srgbClr val="9B59B6"/>
                </a:solidFill>
                <a:latin typeface="Arial" pitchFamily="34" charset="0"/>
                <a:ea typeface="Arial" pitchFamily="34" charset="-122"/>
                <a:cs typeface="Arial" pitchFamily="34" charset="-120"/>
              </a:rPr>
              <a:t>📚</a:t>
            </a:r>
            <a:endParaRPr lang="en-US" sz="1100" dirty="0"/>
          </a:p>
        </p:txBody>
      </p:sp>
      <p:sp>
        <p:nvSpPr>
          <p:cNvPr id="24" name="Text 22"/>
          <p:cNvSpPr/>
          <p:nvPr/>
        </p:nvSpPr>
        <p:spPr>
          <a:xfrm>
            <a:off x="5076527" y="1024682"/>
            <a:ext cx="1864617" cy="142875"/>
          </a:xfrm>
          <a:prstGeom prst="rect">
            <a:avLst/>
          </a:prstGeom>
          <a:noFill/>
          <a:ln/>
        </p:spPr>
        <p:txBody>
          <a:bodyPr wrap="square" lIns="0" tIns="0" rIns="0" bIns="0" rtlCol="0" anchor="t"/>
          <a:lstStyle/>
          <a:p>
            <a:pPr algn="l" indent="0" marL="0">
              <a:spcBef>
                <a:spcPts val="1000"/>
              </a:spcBef>
              <a:spcAft>
                <a:spcPts val="1000"/>
              </a:spcAft>
              <a:buNone/>
            </a:pPr>
            <a:r>
              <a:rPr lang="en-US" sz="1000" b="1" dirty="0">
                <a:solidFill>
                  <a:srgbClr val="FFFFFF"/>
                </a:solidFill>
                <a:latin typeface="Arial" pitchFamily="34" charset="0"/>
                <a:ea typeface="Arial" pitchFamily="34" charset="-122"/>
                <a:cs typeface="Arial" pitchFamily="34" charset="-120"/>
              </a:rPr>
              <a:t>Microbiology Course</a:t>
            </a:r>
            <a:endParaRPr lang="en-US" sz="1000" dirty="0"/>
          </a:p>
        </p:txBody>
      </p:sp>
      <p:sp>
        <p:nvSpPr>
          <p:cNvPr id="25" name="Text 23"/>
          <p:cNvSpPr/>
          <p:nvPr/>
        </p:nvSpPr>
        <p:spPr>
          <a:xfrm>
            <a:off x="5076527" y="1294507"/>
            <a:ext cx="1864617" cy="114300"/>
          </a:xfrm>
          <a:prstGeom prst="rect">
            <a:avLst/>
          </a:prstGeom>
          <a:noFill/>
          <a:ln/>
        </p:spPr>
        <p:txBody>
          <a:bodyPr wrap="square" lIns="0" tIns="0" rIns="0" bIns="0" rtlCol="0" anchor="t"/>
          <a:lstStyle/>
          <a:p>
            <a:pPr algn="l" indent="0" marL="0">
              <a:spcBef>
                <a:spcPts val="100"/>
              </a:spcBef>
              <a:spcAft>
                <a:spcPts val="800"/>
              </a:spcAft>
              <a:buNone/>
            </a:pPr>
            <a:r>
              <a:rPr lang="en-US" sz="800" dirty="0">
                <a:solidFill>
                  <a:srgbClr val="00D4FF"/>
                </a:solidFill>
                <a:latin typeface="Courier New" pitchFamily="34" charset="0"/>
                <a:ea typeface="Courier New" pitchFamily="34" charset="-122"/>
                <a:cs typeface="Courier New" pitchFamily="34" charset="-120"/>
              </a:rPr>
              <a:t>clinical-ai-course.yuanuro.com</a:t>
            </a:r>
            <a:endParaRPr lang="en-US" sz="800" dirty="0"/>
          </a:p>
        </p:txBody>
      </p:sp>
      <p:sp>
        <p:nvSpPr>
          <p:cNvPr id="26" name="Text 24"/>
          <p:cNvSpPr/>
          <p:nvPr/>
        </p:nvSpPr>
        <p:spPr>
          <a:xfrm>
            <a:off x="5076527" y="1510308"/>
            <a:ext cx="1864617" cy="114300"/>
          </a:xfrm>
          <a:prstGeom prst="rect">
            <a:avLst/>
          </a:prstGeom>
          <a:noFill/>
          <a:ln/>
        </p:spPr>
        <p:txBody>
          <a:bodyPr wrap="square" lIns="0" tIns="0" rIns="0" bIns="0" rtlCol="0" anchor="t"/>
          <a:lstStyle/>
          <a:p>
            <a:pPr algn="l" indent="0" marL="0">
              <a:spcBef>
                <a:spcPts val="100"/>
              </a:spcBef>
              <a:spcAft>
                <a:spcPts val="800"/>
              </a:spcAft>
              <a:buNone/>
            </a:pPr>
            <a:r>
              <a:rPr lang="en-US" sz="800" dirty="0">
                <a:solidFill>
                  <a:srgbClr val="8B8B8B"/>
                </a:solidFill>
                <a:latin typeface="Arial" pitchFamily="34" charset="0"/>
                <a:ea typeface="Arial" pitchFamily="34" charset="-122"/>
                <a:cs typeface="Arial" pitchFamily="34" charset="-120"/>
              </a:rPr>
              <a:t>Built by AI agents — free access</a:t>
            </a:r>
            <a:endParaRPr lang="en-US" sz="800" dirty="0"/>
          </a:p>
        </p:txBody>
      </p:sp>
      <p:sp>
        <p:nvSpPr>
          <p:cNvPr id="27" name="Text 25"/>
          <p:cNvSpPr/>
          <p:nvPr/>
        </p:nvSpPr>
        <p:spPr>
          <a:xfrm>
            <a:off x="4660850" y="1849785"/>
            <a:ext cx="4102150" cy="974229"/>
          </a:xfrm>
          <a:prstGeom prst="rect">
            <a:avLst/>
          </a:prstGeom>
          <a:solidFill>
            <a:srgbClr val="9B59B6">
              <a:alpha val="7000"/>
            </a:srgbClr>
          </a:solidFill>
          <a:ln w="9525">
            <a:solidFill>
              <a:srgbClr val="9B59B6"/>
            </a:solidFill>
          </a:ln>
        </p:spPr>
        <p:txBody>
          <a:bodyPr wrap="square" rtlCol="0" anchor="ctr"/>
          <a:lstStyle/>
          <a:p>
            <a:pPr indent="0" marL="0">
              <a:buNone/>
            </a:pPr>
            <a:endParaRPr lang="en-US" dirty="0"/>
          </a:p>
        </p:txBody>
      </p:sp>
      <p:sp>
        <p:nvSpPr>
          <p:cNvPr id="28" name="Text 26"/>
          <p:cNvSpPr/>
          <p:nvPr/>
        </p:nvSpPr>
        <p:spPr>
          <a:xfrm>
            <a:off x="4771876" y="2062311"/>
            <a:ext cx="207213" cy="228600"/>
          </a:xfrm>
          <a:prstGeom prst="rect">
            <a:avLst/>
          </a:prstGeom>
          <a:noFill/>
          <a:ln/>
        </p:spPr>
        <p:txBody>
          <a:bodyPr wrap="square" lIns="0" tIns="0" rIns="0" bIns="0" rtlCol="0" anchor="t"/>
          <a:lstStyle/>
          <a:p>
            <a:pPr algn="l" indent="0" marL="0">
              <a:spcBef>
                <a:spcPts val="1100"/>
              </a:spcBef>
              <a:spcAft>
                <a:spcPts val="1100"/>
              </a:spcAft>
              <a:buNone/>
            </a:pPr>
            <a:r>
              <a:rPr lang="en-US" sz="1100" dirty="0">
                <a:solidFill>
                  <a:srgbClr val="9B59B6"/>
                </a:solidFill>
                <a:latin typeface="Arial" pitchFamily="34" charset="0"/>
                <a:ea typeface="Arial" pitchFamily="34" charset="-122"/>
                <a:cs typeface="Arial" pitchFamily="34" charset="-120"/>
              </a:rPr>
              <a:t>📄</a:t>
            </a:r>
            <a:endParaRPr lang="en-US" sz="1100" dirty="0"/>
          </a:p>
        </p:txBody>
      </p:sp>
      <p:sp>
        <p:nvSpPr>
          <p:cNvPr id="29" name="Text 27"/>
          <p:cNvSpPr/>
          <p:nvPr/>
        </p:nvSpPr>
        <p:spPr>
          <a:xfrm>
            <a:off x="5076527" y="2049661"/>
            <a:ext cx="1663931" cy="142875"/>
          </a:xfrm>
          <a:prstGeom prst="rect">
            <a:avLst/>
          </a:prstGeom>
          <a:noFill/>
          <a:ln/>
        </p:spPr>
        <p:txBody>
          <a:bodyPr wrap="square" lIns="0" tIns="0" rIns="0" bIns="0" rtlCol="0" anchor="t"/>
          <a:lstStyle/>
          <a:p>
            <a:pPr algn="l" indent="0" marL="0">
              <a:spcBef>
                <a:spcPts val="1000"/>
              </a:spcBef>
              <a:spcAft>
                <a:spcPts val="1000"/>
              </a:spcAft>
              <a:buNone/>
            </a:pPr>
            <a:r>
              <a:rPr lang="en-US" sz="1000" b="1" dirty="0">
                <a:solidFill>
                  <a:srgbClr val="FFFFFF"/>
                </a:solidFill>
                <a:latin typeface="Arial" pitchFamily="34" charset="0"/>
                <a:ea typeface="Arial" pitchFamily="34" charset="-122"/>
                <a:cs typeface="Arial" pitchFamily="34" charset="-120"/>
              </a:rPr>
              <a:t>Anthropic Research</a:t>
            </a:r>
            <a:endParaRPr lang="en-US" sz="1000" dirty="0"/>
          </a:p>
        </p:txBody>
      </p:sp>
      <p:sp>
        <p:nvSpPr>
          <p:cNvPr id="30" name="Text 28"/>
          <p:cNvSpPr/>
          <p:nvPr/>
        </p:nvSpPr>
        <p:spPr>
          <a:xfrm>
            <a:off x="5076527" y="2319486"/>
            <a:ext cx="1663931" cy="114300"/>
          </a:xfrm>
          <a:prstGeom prst="rect">
            <a:avLst/>
          </a:prstGeom>
          <a:noFill/>
          <a:ln/>
        </p:spPr>
        <p:txBody>
          <a:bodyPr wrap="square" lIns="0" tIns="0" rIns="0" bIns="0" rtlCol="0" anchor="t"/>
          <a:lstStyle/>
          <a:p>
            <a:pPr algn="l" indent="0" marL="0">
              <a:spcBef>
                <a:spcPts val="100"/>
              </a:spcBef>
              <a:spcAft>
                <a:spcPts val="800"/>
              </a:spcAft>
              <a:buNone/>
            </a:pPr>
            <a:r>
              <a:rPr lang="en-US" sz="800" dirty="0">
                <a:solidFill>
                  <a:srgbClr val="00D4FF"/>
                </a:solidFill>
                <a:latin typeface="Courier New" pitchFamily="34" charset="0"/>
                <a:ea typeface="Courier New" pitchFamily="34" charset="-122"/>
                <a:cs typeface="Courier New" pitchFamily="34" charset="-120"/>
              </a:rPr>
              <a:t>anthropic.com/research</a:t>
            </a:r>
            <a:endParaRPr lang="en-US" sz="800" dirty="0"/>
          </a:p>
        </p:txBody>
      </p:sp>
      <p:sp>
        <p:nvSpPr>
          <p:cNvPr id="31" name="Text 29"/>
          <p:cNvSpPr/>
          <p:nvPr/>
        </p:nvSpPr>
        <p:spPr>
          <a:xfrm>
            <a:off x="5076527" y="2535287"/>
            <a:ext cx="1663931" cy="114300"/>
          </a:xfrm>
          <a:prstGeom prst="rect">
            <a:avLst/>
          </a:prstGeom>
          <a:noFill/>
          <a:ln/>
        </p:spPr>
        <p:txBody>
          <a:bodyPr wrap="square" lIns="0" tIns="0" rIns="0" bIns="0" rtlCol="0" anchor="t"/>
          <a:lstStyle/>
          <a:p>
            <a:pPr algn="l" indent="0" marL="0">
              <a:spcBef>
                <a:spcPts val="100"/>
              </a:spcBef>
              <a:spcAft>
                <a:spcPts val="800"/>
              </a:spcAft>
              <a:buNone/>
            </a:pPr>
            <a:r>
              <a:rPr lang="en-US" sz="800" dirty="0">
                <a:solidFill>
                  <a:srgbClr val="8B8B8B"/>
                </a:solidFill>
                <a:latin typeface="Arial" pitchFamily="34" charset="0"/>
                <a:ea typeface="Arial" pitchFamily="34" charset="-122"/>
                <a:cs typeface="Arial" pitchFamily="34" charset="-120"/>
              </a:rPr>
              <a:t>Agent safety and capabilities papers</a:t>
            </a:r>
            <a:endParaRPr lang="en-US" sz="800" dirty="0"/>
          </a:p>
        </p:txBody>
      </p:sp>
      <p:sp>
        <p:nvSpPr>
          <p:cNvPr id="32" name="Text 30"/>
          <p:cNvSpPr/>
          <p:nvPr/>
        </p:nvSpPr>
        <p:spPr>
          <a:xfrm>
            <a:off x="4660850" y="2874764"/>
            <a:ext cx="4102150" cy="974229"/>
          </a:xfrm>
          <a:prstGeom prst="rect">
            <a:avLst/>
          </a:prstGeom>
          <a:solidFill>
            <a:srgbClr val="9B59B6">
              <a:alpha val="7000"/>
            </a:srgbClr>
          </a:solidFill>
          <a:ln w="9525">
            <a:solidFill>
              <a:srgbClr val="9B59B6"/>
            </a:solidFill>
          </a:ln>
        </p:spPr>
        <p:txBody>
          <a:bodyPr wrap="square" rtlCol="0" anchor="ctr"/>
          <a:lstStyle/>
          <a:p>
            <a:pPr indent="0" marL="0">
              <a:buNone/>
            </a:pPr>
            <a:endParaRPr lang="en-US" dirty="0"/>
          </a:p>
        </p:txBody>
      </p:sp>
      <p:sp>
        <p:nvSpPr>
          <p:cNvPr id="33" name="Text 31"/>
          <p:cNvSpPr/>
          <p:nvPr/>
        </p:nvSpPr>
        <p:spPr>
          <a:xfrm>
            <a:off x="4771876" y="3087291"/>
            <a:ext cx="207213" cy="228600"/>
          </a:xfrm>
          <a:prstGeom prst="rect">
            <a:avLst/>
          </a:prstGeom>
          <a:noFill/>
          <a:ln/>
        </p:spPr>
        <p:txBody>
          <a:bodyPr wrap="square" lIns="0" tIns="0" rIns="0" bIns="0" rtlCol="0" anchor="t"/>
          <a:lstStyle/>
          <a:p>
            <a:pPr algn="l" indent="0" marL="0">
              <a:spcBef>
                <a:spcPts val="1100"/>
              </a:spcBef>
              <a:spcAft>
                <a:spcPts val="1100"/>
              </a:spcAft>
              <a:buNone/>
            </a:pPr>
            <a:r>
              <a:rPr lang="en-US" sz="1100" dirty="0">
                <a:solidFill>
                  <a:srgbClr val="9B59B6"/>
                </a:solidFill>
                <a:latin typeface="Arial" pitchFamily="34" charset="0"/>
                <a:ea typeface="Arial" pitchFamily="34" charset="-122"/>
                <a:cs typeface="Arial" pitchFamily="34" charset="-120"/>
              </a:rPr>
              <a:t>🎓</a:t>
            </a:r>
            <a:endParaRPr lang="en-US" sz="1100" dirty="0"/>
          </a:p>
        </p:txBody>
      </p:sp>
      <p:sp>
        <p:nvSpPr>
          <p:cNvPr id="34" name="Text 32"/>
          <p:cNvSpPr/>
          <p:nvPr/>
        </p:nvSpPr>
        <p:spPr>
          <a:xfrm>
            <a:off x="5076527" y="3074640"/>
            <a:ext cx="1358804" cy="142875"/>
          </a:xfrm>
          <a:prstGeom prst="rect">
            <a:avLst/>
          </a:prstGeom>
          <a:noFill/>
          <a:ln/>
        </p:spPr>
        <p:txBody>
          <a:bodyPr wrap="square" lIns="0" tIns="0" rIns="0" bIns="0" rtlCol="0" anchor="t"/>
          <a:lstStyle/>
          <a:p>
            <a:pPr algn="l" indent="0" marL="0">
              <a:spcBef>
                <a:spcPts val="1000"/>
              </a:spcBef>
              <a:spcAft>
                <a:spcPts val="1000"/>
              </a:spcAft>
              <a:buNone/>
            </a:pPr>
            <a:r>
              <a:rPr lang="en-US" sz="1000" b="1" dirty="0">
                <a:solidFill>
                  <a:srgbClr val="FFFFFF"/>
                </a:solidFill>
                <a:latin typeface="Arial" pitchFamily="34" charset="0"/>
                <a:ea typeface="Arial" pitchFamily="34" charset="-122"/>
                <a:cs typeface="Arial" pitchFamily="34" charset="-120"/>
              </a:rPr>
              <a:t>Claude Docs</a:t>
            </a:r>
            <a:endParaRPr lang="en-US" sz="1000" dirty="0"/>
          </a:p>
        </p:txBody>
      </p:sp>
      <p:sp>
        <p:nvSpPr>
          <p:cNvPr id="35" name="Text 33"/>
          <p:cNvSpPr/>
          <p:nvPr/>
        </p:nvSpPr>
        <p:spPr>
          <a:xfrm>
            <a:off x="5076527" y="3344466"/>
            <a:ext cx="1358804" cy="114300"/>
          </a:xfrm>
          <a:prstGeom prst="rect">
            <a:avLst/>
          </a:prstGeom>
          <a:noFill/>
          <a:ln/>
        </p:spPr>
        <p:txBody>
          <a:bodyPr wrap="square" lIns="0" tIns="0" rIns="0" bIns="0" rtlCol="0" anchor="t"/>
          <a:lstStyle/>
          <a:p>
            <a:pPr algn="l" indent="0" marL="0">
              <a:spcBef>
                <a:spcPts val="100"/>
              </a:spcBef>
              <a:spcAft>
                <a:spcPts val="800"/>
              </a:spcAft>
              <a:buNone/>
            </a:pPr>
            <a:r>
              <a:rPr lang="en-US" sz="800" dirty="0">
                <a:solidFill>
                  <a:srgbClr val="00D4FF"/>
                </a:solidFill>
                <a:latin typeface="Courier New" pitchFamily="34" charset="0"/>
                <a:ea typeface="Courier New" pitchFamily="34" charset="-122"/>
                <a:cs typeface="Courier New" pitchFamily="34" charset="-120"/>
              </a:rPr>
              <a:t>docs.anthropic.com</a:t>
            </a:r>
            <a:endParaRPr lang="en-US" sz="800" dirty="0"/>
          </a:p>
        </p:txBody>
      </p:sp>
      <p:sp>
        <p:nvSpPr>
          <p:cNvPr id="36" name="Text 34"/>
          <p:cNvSpPr/>
          <p:nvPr/>
        </p:nvSpPr>
        <p:spPr>
          <a:xfrm>
            <a:off x="5076527" y="3560266"/>
            <a:ext cx="1358804" cy="114300"/>
          </a:xfrm>
          <a:prstGeom prst="rect">
            <a:avLst/>
          </a:prstGeom>
          <a:noFill/>
          <a:ln/>
        </p:spPr>
        <p:txBody>
          <a:bodyPr wrap="square" lIns="0" tIns="0" rIns="0" bIns="0" rtlCol="0" anchor="t"/>
          <a:lstStyle/>
          <a:p>
            <a:pPr algn="l" indent="0" marL="0">
              <a:spcBef>
                <a:spcPts val="100"/>
              </a:spcBef>
              <a:spcAft>
                <a:spcPts val="800"/>
              </a:spcAft>
              <a:buNone/>
            </a:pPr>
            <a:r>
              <a:rPr lang="en-US" sz="800" dirty="0">
                <a:solidFill>
                  <a:srgbClr val="8B8B8B"/>
                </a:solidFill>
                <a:latin typeface="Arial" pitchFamily="34" charset="0"/>
                <a:ea typeface="Arial" pitchFamily="34" charset="-122"/>
                <a:cs typeface="Arial" pitchFamily="34" charset="-120"/>
              </a:rPr>
              <a:t>Full API reference and guides</a:t>
            </a:r>
            <a:endParaRPr lang="en-US" sz="800" dirty="0"/>
          </a:p>
        </p:txBody>
      </p:sp>
      <p:sp>
        <p:nvSpPr>
          <p:cNvPr id="37" name="Text 35"/>
          <p:cNvSpPr/>
          <p:nvPr/>
        </p:nvSpPr>
        <p:spPr>
          <a:xfrm>
            <a:off x="381000" y="3975943"/>
            <a:ext cx="8382000" cy="974527"/>
          </a:xfrm>
          <a:prstGeom prst="rect">
            <a:avLst/>
          </a:prstGeom>
          <a:solidFill>
            <a:srgbClr val="00D4FF">
              <a:alpha val="8000"/>
            </a:srgbClr>
          </a:solidFill>
          <a:ln w="19050">
            <a:solidFill>
              <a:srgbClr val="00D4FF"/>
            </a:solidFill>
          </a:ln>
        </p:spPr>
        <p:txBody>
          <a:bodyPr wrap="square" rtlCol="0" anchor="ctr"/>
          <a:lstStyle/>
          <a:p>
            <a:pPr indent="0" marL="0">
              <a:buNone/>
            </a:pPr>
            <a:endParaRPr lang="en-US" dirty="0"/>
          </a:p>
        </p:txBody>
      </p:sp>
      <p:sp>
        <p:nvSpPr>
          <p:cNvPr id="38" name="Text 36"/>
          <p:cNvSpPr/>
          <p:nvPr/>
        </p:nvSpPr>
        <p:spPr>
          <a:xfrm>
            <a:off x="552450" y="4198144"/>
            <a:ext cx="2424928" cy="133350"/>
          </a:xfrm>
          <a:prstGeom prst="rect">
            <a:avLst/>
          </a:prstGeom>
          <a:noFill/>
          <a:ln/>
        </p:spPr>
        <p:txBody>
          <a:bodyPr wrap="square" lIns="0" tIns="0" rIns="0" bIns="0" rtlCol="0" anchor="t"/>
          <a:lstStyle/>
          <a:p>
            <a:pPr algn="l" indent="0" marL="0">
              <a:spcBef>
                <a:spcPts val="900"/>
              </a:spcBef>
              <a:spcAft>
                <a:spcPts val="200"/>
              </a:spcAft>
              <a:buNone/>
            </a:pPr>
            <a:r>
              <a:rPr lang="en-US" sz="900" dirty="0">
                <a:solidFill>
                  <a:srgbClr val="00D4FF"/>
                </a:solidFill>
                <a:latin typeface="Arial" pitchFamily="34" charset="0"/>
                <a:ea typeface="Arial" pitchFamily="34" charset="-122"/>
                <a:cs typeface="Arial" pitchFamily="34" charset="-120"/>
              </a:rPr>
              <a:t>ALL MY PROJECTS</a:t>
            </a:r>
            <a:endParaRPr lang="en-US" sz="900" dirty="0"/>
          </a:p>
        </p:txBody>
      </p:sp>
      <p:sp>
        <p:nvSpPr>
          <p:cNvPr id="39" name="Text 37"/>
          <p:cNvSpPr/>
          <p:nvPr/>
        </p:nvSpPr>
        <p:spPr>
          <a:xfrm>
            <a:off x="552450" y="4496544"/>
            <a:ext cx="2424928" cy="180975"/>
          </a:xfrm>
          <a:prstGeom prst="rect">
            <a:avLst/>
          </a:prstGeom>
          <a:noFill/>
          <a:ln/>
        </p:spPr>
        <p:txBody>
          <a:bodyPr wrap="square" lIns="0" tIns="0" rIns="0" bIns="0" rtlCol="0" anchor="t"/>
          <a:lstStyle/>
          <a:p>
            <a:pPr algn="l" indent="0" marL="0">
              <a:spcBef>
                <a:spcPts val="1300"/>
              </a:spcBef>
              <a:spcAft>
                <a:spcPts val="1300"/>
              </a:spcAft>
              <a:buNone/>
            </a:pPr>
            <a:r>
              <a:rPr lang="en-US" sz="1300" b="1" dirty="0">
                <a:solidFill>
                  <a:srgbClr val="FFFFFF"/>
                </a:solidFill>
                <a:latin typeface="Courier New" pitchFamily="34" charset="0"/>
                <a:ea typeface="Courier New" pitchFamily="34" charset="-122"/>
                <a:cs typeface="Courier New" pitchFamily="34" charset="-120"/>
              </a:rPr>
              <a:t>github.com/lunhsiangyuan</a:t>
            </a:r>
            <a:endParaRPr lang="en-US" sz="1300" dirty="0"/>
          </a:p>
        </p:txBody>
      </p:sp>
      <p:sp>
        <p:nvSpPr>
          <p:cNvPr id="40" name="Text 38"/>
          <p:cNvSpPr/>
          <p:nvPr/>
        </p:nvSpPr>
        <p:spPr>
          <a:xfrm>
            <a:off x="3082230" y="4391769"/>
            <a:ext cx="4484766" cy="142875"/>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B0BEC5"/>
                </a:solidFill>
                <a:latin typeface="Arial" pitchFamily="34" charset="0"/>
                <a:ea typeface="Arial" pitchFamily="34" charset="-122"/>
                <a:cs typeface="Arial" pitchFamily="34" charset="-120"/>
              </a:rPr>
              <a:t>Open source: microbiology course, AI hub keynote, research tools — all public</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50A1E"/>
        </a:solidFill>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00D4FF"/>
          </a:solidFill>
          <a:ln/>
        </p:spPr>
        <p:txBody>
          <a:bodyPr wrap="square" rtlCol="0" anchor="ctr"/>
          <a:lstStyle/>
          <a:p>
            <a:pPr indent="0" marL="0">
              <a:buNone/>
            </a:pPr>
            <a:endParaRPr lang="en-US" dirty="0"/>
          </a:p>
        </p:txBody>
      </p:sp>
      <p:sp>
        <p:nvSpPr>
          <p:cNvPr id="3" name="Text 1"/>
          <p:cNvSpPr/>
          <p:nvPr/>
        </p:nvSpPr>
        <p:spPr>
          <a:xfrm>
            <a:off x="0" y="5092750"/>
            <a:ext cx="9144000" cy="50750"/>
          </a:xfrm>
          <a:prstGeom prst="rect">
            <a:avLst/>
          </a:prstGeom>
          <a:solidFill>
            <a:srgbClr val="9B59B6"/>
          </a:solidFill>
          <a:ln/>
        </p:spPr>
        <p:txBody>
          <a:bodyPr wrap="square" rtlCol="0" anchor="ctr"/>
          <a:lstStyle/>
          <a:p>
            <a:pPr indent="0" marL="0">
              <a:buNone/>
            </a:pPr>
            <a:endParaRPr lang="en-US" dirty="0"/>
          </a:p>
        </p:txBody>
      </p:sp>
      <p:sp>
        <p:nvSpPr>
          <p:cNvPr id="4" name="Text 2"/>
          <p:cNvSpPr/>
          <p:nvPr/>
        </p:nvSpPr>
        <p:spPr>
          <a:xfrm>
            <a:off x="507950" y="127397"/>
            <a:ext cx="5181549" cy="638175"/>
          </a:xfrm>
          <a:prstGeom prst="rect">
            <a:avLst/>
          </a:prstGeom>
          <a:noFill/>
          <a:ln/>
        </p:spPr>
        <p:txBody>
          <a:bodyPr wrap="square" lIns="0" tIns="0" rIns="0" bIns="0" rtlCol="0" anchor="t"/>
          <a:lstStyle/>
          <a:p>
            <a:pPr algn="l" indent="0" marL="0">
              <a:spcAft>
                <a:spcPts val="800"/>
              </a:spcAft>
              <a:buNone/>
            </a:pPr>
            <a:r>
              <a:rPr lang="en-US" sz="4400" b="1" dirty="0">
                <a:solidFill>
                  <a:srgbClr val="FFFFFF"/>
                </a:solidFill>
                <a:latin typeface="Arial" pitchFamily="34" charset="0"/>
                <a:ea typeface="Arial" pitchFamily="34" charset="-122"/>
                <a:cs typeface="Arial" pitchFamily="34" charset="-120"/>
              </a:rPr>
              <a:t>Thank You</a:t>
            </a:r>
            <a:endParaRPr lang="en-US" sz="4400" dirty="0"/>
          </a:p>
        </p:txBody>
      </p:sp>
      <p:sp>
        <p:nvSpPr>
          <p:cNvPr id="5" name="Text 3"/>
          <p:cNvSpPr/>
          <p:nvPr/>
        </p:nvSpPr>
        <p:spPr>
          <a:xfrm>
            <a:off x="507950" y="867073"/>
            <a:ext cx="5181549" cy="266700"/>
          </a:xfrm>
          <a:prstGeom prst="rect">
            <a:avLst/>
          </a:prstGeom>
          <a:noFill/>
          <a:ln/>
        </p:spPr>
        <p:txBody>
          <a:bodyPr wrap="square" lIns="0" tIns="0" rIns="0" bIns="0" rtlCol="0" anchor="t"/>
          <a:lstStyle/>
          <a:p>
            <a:pPr algn="l" indent="0" marL="0">
              <a:spcAft>
                <a:spcPts val="400"/>
              </a:spcAft>
              <a:buNone/>
            </a:pPr>
            <a:r>
              <a:rPr lang="en-US" sz="1800" b="1" dirty="0">
                <a:solidFill>
                  <a:srgbClr val="00D4FF"/>
                </a:solidFill>
                <a:latin typeface="Arial" pitchFamily="34" charset="0"/>
                <a:ea typeface="Arial" pitchFamily="34" charset="-122"/>
                <a:cs typeface="Arial" pitchFamily="34" charset="-120"/>
              </a:rPr>
              <a:t>Dr. Lun-Hsiang Yuan, MD, PhD</a:t>
            </a:r>
            <a:endParaRPr lang="en-US" sz="1800" dirty="0"/>
          </a:p>
        </p:txBody>
      </p:sp>
      <p:sp>
        <p:nvSpPr>
          <p:cNvPr id="6" name="Text 4"/>
          <p:cNvSpPr/>
          <p:nvPr/>
        </p:nvSpPr>
        <p:spPr>
          <a:xfrm>
            <a:off x="507950" y="1184523"/>
            <a:ext cx="5181549" cy="670620"/>
          </a:xfrm>
          <a:prstGeom prst="rect">
            <a:avLst/>
          </a:prstGeom>
          <a:noFill/>
          <a:ln/>
        </p:spPr>
        <p:txBody>
          <a:bodyPr wrap="square" lIns="0" tIns="0" rIns="0" bIns="0" rtlCol="0" anchor="t"/>
          <a:lstStyle/>
          <a:p>
            <a:pPr algn="l" indent="0" marL="0">
              <a:lnSpc>
                <a:spcPts val="1760"/>
              </a:lnSpc>
              <a:spcAft>
                <a:spcPts val="2000"/>
              </a:spcAft>
              <a:buNone/>
            </a:pPr>
            <a:r>
              <a:rPr lang="en-US" sz="1100" dirty="0">
                <a:solidFill>
                  <a:srgbClr val="9B59B6"/>
                </a:solidFill>
                <a:latin typeface="Arial" pitchFamily="34" charset="0"/>
                <a:ea typeface="Arial" pitchFamily="34" charset="-122"/>
                <a:cs typeface="Arial" pitchFamily="34" charset="-120"/>
              </a:rPr>
              <a:t>Robotic Urologic Surgeon · AI Agent Builder</a:t>
            </a:r>
            <a:endParaRPr lang="en-US" sz="1100" dirty="0"/>
          </a:p>
          <a:p>
            <a:pPr algn="l" indent="0" marL="0">
              <a:lnSpc>
                <a:spcPts val="1760"/>
              </a:lnSpc>
              <a:spcAft>
                <a:spcPts val="2000"/>
              </a:spcAft>
              <a:buNone/>
            </a:pPr>
            <a:r>
              <a:rPr lang="en-US" sz="1100" dirty="0">
                <a:solidFill>
                  <a:srgbClr val="9B59B6"/>
                </a:solidFill>
                <a:latin typeface="Arial" pitchFamily="34" charset="0"/>
                <a:ea typeface="Arial" pitchFamily="34" charset="-122"/>
                <a:cs typeface="Arial" pitchFamily="34" charset="-120"/>
              </a:rPr>
              <a:t>Assistant Professor, NYCU/NTUH Yunlin Branch</a:t>
            </a:r>
            <a:endParaRPr lang="en-US" sz="1100" dirty="0"/>
          </a:p>
          <a:p>
            <a:pPr algn="l" indent="0" marL="0">
              <a:lnSpc>
                <a:spcPts val="1760"/>
              </a:lnSpc>
              <a:spcAft>
                <a:spcPts val="2000"/>
              </a:spcAft>
              <a:buNone/>
            </a:pPr>
            <a:r>
              <a:rPr lang="en-US" sz="1100" dirty="0">
                <a:solidFill>
                  <a:srgbClr val="9B59B6"/>
                </a:solidFill>
                <a:latin typeface="Arial" pitchFamily="34" charset="0"/>
                <a:ea typeface="Arial" pitchFamily="34" charset="-122"/>
                <a:cs typeface="Arial" pitchFamily="34" charset="-120"/>
              </a:rPr>
              <a:t>Department of Urology</a:t>
            </a:r>
            <a:endParaRPr lang="en-US" sz="1100" dirty="0"/>
          </a:p>
        </p:txBody>
      </p:sp>
      <p:sp>
        <p:nvSpPr>
          <p:cNvPr id="7" name="Text 5"/>
          <p:cNvSpPr/>
          <p:nvPr/>
        </p:nvSpPr>
        <p:spPr>
          <a:xfrm>
            <a:off x="507950" y="2248644"/>
            <a:ext cx="233172" cy="228600"/>
          </a:xfrm>
          <a:prstGeom prst="rect">
            <a:avLst/>
          </a:prstGeom>
          <a:noFill/>
          <a:ln/>
        </p:spPr>
        <p:txBody>
          <a:bodyPr wrap="square" lIns="0" tIns="0" rIns="0" bIns="0" rtlCol="0" anchor="t"/>
          <a:lstStyle/>
          <a:p>
            <a:pPr algn="l" indent="0" marL="0">
              <a:spcBef>
                <a:spcPts val="1100"/>
              </a:spcBef>
              <a:spcAft>
                <a:spcPts val="1100"/>
              </a:spcAft>
              <a:buNone/>
            </a:pPr>
            <a:r>
              <a:rPr lang="en-US" sz="1100" dirty="0">
                <a:solidFill>
                  <a:srgbClr val="00D4FF"/>
                </a:solidFill>
                <a:latin typeface="Arial" pitchFamily="34" charset="0"/>
                <a:ea typeface="Arial" pitchFamily="34" charset="-122"/>
                <a:cs typeface="Arial" pitchFamily="34" charset="-120"/>
              </a:rPr>
              <a:t>🌐</a:t>
            </a:r>
            <a:endParaRPr lang="en-US" sz="1100" dirty="0"/>
          </a:p>
        </p:txBody>
      </p:sp>
      <p:sp>
        <p:nvSpPr>
          <p:cNvPr id="8" name="Text 6"/>
          <p:cNvSpPr/>
          <p:nvPr/>
        </p:nvSpPr>
        <p:spPr>
          <a:xfrm>
            <a:off x="863501" y="2286744"/>
            <a:ext cx="2051337" cy="152400"/>
          </a:xfrm>
          <a:prstGeom prst="rect">
            <a:avLst/>
          </a:prstGeom>
          <a:noFill/>
          <a:ln/>
        </p:spPr>
        <p:txBody>
          <a:bodyPr wrap="square" lIns="0" tIns="0" rIns="0" bIns="0" rtlCol="0" anchor="t"/>
          <a:lstStyle/>
          <a:p>
            <a:pPr algn="l" indent="0" marL="0">
              <a:spcBef>
                <a:spcPts val="1100"/>
              </a:spcBef>
              <a:spcAft>
                <a:spcPts val="1100"/>
              </a:spcAft>
              <a:buNone/>
            </a:pPr>
            <a:r>
              <a:rPr lang="en-US" sz="1100" dirty="0">
                <a:solidFill>
                  <a:srgbClr val="E0E0E0"/>
                </a:solidFill>
                <a:latin typeface="Courier New" pitchFamily="34" charset="0"/>
                <a:ea typeface="Courier New" pitchFamily="34" charset="-122"/>
                <a:cs typeface="Courier New" pitchFamily="34" charset="-120"/>
              </a:rPr>
              <a:t>github.com/lunhsiangyuan</a:t>
            </a:r>
            <a:endParaRPr lang="en-US" sz="1100" dirty="0"/>
          </a:p>
        </p:txBody>
      </p:sp>
      <p:sp>
        <p:nvSpPr>
          <p:cNvPr id="9" name="Text 7"/>
          <p:cNvSpPr/>
          <p:nvPr/>
        </p:nvSpPr>
        <p:spPr>
          <a:xfrm>
            <a:off x="507950" y="2857946"/>
            <a:ext cx="233172" cy="228600"/>
          </a:xfrm>
          <a:prstGeom prst="rect">
            <a:avLst/>
          </a:prstGeom>
          <a:noFill/>
          <a:ln/>
        </p:spPr>
        <p:txBody>
          <a:bodyPr wrap="square" lIns="0" tIns="0" rIns="0" bIns="0" rtlCol="0" anchor="t"/>
          <a:lstStyle/>
          <a:p>
            <a:pPr algn="l" indent="0" marL="0">
              <a:spcBef>
                <a:spcPts val="1100"/>
              </a:spcBef>
              <a:spcAft>
                <a:spcPts val="1100"/>
              </a:spcAft>
              <a:buNone/>
            </a:pPr>
            <a:r>
              <a:rPr lang="en-US" sz="1100" dirty="0">
                <a:solidFill>
                  <a:srgbClr val="00D4FF"/>
                </a:solidFill>
                <a:latin typeface="Arial" pitchFamily="34" charset="0"/>
                <a:ea typeface="Arial" pitchFamily="34" charset="-122"/>
                <a:cs typeface="Arial" pitchFamily="34" charset="-120"/>
              </a:rPr>
              <a:t>📧</a:t>
            </a:r>
            <a:endParaRPr lang="en-US" sz="1100" dirty="0"/>
          </a:p>
        </p:txBody>
      </p:sp>
      <p:sp>
        <p:nvSpPr>
          <p:cNvPr id="10" name="Text 8"/>
          <p:cNvSpPr/>
          <p:nvPr/>
        </p:nvSpPr>
        <p:spPr>
          <a:xfrm>
            <a:off x="863501" y="2896046"/>
            <a:ext cx="940278" cy="152400"/>
          </a:xfrm>
          <a:prstGeom prst="rect">
            <a:avLst/>
          </a:prstGeom>
          <a:noFill/>
          <a:ln/>
        </p:spPr>
        <p:txBody>
          <a:bodyPr wrap="square" lIns="0" tIns="0" rIns="0" bIns="0" rtlCol="0" anchor="t"/>
          <a:lstStyle/>
          <a:p>
            <a:pPr algn="l" indent="0" marL="0">
              <a:spcBef>
                <a:spcPts val="1100"/>
              </a:spcBef>
              <a:spcAft>
                <a:spcPts val="1100"/>
              </a:spcAft>
              <a:buNone/>
            </a:pPr>
            <a:r>
              <a:rPr lang="en-US" sz="1100" dirty="0">
                <a:solidFill>
                  <a:srgbClr val="E0E0E0"/>
                </a:solidFill>
                <a:latin typeface="Courier New" pitchFamily="34" charset="0"/>
                <a:ea typeface="Courier New" pitchFamily="34" charset="-122"/>
                <a:cs typeface="Courier New" pitchFamily="34" charset="-120"/>
              </a:rPr>
              <a:t>yuanuro.com</a:t>
            </a:r>
            <a:endParaRPr lang="en-US" sz="1100" dirty="0"/>
          </a:p>
        </p:txBody>
      </p:sp>
      <p:sp>
        <p:nvSpPr>
          <p:cNvPr id="11" name="Text 9"/>
          <p:cNvSpPr/>
          <p:nvPr/>
        </p:nvSpPr>
        <p:spPr>
          <a:xfrm>
            <a:off x="507950" y="3467249"/>
            <a:ext cx="233172" cy="228600"/>
          </a:xfrm>
          <a:prstGeom prst="rect">
            <a:avLst/>
          </a:prstGeom>
          <a:noFill/>
          <a:ln/>
        </p:spPr>
        <p:txBody>
          <a:bodyPr wrap="square" lIns="0" tIns="0" rIns="0" bIns="0" rtlCol="0" anchor="t"/>
          <a:lstStyle/>
          <a:p>
            <a:pPr algn="l" indent="0" marL="0">
              <a:spcBef>
                <a:spcPts val="1100"/>
              </a:spcBef>
              <a:spcAft>
                <a:spcPts val="1100"/>
              </a:spcAft>
              <a:buNone/>
            </a:pPr>
            <a:r>
              <a:rPr lang="en-US" sz="1100" dirty="0">
                <a:solidFill>
                  <a:srgbClr val="00D4FF"/>
                </a:solidFill>
                <a:latin typeface="Arial" pitchFamily="34" charset="0"/>
                <a:ea typeface="Arial" pitchFamily="34" charset="-122"/>
                <a:cs typeface="Arial" pitchFamily="34" charset="-120"/>
              </a:rPr>
              <a:t>📚</a:t>
            </a:r>
            <a:endParaRPr lang="en-US" sz="1100" dirty="0"/>
          </a:p>
        </p:txBody>
      </p:sp>
      <p:sp>
        <p:nvSpPr>
          <p:cNvPr id="12" name="Text 10"/>
          <p:cNvSpPr/>
          <p:nvPr/>
        </p:nvSpPr>
        <p:spPr>
          <a:xfrm>
            <a:off x="863501" y="3505349"/>
            <a:ext cx="2564285" cy="152400"/>
          </a:xfrm>
          <a:prstGeom prst="rect">
            <a:avLst/>
          </a:prstGeom>
          <a:noFill/>
          <a:ln/>
        </p:spPr>
        <p:txBody>
          <a:bodyPr wrap="square" lIns="0" tIns="0" rIns="0" bIns="0" rtlCol="0" anchor="t"/>
          <a:lstStyle/>
          <a:p>
            <a:pPr algn="l" indent="0" marL="0">
              <a:spcBef>
                <a:spcPts val="1100"/>
              </a:spcBef>
              <a:spcAft>
                <a:spcPts val="1100"/>
              </a:spcAft>
              <a:buNone/>
            </a:pPr>
            <a:r>
              <a:rPr lang="en-US" sz="1100" dirty="0">
                <a:solidFill>
                  <a:srgbClr val="E0E0E0"/>
                </a:solidFill>
                <a:latin typeface="Courier New" pitchFamily="34" charset="0"/>
                <a:ea typeface="Courier New" pitchFamily="34" charset="-122"/>
                <a:cs typeface="Courier New" pitchFamily="34" charset="-120"/>
              </a:rPr>
              <a:t>clinical-ai-course.yuanuro.com</a:t>
            </a:r>
            <a:endParaRPr lang="en-US" sz="1100" dirty="0"/>
          </a:p>
        </p:txBody>
      </p:sp>
      <p:sp>
        <p:nvSpPr>
          <p:cNvPr id="13" name="Text 11"/>
          <p:cNvSpPr/>
          <p:nvPr/>
        </p:nvSpPr>
        <p:spPr>
          <a:xfrm>
            <a:off x="507950" y="4064050"/>
            <a:ext cx="5079950" cy="952202"/>
          </a:xfrm>
          <a:prstGeom prst="rect">
            <a:avLst/>
          </a:prstGeom>
          <a:solidFill>
            <a:srgbClr val="F1C40F">
              <a:alpha val="10000"/>
            </a:srgbClr>
          </a:solidFill>
          <a:ln/>
        </p:spPr>
        <p:txBody>
          <a:bodyPr wrap="square" rtlCol="0" anchor="ctr"/>
          <a:lstStyle/>
          <a:p>
            <a:pPr indent="0" marL="0">
              <a:buNone/>
            </a:pPr>
            <a:endParaRPr lang="en-US" dirty="0"/>
          </a:p>
        </p:txBody>
      </p:sp>
      <p:sp>
        <p:nvSpPr>
          <p:cNvPr id="14" name="Shape 12"/>
          <p:cNvSpPr/>
          <p:nvPr/>
        </p:nvSpPr>
        <p:spPr>
          <a:xfrm>
            <a:off x="527000" y="4064050"/>
            <a:ext cx="0" cy="952202"/>
          </a:xfrm>
          <a:prstGeom prst="line">
            <a:avLst/>
          </a:prstGeom>
          <a:noFill/>
          <a:ln w="38100">
            <a:solidFill>
              <a:srgbClr val="F1C40F"/>
            </a:solidFill>
            <a:prstDash val="solid"/>
          </a:ln>
        </p:spPr>
      </p:sp>
      <p:sp>
        <p:nvSpPr>
          <p:cNvPr id="15" name="Text 13"/>
          <p:cNvSpPr/>
          <p:nvPr/>
        </p:nvSpPr>
        <p:spPr>
          <a:xfrm>
            <a:off x="723751" y="4330601"/>
            <a:ext cx="4780178" cy="419100"/>
          </a:xfrm>
          <a:prstGeom prst="rect">
            <a:avLst/>
          </a:prstGeom>
          <a:noFill/>
          <a:ln/>
        </p:spPr>
        <p:txBody>
          <a:bodyPr wrap="square" lIns="0" tIns="0" rIns="0" bIns="0" rtlCol="0" anchor="t"/>
          <a:lstStyle/>
          <a:p>
            <a:pPr algn="l" indent="0" marL="0">
              <a:lnSpc>
                <a:spcPts val="1650"/>
              </a:lnSpc>
              <a:spcBef>
                <a:spcPts val="1100"/>
              </a:spcBef>
              <a:spcAft>
                <a:spcPts val="1100"/>
              </a:spcAft>
              <a:buNone/>
            </a:pPr>
            <a:r>
              <a:rPr lang="en-US" sz="1100" i="1" dirty="0">
                <a:solidFill>
                  <a:srgbClr val="F1C40F"/>
                </a:solidFill>
                <a:latin typeface="Arial" pitchFamily="34" charset="0"/>
                <a:ea typeface="Arial" pitchFamily="34" charset="-122"/>
                <a:cs typeface="Arial" pitchFamily="34" charset="-120"/>
              </a:rPr>
              <a:t>"The best AI system is not one that replaces your thinking — it's one that gives you time to think deeper."</a:t>
            </a:r>
            <a:endParaRPr lang="en-US" sz="1100" dirty="0"/>
          </a:p>
        </p:txBody>
      </p:sp>
      <p:sp>
        <p:nvSpPr>
          <p:cNvPr id="16" name="Text 14"/>
          <p:cNvSpPr/>
          <p:nvPr/>
        </p:nvSpPr>
        <p:spPr>
          <a:xfrm>
            <a:off x="6095851" y="0"/>
            <a:ext cx="3048149" cy="5143500"/>
          </a:xfrm>
          <a:prstGeom prst="rect">
            <a:avLst/>
          </a:prstGeom>
          <a:solidFill>
            <a:srgbClr val="00D4FF">
              <a:alpha val="4000"/>
            </a:srgbClr>
          </a:solidFill>
          <a:ln/>
        </p:spPr>
        <p:txBody>
          <a:bodyPr wrap="square" rtlCol="0" anchor="ctr"/>
          <a:lstStyle/>
          <a:p>
            <a:pPr indent="0" marL="0">
              <a:buNone/>
            </a:pPr>
            <a:endParaRPr lang="en-US" dirty="0"/>
          </a:p>
        </p:txBody>
      </p:sp>
      <p:sp>
        <p:nvSpPr>
          <p:cNvPr id="17" name="Shape 15"/>
          <p:cNvSpPr/>
          <p:nvPr/>
        </p:nvSpPr>
        <p:spPr>
          <a:xfrm>
            <a:off x="6105376" y="0"/>
            <a:ext cx="0" cy="5143500"/>
          </a:xfrm>
          <a:prstGeom prst="line">
            <a:avLst/>
          </a:prstGeom>
          <a:noFill/>
          <a:ln w="19050">
            <a:solidFill>
              <a:srgbClr val="00D4FF"/>
            </a:solidFill>
            <a:prstDash val="solid"/>
          </a:ln>
        </p:spPr>
      </p:sp>
      <p:sp>
        <p:nvSpPr>
          <p:cNvPr id="18" name="Text 16"/>
          <p:cNvSpPr/>
          <p:nvPr/>
        </p:nvSpPr>
        <p:spPr>
          <a:xfrm>
            <a:off x="7292522" y="1436787"/>
            <a:ext cx="673709" cy="133350"/>
          </a:xfrm>
          <a:prstGeom prst="rect">
            <a:avLst/>
          </a:prstGeom>
          <a:noFill/>
          <a:ln/>
        </p:spPr>
        <p:txBody>
          <a:bodyPr wrap="square" lIns="0" tIns="0" rIns="0" bIns="0" rtlCol="0" anchor="t"/>
          <a:lstStyle/>
          <a:p>
            <a:pPr algn="ctr" indent="0" marL="0">
              <a:spcBef>
                <a:spcPts val="900"/>
              </a:spcBef>
              <a:spcAft>
                <a:spcPts val="900"/>
              </a:spcAft>
              <a:buNone/>
            </a:pPr>
            <a:r>
              <a:rPr lang="en-US" sz="900" dirty="0">
                <a:solidFill>
                  <a:srgbClr val="00D4FF"/>
                </a:solidFill>
                <a:latin typeface="Arial" pitchFamily="34" charset="0"/>
                <a:ea typeface="Arial" pitchFamily="34" charset="-122"/>
                <a:cs typeface="Arial" pitchFamily="34" charset="-120"/>
              </a:rPr>
              <a:t>[ QR CODE ]</a:t>
            </a:r>
            <a:endParaRPr lang="en-US" sz="900" dirty="0"/>
          </a:p>
        </p:txBody>
      </p:sp>
      <p:sp>
        <p:nvSpPr>
          <p:cNvPr id="19" name="Text 17"/>
          <p:cNvSpPr/>
          <p:nvPr/>
        </p:nvSpPr>
        <p:spPr>
          <a:xfrm>
            <a:off x="7253356" y="1798737"/>
            <a:ext cx="752040" cy="266700"/>
          </a:xfrm>
          <a:prstGeom prst="rect">
            <a:avLst/>
          </a:prstGeom>
          <a:noFill/>
          <a:ln/>
        </p:spPr>
        <p:txBody>
          <a:bodyPr wrap="square" lIns="0" tIns="0" rIns="0" bIns="0" rtlCol="0" anchor="t"/>
          <a:lstStyle/>
          <a:p>
            <a:pPr algn="ctr" indent="0" marL="0">
              <a:spcBef>
                <a:spcPts val="900"/>
              </a:spcBef>
              <a:spcAft>
                <a:spcPts val="900"/>
              </a:spcAft>
              <a:buNone/>
            </a:pPr>
            <a:r>
              <a:rPr lang="en-US" sz="900" dirty="0">
                <a:solidFill>
                  <a:srgbClr val="00D4FF"/>
                </a:solidFill>
                <a:latin typeface="Arial" pitchFamily="34" charset="0"/>
                <a:ea typeface="Arial" pitchFamily="34" charset="-122"/>
                <a:cs typeface="Arial" pitchFamily="34" charset="-120"/>
              </a:rPr>
              <a:t>github.com/</a:t>
            </a:r>
            <a:endParaRPr lang="en-US" sz="900" dirty="0"/>
          </a:p>
          <a:p>
            <a:pPr algn="ctr" indent="0" marL="0">
              <a:spcBef>
                <a:spcPts val="900"/>
              </a:spcBef>
              <a:spcAft>
                <a:spcPts val="900"/>
              </a:spcAft>
              <a:buNone/>
            </a:pPr>
            <a:r>
              <a:rPr lang="en-US" sz="900" dirty="0">
                <a:solidFill>
                  <a:srgbClr val="00D4FF"/>
                </a:solidFill>
                <a:latin typeface="Arial" pitchFamily="34" charset="0"/>
                <a:ea typeface="Arial" pitchFamily="34" charset="-122"/>
                <a:cs typeface="Arial" pitchFamily="34" charset="-120"/>
              </a:rPr>
              <a:t>lunhsiangyuan</a:t>
            </a:r>
            <a:endParaRPr lang="en-US" sz="900" dirty="0"/>
          </a:p>
        </p:txBody>
      </p:sp>
      <p:sp>
        <p:nvSpPr>
          <p:cNvPr id="20" name="Text 18"/>
          <p:cNvSpPr/>
          <p:nvPr/>
        </p:nvSpPr>
        <p:spPr>
          <a:xfrm>
            <a:off x="6777145" y="2722513"/>
            <a:ext cx="1704463" cy="133350"/>
          </a:xfrm>
          <a:prstGeom prst="rect">
            <a:avLst/>
          </a:prstGeom>
          <a:noFill/>
          <a:ln/>
        </p:spPr>
        <p:txBody>
          <a:bodyPr wrap="square" lIns="0" tIns="0" rIns="0" bIns="0" rtlCol="0" anchor="t"/>
          <a:lstStyle/>
          <a:p>
            <a:pPr algn="ctr" indent="0" marL="0">
              <a:spcBef>
                <a:spcPts val="800"/>
              </a:spcBef>
              <a:spcAft>
                <a:spcPts val="900"/>
              </a:spcAft>
              <a:buNone/>
            </a:pPr>
            <a:r>
              <a:rPr lang="en-US" sz="900" dirty="0">
                <a:solidFill>
                  <a:srgbClr val="8B8B8B"/>
                </a:solidFill>
                <a:latin typeface="Arial" pitchFamily="34" charset="0"/>
                <a:ea typeface="Arial" pitchFamily="34" charset="-122"/>
                <a:cs typeface="Arial" pitchFamily="34" charset="-120"/>
              </a:rPr>
              <a:t>Scan for all open-source projects</a:t>
            </a:r>
            <a:endParaRPr lang="en-US" sz="900" dirty="0"/>
          </a:p>
        </p:txBody>
      </p:sp>
      <p:sp>
        <p:nvSpPr>
          <p:cNvPr id="21" name="Text 19"/>
          <p:cNvSpPr/>
          <p:nvPr/>
        </p:nvSpPr>
        <p:spPr>
          <a:xfrm>
            <a:off x="6473230" y="3046363"/>
            <a:ext cx="2312441" cy="428625"/>
          </a:xfrm>
          <a:prstGeom prst="rect">
            <a:avLst/>
          </a:prstGeom>
          <a:noFill/>
          <a:ln/>
        </p:spPr>
        <p:txBody>
          <a:bodyPr wrap="square" lIns="0" tIns="0" rIns="0" bIns="0" rtlCol="0" anchor="t"/>
          <a:lstStyle/>
          <a:p>
            <a:pPr algn="ctr" indent="0" marL="0">
              <a:spcBef>
                <a:spcPts val="600"/>
              </a:spcBef>
              <a:spcAft>
                <a:spcPts val="1000"/>
              </a:spcAft>
              <a:buNone/>
            </a:pPr>
            <a:r>
              <a:rPr lang="en-US" sz="1000" dirty="0">
                <a:solidFill>
                  <a:srgbClr val="B0BEC5"/>
                </a:solidFill>
                <a:latin typeface="Arial" pitchFamily="34" charset="0"/>
                <a:ea typeface="Arial" pitchFamily="34" charset="-122"/>
                <a:cs typeface="Arial" pitchFamily="34" charset="-120"/>
              </a:rPr>
              <a:t>Slides · Demo scripts · Course materials</a:t>
            </a:r>
            <a:endParaRPr lang="en-US" sz="1000" dirty="0"/>
          </a:p>
          <a:p>
            <a:pPr algn="ctr" indent="0" marL="0">
              <a:spcBef>
                <a:spcPts val="600"/>
              </a:spcBef>
              <a:spcAft>
                <a:spcPts val="1000"/>
              </a:spcAft>
              <a:buNone/>
            </a:pPr>
            <a:r>
              <a:rPr lang="en-US" sz="1000" dirty="0">
                <a:solidFill>
                  <a:srgbClr val="B0BEC5"/>
                </a:solidFill>
                <a:latin typeface="Arial" pitchFamily="34" charset="0"/>
                <a:ea typeface="Arial" pitchFamily="34" charset="-122"/>
                <a:cs typeface="Arial" pitchFamily="34" charset="-120"/>
              </a:rPr>
              <a:t>All available on GitHub</a:t>
            </a:r>
            <a:endParaRPr lang="en-US" sz="1000" dirty="0"/>
          </a:p>
        </p:txBody>
      </p:sp>
      <p:sp>
        <p:nvSpPr>
          <p:cNvPr id="22" name="Text 20"/>
          <p:cNvSpPr/>
          <p:nvPr/>
        </p:nvSpPr>
        <p:spPr>
          <a:xfrm>
            <a:off x="6629589" y="3779639"/>
            <a:ext cx="1999723" cy="228600"/>
          </a:xfrm>
          <a:prstGeom prst="rect">
            <a:avLst/>
          </a:prstGeom>
          <a:noFill/>
          <a:ln/>
        </p:spPr>
        <p:txBody>
          <a:bodyPr wrap="square" lIns="0" tIns="0" rIns="0" bIns="0" rtlCol="0" anchor="t"/>
          <a:lstStyle/>
          <a:p>
            <a:pPr algn="ctr" indent="0" marL="0">
              <a:spcBef>
                <a:spcPts val="1400"/>
              </a:spcBef>
              <a:spcAft>
                <a:spcPts val="800"/>
              </a:spcAft>
              <a:buNone/>
            </a:pPr>
            <a:r>
              <a:rPr lang="en-US" sz="800" dirty="0">
                <a:solidFill>
                  <a:srgbClr val="8B8B8B"/>
                </a:solidFill>
                <a:latin typeface="Arial" pitchFamily="34" charset="0"/>
                <a:ea typeface="Arial" pitchFamily="34" charset="-122"/>
                <a:cs typeface="Arial" pitchFamily="34" charset="-120"/>
              </a:rPr>
              <a:t>This presentation was designed and built</a:t>
            </a:r>
            <a:endParaRPr lang="en-US" sz="800" dirty="0"/>
          </a:p>
          <a:p>
            <a:pPr algn="ctr" indent="0" marL="0">
              <a:spcBef>
                <a:spcPts val="1400"/>
              </a:spcBef>
              <a:spcAft>
                <a:spcPts val="800"/>
              </a:spcAft>
              <a:buNone/>
            </a:pPr>
            <a:r>
              <a:rPr lang="en-US" sz="800" dirty="0">
                <a:solidFill>
                  <a:srgbClr val="8B8B8B"/>
                </a:solidFill>
                <a:latin typeface="Arial" pitchFamily="34" charset="0"/>
                <a:ea typeface="Arial" pitchFamily="34" charset="-122"/>
                <a:cs typeface="Arial" pitchFamily="34" charset="-120"/>
              </a:rPr>
              <a:t>with Claude Code AI agents in one session.</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Stethoscope to Terminal: A Doctor's Daily Life with AI Agents</dc:title>
  <dc:subject>AI Hub Keynote 2026</dc:subject>
  <dc:creator>Dr. Lun-Hsiang Yuan</dc:creator>
  <cp:lastModifiedBy>Dr. Lun-Hsiang Yuan</cp:lastModifiedBy>
  <cp:revision>1</cp:revision>
  <dcterms:created xsi:type="dcterms:W3CDTF">2026-04-03T02:45:08Z</dcterms:created>
  <dcterms:modified xsi:type="dcterms:W3CDTF">2026-04-03T02:45:08Z</dcterms:modified>
</cp:coreProperties>
</file>